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8" r:id="rId10"/>
    <p:sldId id="269" r:id="rId11"/>
    <p:sldId id="270" r:id="rId12"/>
    <p:sldId id="264" r:id="rId13"/>
    <p:sldId id="265" r:id="rId14"/>
    <p:sldId id="266" r:id="rId15"/>
    <p:sldId id="267" r:id="rId16"/>
  </p:sldIdLst>
  <p:sldSz cx="16256000" cy="9144000"/>
  <p:notesSz cx="9144000" cy="16256000"/>
  <p:embeddedFontLst>
    <p:embeddedFont>
      <p:font typeface="MiSans" panose="02010600030101010101" charset="-122"/>
      <p:regular r:id="rId18"/>
    </p:embeddedFont>
    <p:embeddedFont>
      <p:font typeface="思源宋体" panose="02010600030101010101" charset="-122"/>
      <p:regular r:id="rId19"/>
    </p:embeddedFont>
    <p:embeddedFont>
      <p:font typeface="华文新魏" panose="02010800040101010101" pitchFamily="2" charset="-122"/>
      <p:regular r:id="rId20"/>
    </p:embeddedFont>
    <p:embeddedFont>
      <p:font typeface="微软雅黑" panose="020B0503020204020204" pitchFamily="34" charset="-122"/>
      <p:regular r:id="rId21"/>
      <p:bold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220" autoAdjust="0"/>
  </p:normalViewPr>
  <p:slideViewPr>
    <p:cSldViewPr snapToGrid="0" snapToObjects="1">
      <p:cViewPr varScale="1">
        <p:scale>
          <a:sx n="63" d="100"/>
          <a:sy n="63" d="100"/>
        </p:scale>
        <p:origin x="20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694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vjshi.com/04bcd85332d8e4e5d39e7bdfd2e2f74517f08c7c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5741">
                  <a:alpha val="85000"/>
                </a:srgbClr>
              </a:gs>
              <a:gs pos="50000">
                <a:srgbClr val="4A5741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7952" y="1320739"/>
            <a:ext cx="3263900" cy="660400"/>
          </a:xfrm>
          <a:custGeom>
            <a:avLst/>
            <a:gdLst/>
            <a:ahLst/>
            <a:cxnLst/>
            <a:rect l="l" t="t" r="r" b="b"/>
            <a:pathLst>
              <a:path w="3263900" h="660400">
                <a:moveTo>
                  <a:pt x="330200" y="0"/>
                </a:moveTo>
                <a:lnTo>
                  <a:pt x="2933700" y="0"/>
                </a:lnTo>
                <a:cubicBezTo>
                  <a:pt x="3115942" y="0"/>
                  <a:pt x="3263900" y="147958"/>
                  <a:pt x="3263900" y="330200"/>
                </a:cubicBezTo>
                <a:lnTo>
                  <a:pt x="3263900" y="330200"/>
                </a:lnTo>
                <a:cubicBezTo>
                  <a:pt x="3263900" y="512442"/>
                  <a:pt x="3115942" y="660400"/>
                  <a:pt x="2933700" y="660400"/>
                </a:cubicBezTo>
                <a:lnTo>
                  <a:pt x="330200" y="660400"/>
                </a:lnTo>
                <a:cubicBezTo>
                  <a:pt x="147958" y="660400"/>
                  <a:pt x="0" y="512442"/>
                  <a:pt x="0" y="330200"/>
                </a:cubicBezTo>
                <a:lnTo>
                  <a:pt x="0" y="330200"/>
                </a:lnTo>
                <a:cubicBezTo>
                  <a:pt x="0" y="147958"/>
                  <a:pt x="147958" y="0"/>
                  <a:pt x="330200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12706" y="1473116"/>
            <a:ext cx="278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课题答辩 · 农业大数据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7952" y="2387461"/>
            <a:ext cx="11836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基于Spark的沃土规划师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农业种植适宜性区划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与优化系统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7952" y="6222951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75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湖南省农业种植适宜性区划分析系统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6052" y="73404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7530" y="228719"/>
                </a:moveTo>
                <a:cubicBezTo>
                  <a:pt x="224373" y="205859"/>
                  <a:pt x="199668" y="190500"/>
                  <a:pt x="171450" y="190500"/>
                </a:cubicBezTo>
                <a:lnTo>
                  <a:pt x="133350" y="190500"/>
                </a:lnTo>
                <a:cubicBezTo>
                  <a:pt x="105132" y="190500"/>
                  <a:pt x="80427" y="205859"/>
                  <a:pt x="67270" y="228719"/>
                </a:cubicBezTo>
                <a:cubicBezTo>
                  <a:pt x="88225" y="252055"/>
                  <a:pt x="118586" y="266700"/>
                  <a:pt x="152400" y="266700"/>
                </a:cubicBezTo>
                <a:cubicBezTo>
                  <a:pt x="186214" y="266700"/>
                  <a:pt x="216575" y="251996"/>
                  <a:pt x="237530" y="228719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161925"/>
                </a:moveTo>
                <a:cubicBezTo>
                  <a:pt x="176056" y="161925"/>
                  <a:pt x="195263" y="142719"/>
                  <a:pt x="195263" y="119062"/>
                </a:cubicBezTo>
                <a:cubicBezTo>
                  <a:pt x="195263" y="95406"/>
                  <a:pt x="176056" y="76200"/>
                  <a:pt x="152400" y="76200"/>
                </a:cubicBezTo>
                <a:cubicBezTo>
                  <a:pt x="128744" y="76200"/>
                  <a:pt x="109537" y="95406"/>
                  <a:pt x="109537" y="119062"/>
                </a:cubicBezTo>
                <a:cubicBezTo>
                  <a:pt x="109537" y="142719"/>
                  <a:pt x="128744" y="161925"/>
                  <a:pt x="152400" y="16192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" name="Text 6"/>
          <p:cNvSpPr/>
          <p:nvPr/>
        </p:nvSpPr>
        <p:spPr>
          <a:xfrm>
            <a:off x="1041313" y="7315084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答辩人:</a:t>
            </a:r>
            <a:r>
              <a:rPr lang="en-US" sz="2000" b="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吴佳运 杨牧青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80421" y="7289674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8F6F2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254990" y="7340413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38100" y="142875"/>
                </a:moveTo>
                <a:lnTo>
                  <a:pt x="38100" y="161925"/>
                </a:lnTo>
                <a:cubicBezTo>
                  <a:pt x="38100" y="167164"/>
                  <a:pt x="42386" y="171450"/>
                  <a:pt x="47625" y="171450"/>
                </a:cubicBezTo>
                <a:lnTo>
                  <a:pt x="66675" y="171450"/>
                </a:lnTo>
                <a:cubicBezTo>
                  <a:pt x="71914" y="171450"/>
                  <a:pt x="76200" y="167164"/>
                  <a:pt x="76200" y="161925"/>
                </a:cubicBezTo>
                <a:lnTo>
                  <a:pt x="76200" y="142875"/>
                </a:lnTo>
                <a:cubicBezTo>
                  <a:pt x="76200" y="137636"/>
                  <a:pt x="71914" y="133350"/>
                  <a:pt x="66675" y="133350"/>
                </a:cubicBezTo>
                <a:lnTo>
                  <a:pt x="47625" y="133350"/>
                </a:lnTo>
                <a:cubicBezTo>
                  <a:pt x="42386" y="133350"/>
                  <a:pt x="38100" y="137636"/>
                  <a:pt x="38100" y="142875"/>
                </a:cubicBezTo>
                <a:close/>
                <a:moveTo>
                  <a:pt x="114300" y="142875"/>
                </a:moveTo>
                <a:lnTo>
                  <a:pt x="114300" y="161925"/>
                </a:lnTo>
                <a:cubicBezTo>
                  <a:pt x="114300" y="167164"/>
                  <a:pt x="118586" y="171450"/>
                  <a:pt x="123825" y="171450"/>
                </a:cubicBezTo>
                <a:lnTo>
                  <a:pt x="142875" y="171450"/>
                </a:lnTo>
                <a:cubicBezTo>
                  <a:pt x="148114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48114" y="133350"/>
                  <a:pt x="142875" y="133350"/>
                </a:cubicBezTo>
                <a:lnTo>
                  <a:pt x="123825" y="133350"/>
                </a:lnTo>
                <a:cubicBezTo>
                  <a:pt x="118586" y="133350"/>
                  <a:pt x="114300" y="137636"/>
                  <a:pt x="114300" y="142875"/>
                </a:cubicBezTo>
                <a:close/>
                <a:moveTo>
                  <a:pt x="200025" y="133350"/>
                </a:moveTo>
                <a:cubicBezTo>
                  <a:pt x="194786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94786" y="171450"/>
                  <a:pt x="200025" y="171450"/>
                </a:cubicBezTo>
                <a:lnTo>
                  <a:pt x="219075" y="171450"/>
                </a:lnTo>
                <a:cubicBezTo>
                  <a:pt x="224314" y="171450"/>
                  <a:pt x="228600" y="167164"/>
                  <a:pt x="228600" y="161925"/>
                </a:cubicBezTo>
                <a:lnTo>
                  <a:pt x="228600" y="142875"/>
                </a:lnTo>
                <a:cubicBezTo>
                  <a:pt x="228600" y="137636"/>
                  <a:pt x="224314" y="133350"/>
                  <a:pt x="219075" y="133350"/>
                </a:cubicBezTo>
                <a:lnTo>
                  <a:pt x="200025" y="133350"/>
                </a:lnTo>
                <a:close/>
                <a:moveTo>
                  <a:pt x="38100" y="219075"/>
                </a:move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66675" y="247650"/>
                </a:lnTo>
                <a:cubicBezTo>
                  <a:pt x="71914" y="247650"/>
                  <a:pt x="76200" y="243364"/>
                  <a:pt x="76200" y="238125"/>
                </a:cubicBezTo>
                <a:lnTo>
                  <a:pt x="76200" y="219075"/>
                </a:lnTo>
                <a:cubicBezTo>
                  <a:pt x="76200" y="213836"/>
                  <a:pt x="71914" y="209550"/>
                  <a:pt x="66675" y="209550"/>
                </a:cubicBezTo>
                <a:lnTo>
                  <a:pt x="47625" y="209550"/>
                </a:lnTo>
                <a:cubicBezTo>
                  <a:pt x="42386" y="209550"/>
                  <a:pt x="38100" y="213836"/>
                  <a:pt x="38100" y="219075"/>
                </a:cubicBezTo>
                <a:close/>
                <a:moveTo>
                  <a:pt x="123825" y="209550"/>
                </a:moveTo>
                <a:cubicBezTo>
                  <a:pt x="118586" y="209550"/>
                  <a:pt x="114300" y="213836"/>
                  <a:pt x="114300" y="219075"/>
                </a:cubicBezTo>
                <a:lnTo>
                  <a:pt x="114300" y="238125"/>
                </a:lnTo>
                <a:cubicBezTo>
                  <a:pt x="114300" y="243364"/>
                  <a:pt x="118586" y="247650"/>
                  <a:pt x="123825" y="247650"/>
                </a:cubicBezTo>
                <a:lnTo>
                  <a:pt x="142875" y="247650"/>
                </a:lnTo>
                <a:cubicBezTo>
                  <a:pt x="148114" y="247650"/>
                  <a:pt x="152400" y="243364"/>
                  <a:pt x="152400" y="238125"/>
                </a:cubicBezTo>
                <a:lnTo>
                  <a:pt x="152400" y="219075"/>
                </a:lnTo>
                <a:cubicBezTo>
                  <a:pt x="152400" y="213836"/>
                  <a:pt x="148114" y="209550"/>
                  <a:pt x="142875" y="209550"/>
                </a:cubicBezTo>
                <a:lnTo>
                  <a:pt x="123825" y="209550"/>
                </a:lnTo>
                <a:close/>
                <a:moveTo>
                  <a:pt x="190500" y="219075"/>
                </a:moveTo>
                <a:lnTo>
                  <a:pt x="190500" y="238125"/>
                </a:lnTo>
                <a:cubicBezTo>
                  <a:pt x="190500" y="243364"/>
                  <a:pt x="194786" y="247650"/>
                  <a:pt x="200025" y="247650"/>
                </a:cubicBezTo>
                <a:lnTo>
                  <a:pt x="219075" y="247650"/>
                </a:lnTo>
                <a:cubicBezTo>
                  <a:pt x="224314" y="247650"/>
                  <a:pt x="228600" y="243364"/>
                  <a:pt x="228600" y="238125"/>
                </a:cubicBezTo>
                <a:lnTo>
                  <a:pt x="228600" y="219075"/>
                </a:lnTo>
                <a:cubicBezTo>
                  <a:pt x="228600" y="213836"/>
                  <a:pt x="224314" y="209550"/>
                  <a:pt x="219075" y="209550"/>
                </a:cubicBezTo>
                <a:lnTo>
                  <a:pt x="200025" y="209550"/>
                </a:lnTo>
                <a:cubicBezTo>
                  <a:pt x="194786" y="209550"/>
                  <a:pt x="190500" y="213836"/>
                  <a:pt x="190500" y="21907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2" name="Text 9"/>
          <p:cNvSpPr/>
          <p:nvPr/>
        </p:nvSpPr>
        <p:spPr>
          <a:xfrm>
            <a:off x="4731202" y="7315084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2026年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7952" y="802639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706" y="820418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4000" y="15875"/>
                </a:moveTo>
                <a:cubicBezTo>
                  <a:pt x="254000" y="69503"/>
                  <a:pt x="215999" y="114250"/>
                  <a:pt x="165497" y="124718"/>
                </a:cubicBezTo>
                <a:cubicBezTo>
                  <a:pt x="161578" y="95895"/>
                  <a:pt x="148630" y="69949"/>
                  <a:pt x="129530" y="49857"/>
                </a:cubicBezTo>
                <a:cubicBezTo>
                  <a:pt x="149423" y="19844"/>
                  <a:pt x="183505" y="0"/>
                  <a:pt x="222250" y="0"/>
                </a:cubicBezTo>
                <a:lnTo>
                  <a:pt x="238125" y="0"/>
                </a:lnTo>
                <a:cubicBezTo>
                  <a:pt x="246906" y="0"/>
                  <a:pt x="254000" y="7094"/>
                  <a:pt x="254000" y="15875"/>
                </a:cubicBezTo>
                <a:close/>
                <a:moveTo>
                  <a:pt x="0" y="47625"/>
                </a:moveTo>
                <a:cubicBezTo>
                  <a:pt x="0" y="38844"/>
                  <a:pt x="7094" y="31750"/>
                  <a:pt x="15875" y="31750"/>
                </a:cubicBezTo>
                <a:lnTo>
                  <a:pt x="31750" y="31750"/>
                </a:lnTo>
                <a:cubicBezTo>
                  <a:pt x="93117" y="31750"/>
                  <a:pt x="142875" y="81508"/>
                  <a:pt x="142875" y="142875"/>
                </a:cubicBezTo>
                <a:lnTo>
                  <a:pt x="142875" y="238125"/>
                </a:lnTo>
                <a:cubicBezTo>
                  <a:pt x="142875" y="246906"/>
                  <a:pt x="135781" y="254000"/>
                  <a:pt x="127000" y="254000"/>
                </a:cubicBezTo>
                <a:cubicBezTo>
                  <a:pt x="118219" y="254000"/>
                  <a:pt x="111125" y="246906"/>
                  <a:pt x="111125" y="238125"/>
                </a:cubicBezTo>
                <a:lnTo>
                  <a:pt x="111125" y="158750"/>
                </a:lnTo>
                <a:cubicBezTo>
                  <a:pt x="49758" y="158750"/>
                  <a:pt x="0" y="108992"/>
                  <a:pt x="0" y="47625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15" name="Text 12"/>
          <p:cNvSpPr/>
          <p:nvPr/>
        </p:nvSpPr>
        <p:spPr>
          <a:xfrm>
            <a:off x="1269919" y="8153361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智慧农业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90416" y="802639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7" name="Shape 14"/>
          <p:cNvSpPr/>
          <p:nvPr/>
        </p:nvSpPr>
        <p:spPr>
          <a:xfrm>
            <a:off x="2768171" y="820418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18" name="Text 15"/>
          <p:cNvSpPr/>
          <p:nvPr/>
        </p:nvSpPr>
        <p:spPr>
          <a:xfrm>
            <a:off x="3352384" y="8153361"/>
            <a:ext cx="80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大数据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444355" y="802639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0" name="Shape 17"/>
          <p:cNvSpPr/>
          <p:nvPr/>
        </p:nvSpPr>
        <p:spPr>
          <a:xfrm>
            <a:off x="4590359" y="8204181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85750" y="23812"/>
                </a:moveTo>
                <a:cubicBezTo>
                  <a:pt x="285750" y="18306"/>
                  <a:pt x="282922" y="13196"/>
                  <a:pt x="278209" y="10319"/>
                </a:cubicBezTo>
                <a:cubicBezTo>
                  <a:pt x="273496" y="7441"/>
                  <a:pt x="267692" y="7144"/>
                  <a:pt x="262781" y="9624"/>
                </a:cubicBezTo>
                <a:lnTo>
                  <a:pt x="205135" y="38447"/>
                </a:lnTo>
                <a:lnTo>
                  <a:pt x="116136" y="8731"/>
                </a:lnTo>
                <a:cubicBezTo>
                  <a:pt x="112117" y="7392"/>
                  <a:pt x="107801" y="7689"/>
                  <a:pt x="104031" y="9575"/>
                </a:cubicBezTo>
                <a:lnTo>
                  <a:pt x="40531" y="41325"/>
                </a:lnTo>
                <a:cubicBezTo>
                  <a:pt x="35123" y="44053"/>
                  <a:pt x="31750" y="49560"/>
                  <a:pt x="31750" y="55563"/>
                </a:cubicBezTo>
                <a:lnTo>
                  <a:pt x="31750" y="230188"/>
                </a:lnTo>
                <a:cubicBezTo>
                  <a:pt x="31750" y="235694"/>
                  <a:pt x="34578" y="240804"/>
                  <a:pt x="39291" y="243681"/>
                </a:cubicBezTo>
                <a:cubicBezTo>
                  <a:pt x="44004" y="246559"/>
                  <a:pt x="49808" y="246856"/>
                  <a:pt x="54719" y="244376"/>
                </a:cubicBezTo>
                <a:lnTo>
                  <a:pt x="112316" y="215553"/>
                </a:lnTo>
                <a:lnTo>
                  <a:pt x="198289" y="244227"/>
                </a:lnTo>
                <a:cubicBezTo>
                  <a:pt x="196155" y="241052"/>
                  <a:pt x="194072" y="237728"/>
                  <a:pt x="192038" y="234355"/>
                </a:cubicBezTo>
                <a:cubicBezTo>
                  <a:pt x="186581" y="225276"/>
                  <a:pt x="181173" y="214858"/>
                  <a:pt x="177155" y="203696"/>
                </a:cubicBezTo>
                <a:lnTo>
                  <a:pt x="126950" y="186978"/>
                </a:lnTo>
                <a:lnTo>
                  <a:pt x="126950" y="45839"/>
                </a:lnTo>
                <a:lnTo>
                  <a:pt x="190450" y="67022"/>
                </a:lnTo>
                <a:lnTo>
                  <a:pt x="190450" y="116284"/>
                </a:lnTo>
                <a:cubicBezTo>
                  <a:pt x="205829" y="98524"/>
                  <a:pt x="228650" y="87313"/>
                  <a:pt x="253950" y="87313"/>
                </a:cubicBezTo>
                <a:cubicBezTo>
                  <a:pt x="265162" y="87313"/>
                  <a:pt x="275878" y="89495"/>
                  <a:pt x="285700" y="93514"/>
                </a:cubicBezTo>
                <a:lnTo>
                  <a:pt x="285750" y="23812"/>
                </a:lnTo>
                <a:close/>
                <a:moveTo>
                  <a:pt x="254000" y="111125"/>
                </a:moveTo>
                <a:cubicBezTo>
                  <a:pt x="221109" y="111125"/>
                  <a:pt x="194469" y="137319"/>
                  <a:pt x="194469" y="169614"/>
                </a:cubicBezTo>
                <a:cubicBezTo>
                  <a:pt x="194469" y="203795"/>
                  <a:pt x="226268" y="244227"/>
                  <a:pt x="243384" y="263525"/>
                </a:cubicBezTo>
                <a:cubicBezTo>
                  <a:pt x="249138" y="269974"/>
                  <a:pt x="258911" y="269974"/>
                  <a:pt x="264666" y="263525"/>
                </a:cubicBezTo>
                <a:cubicBezTo>
                  <a:pt x="281781" y="244227"/>
                  <a:pt x="313581" y="203795"/>
                  <a:pt x="313581" y="169614"/>
                </a:cubicBezTo>
                <a:cubicBezTo>
                  <a:pt x="313581" y="137319"/>
                  <a:pt x="286941" y="111125"/>
                  <a:pt x="254050" y="111125"/>
                </a:cubicBezTo>
                <a:close/>
                <a:moveTo>
                  <a:pt x="234156" y="170656"/>
                </a:moveTo>
                <a:cubicBezTo>
                  <a:pt x="234156" y="159704"/>
                  <a:pt x="243048" y="150813"/>
                  <a:pt x="254000" y="150813"/>
                </a:cubicBezTo>
                <a:cubicBezTo>
                  <a:pt x="264952" y="150813"/>
                  <a:pt x="273844" y="159704"/>
                  <a:pt x="273844" y="170656"/>
                </a:cubicBezTo>
                <a:cubicBezTo>
                  <a:pt x="273844" y="181608"/>
                  <a:pt x="264952" y="190500"/>
                  <a:pt x="254000" y="190500"/>
                </a:cubicBezTo>
                <a:cubicBezTo>
                  <a:pt x="243048" y="190500"/>
                  <a:pt x="234156" y="181608"/>
                  <a:pt x="234156" y="170656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1" name="Text 18"/>
          <p:cNvSpPr/>
          <p:nvPr/>
        </p:nvSpPr>
        <p:spPr>
          <a:xfrm>
            <a:off x="5206323" y="8153361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精准区划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2" y="507952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答辩内容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7952" y="1269919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" name="Shape 2"/>
          <p:cNvSpPr/>
          <p:nvPr/>
        </p:nvSpPr>
        <p:spPr>
          <a:xfrm>
            <a:off x="531183" y="1828609"/>
            <a:ext cx="7389232" cy="1549400"/>
          </a:xfrm>
          <a:custGeom>
            <a:avLst/>
            <a:gdLst/>
            <a:ahLst/>
            <a:cxnLst/>
            <a:rect l="l" t="t" r="r" b="b"/>
            <a:pathLst>
              <a:path w="7389232" h="1549400">
                <a:moveTo>
                  <a:pt x="46463" y="0"/>
                </a:moveTo>
                <a:lnTo>
                  <a:pt x="7236833" y="0"/>
                </a:lnTo>
                <a:cubicBezTo>
                  <a:pt x="7321000" y="0"/>
                  <a:pt x="7389232" y="68231"/>
                  <a:pt x="7389232" y="152399"/>
                </a:cubicBezTo>
                <a:lnTo>
                  <a:pt x="7389232" y="1397001"/>
                </a:lnTo>
                <a:cubicBezTo>
                  <a:pt x="7389232" y="1481169"/>
                  <a:pt x="7321000" y="1549400"/>
                  <a:pt x="7236833" y="1549400"/>
                </a:cubicBez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1183" y="1828609"/>
            <a:ext cx="46463" cy="1549400"/>
          </a:xfrm>
          <a:custGeom>
            <a:avLst/>
            <a:gdLst/>
            <a:ahLst/>
            <a:cxnLst/>
            <a:rect l="l" t="t" r="r" b="b"/>
            <a:pathLst>
              <a:path w="46463" h="1549400">
                <a:moveTo>
                  <a:pt x="46463" y="0"/>
                </a:moveTo>
                <a:lnTo>
                  <a:pt x="46463" y="0"/>
                </a:lnTo>
                <a:lnTo>
                  <a:pt x="46463" y="1549400"/>
                </a:ln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6" name="Shape 4"/>
          <p:cNvSpPr/>
          <p:nvPr/>
        </p:nvSpPr>
        <p:spPr>
          <a:xfrm>
            <a:off x="909989" y="218418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7" name="Text 5"/>
          <p:cNvSpPr/>
          <p:nvPr/>
        </p:nvSpPr>
        <p:spPr>
          <a:xfrm>
            <a:off x="1104151" y="2336561"/>
            <a:ext cx="469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4334" y="2184184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4334" y="2692136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我国农业土地资源挑战 · 大数据技术应用价值 · 湖南农业需求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54380" y="1828609"/>
            <a:ext cx="7389232" cy="1549400"/>
          </a:xfrm>
          <a:custGeom>
            <a:avLst/>
            <a:gdLst/>
            <a:ahLst/>
            <a:cxnLst/>
            <a:rect l="l" t="t" r="r" b="b"/>
            <a:pathLst>
              <a:path w="7389232" h="1549400">
                <a:moveTo>
                  <a:pt x="46463" y="0"/>
                </a:moveTo>
                <a:lnTo>
                  <a:pt x="7236833" y="0"/>
                </a:lnTo>
                <a:cubicBezTo>
                  <a:pt x="7321000" y="0"/>
                  <a:pt x="7389232" y="68231"/>
                  <a:pt x="7389232" y="152399"/>
                </a:cubicBezTo>
                <a:lnTo>
                  <a:pt x="7389232" y="1397001"/>
                </a:lnTo>
                <a:cubicBezTo>
                  <a:pt x="7389232" y="1481169"/>
                  <a:pt x="7321000" y="1549400"/>
                  <a:pt x="7236833" y="1549400"/>
                </a:cubicBez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54380" y="1828609"/>
            <a:ext cx="46463" cy="1549400"/>
          </a:xfrm>
          <a:custGeom>
            <a:avLst/>
            <a:gdLst/>
            <a:ahLst/>
            <a:cxnLst/>
            <a:rect l="l" t="t" r="r" b="b"/>
            <a:pathLst>
              <a:path w="46463" h="1549400">
                <a:moveTo>
                  <a:pt x="46463" y="0"/>
                </a:moveTo>
                <a:lnTo>
                  <a:pt x="46463" y="0"/>
                </a:lnTo>
                <a:lnTo>
                  <a:pt x="46463" y="1549400"/>
                </a:ln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2" name="Shape 10"/>
          <p:cNvSpPr/>
          <p:nvPr/>
        </p:nvSpPr>
        <p:spPr>
          <a:xfrm>
            <a:off x="8733186" y="218418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3" name="Text 11"/>
          <p:cNvSpPr/>
          <p:nvPr/>
        </p:nvSpPr>
        <p:spPr>
          <a:xfrm>
            <a:off x="8907827" y="2336561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47531" y="2184184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47531" y="2692136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功能需求 · 性能需求 · 数据需求 · 用户需求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1183" y="3682629"/>
            <a:ext cx="7389232" cy="1549400"/>
          </a:xfrm>
          <a:custGeom>
            <a:avLst/>
            <a:gdLst/>
            <a:ahLst/>
            <a:cxnLst/>
            <a:rect l="l" t="t" r="r" b="b"/>
            <a:pathLst>
              <a:path w="7389232" h="1549400">
                <a:moveTo>
                  <a:pt x="46463" y="0"/>
                </a:moveTo>
                <a:lnTo>
                  <a:pt x="7236833" y="0"/>
                </a:lnTo>
                <a:cubicBezTo>
                  <a:pt x="7321000" y="0"/>
                  <a:pt x="7389232" y="68231"/>
                  <a:pt x="7389232" y="152399"/>
                </a:cubicBezTo>
                <a:lnTo>
                  <a:pt x="7389232" y="1397001"/>
                </a:lnTo>
                <a:cubicBezTo>
                  <a:pt x="7389232" y="1481169"/>
                  <a:pt x="7321000" y="1549400"/>
                  <a:pt x="7236833" y="1549400"/>
                </a:cubicBez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1183" y="3682629"/>
            <a:ext cx="46463" cy="1549400"/>
          </a:xfrm>
          <a:custGeom>
            <a:avLst/>
            <a:gdLst/>
            <a:ahLst/>
            <a:cxnLst/>
            <a:rect l="l" t="t" r="r" b="b"/>
            <a:pathLst>
              <a:path w="46463" h="1549400">
                <a:moveTo>
                  <a:pt x="46463" y="0"/>
                </a:moveTo>
                <a:lnTo>
                  <a:pt x="46463" y="0"/>
                </a:lnTo>
                <a:lnTo>
                  <a:pt x="46463" y="1549400"/>
                </a:ln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18" name="Shape 16"/>
          <p:cNvSpPr/>
          <p:nvPr/>
        </p:nvSpPr>
        <p:spPr>
          <a:xfrm>
            <a:off x="909989" y="403820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19" name="Text 17"/>
          <p:cNvSpPr/>
          <p:nvPr/>
        </p:nvSpPr>
        <p:spPr>
          <a:xfrm>
            <a:off x="1084792" y="419058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4334" y="4038203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系统总体设计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4334" y="4546155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五层架构 · 技术选型 · 数据流程 · 模块划分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54380" y="3682629"/>
            <a:ext cx="7389232" cy="1549400"/>
          </a:xfrm>
          <a:custGeom>
            <a:avLst/>
            <a:gdLst/>
            <a:ahLst/>
            <a:cxnLst/>
            <a:rect l="l" t="t" r="r" b="b"/>
            <a:pathLst>
              <a:path w="7389232" h="1549400">
                <a:moveTo>
                  <a:pt x="46463" y="0"/>
                </a:moveTo>
                <a:lnTo>
                  <a:pt x="7236833" y="0"/>
                </a:lnTo>
                <a:cubicBezTo>
                  <a:pt x="7321000" y="0"/>
                  <a:pt x="7389232" y="68231"/>
                  <a:pt x="7389232" y="152399"/>
                </a:cubicBezTo>
                <a:lnTo>
                  <a:pt x="7389232" y="1397001"/>
                </a:lnTo>
                <a:cubicBezTo>
                  <a:pt x="7389232" y="1481169"/>
                  <a:pt x="7321000" y="1549400"/>
                  <a:pt x="7236833" y="1549400"/>
                </a:cubicBez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54380" y="3682629"/>
            <a:ext cx="46463" cy="1549400"/>
          </a:xfrm>
          <a:custGeom>
            <a:avLst/>
            <a:gdLst/>
            <a:ahLst/>
            <a:cxnLst/>
            <a:rect l="l" t="t" r="r" b="b"/>
            <a:pathLst>
              <a:path w="46463" h="1549400">
                <a:moveTo>
                  <a:pt x="46463" y="0"/>
                </a:moveTo>
                <a:lnTo>
                  <a:pt x="46463" y="0"/>
                </a:lnTo>
                <a:lnTo>
                  <a:pt x="46463" y="1549400"/>
                </a:ln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4" name="Shape 22"/>
          <p:cNvSpPr/>
          <p:nvPr/>
        </p:nvSpPr>
        <p:spPr>
          <a:xfrm>
            <a:off x="8733186" y="403820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5" name="Text 23"/>
          <p:cNvSpPr/>
          <p:nvPr/>
        </p:nvSpPr>
        <p:spPr>
          <a:xfrm>
            <a:off x="8907988" y="419058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7531" y="4038203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关键技术与算法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47531" y="4546155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AHP评价模型 · </a:t>
            </a:r>
            <a:r>
              <a:rPr lang="en-US" sz="1600" dirty="0" err="1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Spark并行计算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1183" y="5536648"/>
            <a:ext cx="7389232" cy="1549400"/>
          </a:xfrm>
          <a:custGeom>
            <a:avLst/>
            <a:gdLst/>
            <a:ahLst/>
            <a:cxnLst/>
            <a:rect l="l" t="t" r="r" b="b"/>
            <a:pathLst>
              <a:path w="7389232" h="1549400">
                <a:moveTo>
                  <a:pt x="46463" y="0"/>
                </a:moveTo>
                <a:lnTo>
                  <a:pt x="7236833" y="0"/>
                </a:lnTo>
                <a:cubicBezTo>
                  <a:pt x="7321000" y="0"/>
                  <a:pt x="7389232" y="68231"/>
                  <a:pt x="7389232" y="152399"/>
                </a:cubicBezTo>
                <a:lnTo>
                  <a:pt x="7389232" y="1397001"/>
                </a:lnTo>
                <a:cubicBezTo>
                  <a:pt x="7389232" y="1481169"/>
                  <a:pt x="7321000" y="1549400"/>
                  <a:pt x="7236833" y="1549400"/>
                </a:cubicBez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1183" y="5536648"/>
            <a:ext cx="46463" cy="1549400"/>
          </a:xfrm>
          <a:custGeom>
            <a:avLst/>
            <a:gdLst/>
            <a:ahLst/>
            <a:cxnLst/>
            <a:rect l="l" t="t" r="r" b="b"/>
            <a:pathLst>
              <a:path w="46463" h="1549400">
                <a:moveTo>
                  <a:pt x="46463" y="0"/>
                </a:moveTo>
                <a:lnTo>
                  <a:pt x="46463" y="0"/>
                </a:lnTo>
                <a:lnTo>
                  <a:pt x="46463" y="1549400"/>
                </a:ln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0" name="Shape 28"/>
          <p:cNvSpPr/>
          <p:nvPr/>
        </p:nvSpPr>
        <p:spPr>
          <a:xfrm>
            <a:off x="909989" y="589222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1" name="Text 29"/>
          <p:cNvSpPr/>
          <p:nvPr/>
        </p:nvSpPr>
        <p:spPr>
          <a:xfrm>
            <a:off x="1084630" y="6044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824334" y="5892222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系统功能实现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824334" y="6400174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区划模块 · 报告生成 · 数据分析 · 导出功能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54380" y="5536648"/>
            <a:ext cx="7389232" cy="1549400"/>
          </a:xfrm>
          <a:custGeom>
            <a:avLst/>
            <a:gdLst/>
            <a:ahLst/>
            <a:cxnLst/>
            <a:rect l="l" t="t" r="r" b="b"/>
            <a:pathLst>
              <a:path w="7389232" h="1549400">
                <a:moveTo>
                  <a:pt x="46463" y="0"/>
                </a:moveTo>
                <a:lnTo>
                  <a:pt x="7236833" y="0"/>
                </a:lnTo>
                <a:cubicBezTo>
                  <a:pt x="7321000" y="0"/>
                  <a:pt x="7389232" y="68231"/>
                  <a:pt x="7389232" y="152399"/>
                </a:cubicBezTo>
                <a:lnTo>
                  <a:pt x="7389232" y="1397001"/>
                </a:lnTo>
                <a:cubicBezTo>
                  <a:pt x="7389232" y="1481169"/>
                  <a:pt x="7321000" y="1549400"/>
                  <a:pt x="7236833" y="1549400"/>
                </a:cubicBez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54380" y="5536648"/>
            <a:ext cx="46463" cy="1549400"/>
          </a:xfrm>
          <a:custGeom>
            <a:avLst/>
            <a:gdLst/>
            <a:ahLst/>
            <a:cxnLst/>
            <a:rect l="l" t="t" r="r" b="b"/>
            <a:pathLst>
              <a:path w="46463" h="1549400">
                <a:moveTo>
                  <a:pt x="46463" y="0"/>
                </a:moveTo>
                <a:lnTo>
                  <a:pt x="46463" y="0"/>
                </a:lnTo>
                <a:lnTo>
                  <a:pt x="46463" y="1549400"/>
                </a:ln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36" name="Shape 34"/>
          <p:cNvSpPr/>
          <p:nvPr/>
        </p:nvSpPr>
        <p:spPr>
          <a:xfrm>
            <a:off x="8733186" y="589222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37" name="Text 35"/>
          <p:cNvSpPr/>
          <p:nvPr/>
        </p:nvSpPr>
        <p:spPr>
          <a:xfrm>
            <a:off x="8907827" y="6044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47531" y="5892222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数据分析与可视化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47531" y="6400174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适宜性地图 · 趋势分析 · 对比图表 · 统计结果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1183" y="7390668"/>
            <a:ext cx="7389232" cy="1549400"/>
          </a:xfrm>
          <a:custGeom>
            <a:avLst/>
            <a:gdLst/>
            <a:ahLst/>
            <a:cxnLst/>
            <a:rect l="l" t="t" r="r" b="b"/>
            <a:pathLst>
              <a:path w="7389232" h="1549400">
                <a:moveTo>
                  <a:pt x="46463" y="0"/>
                </a:moveTo>
                <a:lnTo>
                  <a:pt x="7236833" y="0"/>
                </a:lnTo>
                <a:cubicBezTo>
                  <a:pt x="7321000" y="0"/>
                  <a:pt x="7389232" y="68231"/>
                  <a:pt x="7389232" y="152399"/>
                </a:cubicBezTo>
                <a:lnTo>
                  <a:pt x="7389232" y="1397001"/>
                </a:lnTo>
                <a:cubicBezTo>
                  <a:pt x="7389232" y="1481169"/>
                  <a:pt x="7321000" y="1549400"/>
                  <a:pt x="7236833" y="1549400"/>
                </a:cubicBez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1183" y="7390668"/>
            <a:ext cx="46463" cy="1549400"/>
          </a:xfrm>
          <a:custGeom>
            <a:avLst/>
            <a:gdLst/>
            <a:ahLst/>
            <a:cxnLst/>
            <a:rect l="l" t="t" r="r" b="b"/>
            <a:pathLst>
              <a:path w="46463" h="1549400">
                <a:moveTo>
                  <a:pt x="46463" y="0"/>
                </a:moveTo>
                <a:lnTo>
                  <a:pt x="46463" y="0"/>
                </a:lnTo>
                <a:lnTo>
                  <a:pt x="46463" y="1549400"/>
                </a:ln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42" name="Shape 40"/>
          <p:cNvSpPr/>
          <p:nvPr/>
        </p:nvSpPr>
        <p:spPr>
          <a:xfrm>
            <a:off x="909989" y="774624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43" name="Text 41"/>
          <p:cNvSpPr/>
          <p:nvPr/>
        </p:nvSpPr>
        <p:spPr>
          <a:xfrm>
            <a:off x="1085598" y="7898619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824334" y="7746242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系统测试验证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824334" y="8254194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测试方法 · 性能指标 · 验证结果 · 用户评价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54380" y="7390668"/>
            <a:ext cx="7389232" cy="1549400"/>
          </a:xfrm>
          <a:custGeom>
            <a:avLst/>
            <a:gdLst/>
            <a:ahLst/>
            <a:cxnLst/>
            <a:rect l="l" t="t" r="r" b="b"/>
            <a:pathLst>
              <a:path w="7389232" h="1549400">
                <a:moveTo>
                  <a:pt x="46463" y="0"/>
                </a:moveTo>
                <a:lnTo>
                  <a:pt x="7236833" y="0"/>
                </a:lnTo>
                <a:cubicBezTo>
                  <a:pt x="7321000" y="0"/>
                  <a:pt x="7389232" y="68231"/>
                  <a:pt x="7389232" y="152399"/>
                </a:cubicBezTo>
                <a:lnTo>
                  <a:pt x="7389232" y="1397001"/>
                </a:lnTo>
                <a:cubicBezTo>
                  <a:pt x="7389232" y="1481169"/>
                  <a:pt x="7321000" y="1549400"/>
                  <a:pt x="7236833" y="1549400"/>
                </a:cubicBez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354380" y="7390668"/>
            <a:ext cx="46463" cy="1549400"/>
          </a:xfrm>
          <a:custGeom>
            <a:avLst/>
            <a:gdLst/>
            <a:ahLst/>
            <a:cxnLst/>
            <a:rect l="l" t="t" r="r" b="b"/>
            <a:pathLst>
              <a:path w="46463" h="1549400">
                <a:moveTo>
                  <a:pt x="46463" y="0"/>
                </a:moveTo>
                <a:lnTo>
                  <a:pt x="46463" y="0"/>
                </a:lnTo>
                <a:lnTo>
                  <a:pt x="46463" y="1549400"/>
                </a:lnTo>
                <a:lnTo>
                  <a:pt x="46463" y="1549400"/>
                </a:lnTo>
                <a:cubicBezTo>
                  <a:pt x="20802" y="1549400"/>
                  <a:pt x="0" y="1528598"/>
                  <a:pt x="0" y="15029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8" name="Shape 46"/>
          <p:cNvSpPr/>
          <p:nvPr/>
        </p:nvSpPr>
        <p:spPr>
          <a:xfrm>
            <a:off x="8733186" y="774624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9" name="Text 47"/>
          <p:cNvSpPr/>
          <p:nvPr/>
        </p:nvSpPr>
        <p:spPr>
          <a:xfrm>
            <a:off x="8907827" y="7898619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647531" y="7746242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47531" y="8254194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研究贡献 · 未来方向 · 应用前景 · 改进计划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37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9" grpId="0" animBg="1"/>
      <p:bldP spid="50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2" y="55877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3" name="Text 1"/>
          <p:cNvSpPr/>
          <p:nvPr/>
        </p:nvSpPr>
        <p:spPr>
          <a:xfrm>
            <a:off x="640889" y="634919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68281" y="507952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8281" y="1269919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531183" y="1625412"/>
            <a:ext cx="7465432" cy="3378200"/>
          </a:xfrm>
          <a:custGeom>
            <a:avLst/>
            <a:gdLst/>
            <a:ahLst/>
            <a:cxnLst/>
            <a:rect l="l" t="t" r="r" b="b"/>
            <a:pathLst>
              <a:path w="7465432" h="3378200">
                <a:moveTo>
                  <a:pt x="46463" y="0"/>
                </a:moveTo>
                <a:lnTo>
                  <a:pt x="7313041" y="0"/>
                </a:lnTo>
                <a:cubicBezTo>
                  <a:pt x="7397204" y="0"/>
                  <a:pt x="7465432" y="68228"/>
                  <a:pt x="7465432" y="152391"/>
                </a:cubicBezTo>
                <a:lnTo>
                  <a:pt x="7465432" y="3225809"/>
                </a:lnTo>
                <a:cubicBezTo>
                  <a:pt x="7465432" y="3309972"/>
                  <a:pt x="7397204" y="3378200"/>
                  <a:pt x="7313041" y="3378200"/>
                </a:cubicBezTo>
                <a:lnTo>
                  <a:pt x="46463" y="3378200"/>
                </a:lnTo>
                <a:cubicBezTo>
                  <a:pt x="20802" y="3378200"/>
                  <a:pt x="0" y="3357398"/>
                  <a:pt x="0" y="33317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1183" y="1625412"/>
            <a:ext cx="46463" cy="3378200"/>
          </a:xfrm>
          <a:custGeom>
            <a:avLst/>
            <a:gdLst/>
            <a:ahLst/>
            <a:cxnLst/>
            <a:rect l="l" t="t" r="r" b="b"/>
            <a:pathLst>
              <a:path w="46463" h="3378200">
                <a:moveTo>
                  <a:pt x="46463" y="0"/>
                </a:moveTo>
                <a:lnTo>
                  <a:pt x="46463" y="0"/>
                </a:lnTo>
                <a:lnTo>
                  <a:pt x="46463" y="3378200"/>
                </a:lnTo>
                <a:lnTo>
                  <a:pt x="46463" y="3378200"/>
                </a:lnTo>
                <a:cubicBezTo>
                  <a:pt x="20802" y="3378200"/>
                  <a:pt x="0" y="3357398"/>
                  <a:pt x="0" y="33317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8" name="Shape 6"/>
          <p:cNvSpPr/>
          <p:nvPr/>
        </p:nvSpPr>
        <p:spPr>
          <a:xfrm>
            <a:off x="909970" y="1942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" name="Text 7"/>
          <p:cNvSpPr/>
          <p:nvPr/>
        </p:nvSpPr>
        <p:spPr>
          <a:xfrm>
            <a:off x="1487797" y="1930167"/>
            <a:ext cx="320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我国农业土地资源挑战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170" y="2539758"/>
            <a:ext cx="693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我国农业土地资源面临严峻挑战:</a:t>
            </a:r>
            <a:r>
              <a:rPr lang="en-US" sz="1600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水土流失面积占国土总面积38%</a:t>
            </a: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,平均每年流失土壤约50亿吨。耕地资源污染严重,质量持续下降,直接威胁国家粮食安全和农业可持续发展。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9170" y="3682629"/>
            <a:ext cx="6832600" cy="1016000"/>
          </a:xfrm>
          <a:custGeom>
            <a:avLst/>
            <a:gdLst/>
            <a:ahLst/>
            <a:cxnLst/>
            <a:rect l="l" t="t" r="r" b="b"/>
            <a:pathLst>
              <a:path w="6832600" h="1016000">
                <a:moveTo>
                  <a:pt x="101600" y="0"/>
                </a:moveTo>
                <a:lnTo>
                  <a:pt x="6731000" y="0"/>
                </a:lnTo>
                <a:cubicBezTo>
                  <a:pt x="6787075" y="0"/>
                  <a:pt x="6832600" y="45525"/>
                  <a:pt x="6832600" y="101600"/>
                </a:cubicBezTo>
                <a:lnTo>
                  <a:pt x="6832600" y="914400"/>
                </a:lnTo>
                <a:cubicBezTo>
                  <a:pt x="6832600" y="970475"/>
                  <a:pt x="6787075" y="1016000"/>
                  <a:pt x="6731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979067" y="3835006"/>
            <a:ext cx="125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3A17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38%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29867" y="429214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水土流失占比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71410" y="3835006"/>
            <a:ext cx="140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3A17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50亿吨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2210" y="429214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年均土壤流失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1183" y="5206403"/>
            <a:ext cx="7465432" cy="2209800"/>
          </a:xfrm>
          <a:custGeom>
            <a:avLst/>
            <a:gdLst/>
            <a:ahLst/>
            <a:cxnLst/>
            <a:rect l="l" t="t" r="r" b="b"/>
            <a:pathLst>
              <a:path w="7465432" h="2209800">
                <a:moveTo>
                  <a:pt x="46463" y="0"/>
                </a:moveTo>
                <a:lnTo>
                  <a:pt x="7313022" y="0"/>
                </a:lnTo>
                <a:cubicBezTo>
                  <a:pt x="7397195" y="0"/>
                  <a:pt x="7465432" y="68236"/>
                  <a:pt x="7465432" y="152410"/>
                </a:cubicBezTo>
                <a:lnTo>
                  <a:pt x="7465432" y="2057390"/>
                </a:lnTo>
                <a:cubicBezTo>
                  <a:pt x="7465432" y="2141564"/>
                  <a:pt x="7397195" y="2209800"/>
                  <a:pt x="7313022" y="2209800"/>
                </a:cubicBezTo>
                <a:lnTo>
                  <a:pt x="46463" y="2209800"/>
                </a:lnTo>
                <a:cubicBezTo>
                  <a:pt x="20802" y="2209800"/>
                  <a:pt x="0" y="2188998"/>
                  <a:pt x="0" y="21633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1183" y="5206403"/>
            <a:ext cx="46463" cy="2209800"/>
          </a:xfrm>
          <a:custGeom>
            <a:avLst/>
            <a:gdLst/>
            <a:ahLst/>
            <a:cxnLst/>
            <a:rect l="l" t="t" r="r" b="b"/>
            <a:pathLst>
              <a:path w="46463" h="2209800">
                <a:moveTo>
                  <a:pt x="46463" y="0"/>
                </a:moveTo>
                <a:lnTo>
                  <a:pt x="46463" y="0"/>
                </a:lnTo>
                <a:lnTo>
                  <a:pt x="46463" y="2209800"/>
                </a:lnTo>
                <a:lnTo>
                  <a:pt x="46463" y="2209800"/>
                </a:lnTo>
                <a:cubicBezTo>
                  <a:pt x="20802" y="2209800"/>
                  <a:pt x="0" y="2188998"/>
                  <a:pt x="0" y="2163337"/>
                </a:cubicBezTo>
                <a:lnTo>
                  <a:pt x="0" y="46463"/>
                </a:lnTo>
                <a:cubicBezTo>
                  <a:pt x="0" y="20820"/>
                  <a:pt x="20820" y="0"/>
                  <a:pt x="46463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8" name="Shape 16"/>
          <p:cNvSpPr/>
          <p:nvPr/>
        </p:nvSpPr>
        <p:spPr>
          <a:xfrm>
            <a:off x="933782" y="5523823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9" name="Text 17"/>
          <p:cNvSpPr/>
          <p:nvPr/>
        </p:nvSpPr>
        <p:spPr>
          <a:xfrm>
            <a:off x="1487797" y="5511158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大数据技术应用价值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170" y="6120749"/>
            <a:ext cx="693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大数据技术能够从庞大的农业数据集合中挖掘有价值的信息和知识,推动农业信息化和智能化发展。通过适宜性评价,</a:t>
            </a:r>
            <a:r>
              <a:rPr lang="en-US" sz="1600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优化土地利用结构,提高土地利用效率,增加农业产能</a:t>
            </a: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,为精准农业和智慧农业提供科学决策支撑。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4919" y="1625412"/>
            <a:ext cx="7493000" cy="4876800"/>
          </a:xfrm>
          <a:custGeom>
            <a:avLst/>
            <a:gdLst/>
            <a:ahLst/>
            <a:cxnLst/>
            <a:rect l="l" t="t" r="r" b="b"/>
            <a:pathLst>
              <a:path w="7493000" h="4876800">
                <a:moveTo>
                  <a:pt x="152400" y="0"/>
                </a:moveTo>
                <a:lnTo>
                  <a:pt x="7340600" y="0"/>
                </a:lnTo>
                <a:cubicBezTo>
                  <a:pt x="7424712" y="0"/>
                  <a:pt x="7493000" y="68288"/>
                  <a:pt x="7493000" y="152400"/>
                </a:cubicBezTo>
                <a:lnTo>
                  <a:pt x="7493000" y="4724400"/>
                </a:lnTo>
                <a:cubicBezTo>
                  <a:pt x="7493000" y="4808512"/>
                  <a:pt x="7424712" y="4876800"/>
                  <a:pt x="7340600" y="4876800"/>
                </a:cubicBezTo>
                <a:lnTo>
                  <a:pt x="152400" y="4876800"/>
                </a:lnTo>
                <a:cubicBezTo>
                  <a:pt x="68288" y="4876800"/>
                  <a:pt x="0" y="4808512"/>
                  <a:pt x="0" y="4724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62849" y="1942832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428625" y="35719"/>
                </a:moveTo>
                <a:cubicBezTo>
                  <a:pt x="428625" y="27459"/>
                  <a:pt x="424383" y="19794"/>
                  <a:pt x="417314" y="15478"/>
                </a:cubicBezTo>
                <a:cubicBezTo>
                  <a:pt x="410245" y="11162"/>
                  <a:pt x="401538" y="10716"/>
                  <a:pt x="394171" y="14436"/>
                </a:cubicBezTo>
                <a:lnTo>
                  <a:pt x="307702" y="57671"/>
                </a:lnTo>
                <a:lnTo>
                  <a:pt x="174203" y="13097"/>
                </a:lnTo>
                <a:cubicBezTo>
                  <a:pt x="168176" y="11088"/>
                  <a:pt x="161702" y="11534"/>
                  <a:pt x="156046" y="14362"/>
                </a:cubicBezTo>
                <a:lnTo>
                  <a:pt x="60796" y="61987"/>
                </a:lnTo>
                <a:cubicBezTo>
                  <a:pt x="52685" y="66080"/>
                  <a:pt x="47625" y="74340"/>
                  <a:pt x="47625" y="83344"/>
                </a:cubicBezTo>
                <a:lnTo>
                  <a:pt x="47625" y="345281"/>
                </a:lnTo>
                <a:cubicBezTo>
                  <a:pt x="47625" y="353541"/>
                  <a:pt x="51867" y="361206"/>
                  <a:pt x="58936" y="365522"/>
                </a:cubicBezTo>
                <a:cubicBezTo>
                  <a:pt x="66005" y="369838"/>
                  <a:pt x="74712" y="370284"/>
                  <a:pt x="82079" y="366564"/>
                </a:cubicBezTo>
                <a:lnTo>
                  <a:pt x="168473" y="323329"/>
                </a:lnTo>
                <a:lnTo>
                  <a:pt x="297433" y="366340"/>
                </a:lnTo>
                <a:cubicBezTo>
                  <a:pt x="294233" y="361578"/>
                  <a:pt x="291108" y="356592"/>
                  <a:pt x="288057" y="351532"/>
                </a:cubicBezTo>
                <a:cubicBezTo>
                  <a:pt x="279871" y="337914"/>
                  <a:pt x="271760" y="322287"/>
                  <a:pt x="265733" y="305544"/>
                </a:cubicBezTo>
                <a:lnTo>
                  <a:pt x="190426" y="280467"/>
                </a:lnTo>
                <a:lnTo>
                  <a:pt x="190426" y="68759"/>
                </a:lnTo>
                <a:lnTo>
                  <a:pt x="285676" y="100533"/>
                </a:lnTo>
                <a:lnTo>
                  <a:pt x="285676" y="174427"/>
                </a:lnTo>
                <a:cubicBezTo>
                  <a:pt x="308744" y="147786"/>
                  <a:pt x="342974" y="130969"/>
                  <a:pt x="380926" y="130969"/>
                </a:cubicBezTo>
                <a:cubicBezTo>
                  <a:pt x="397743" y="130969"/>
                  <a:pt x="413817" y="134243"/>
                  <a:pt x="428551" y="140271"/>
                </a:cubicBezTo>
                <a:lnTo>
                  <a:pt x="428625" y="35719"/>
                </a:lnTo>
                <a:close/>
                <a:moveTo>
                  <a:pt x="381000" y="166688"/>
                </a:moveTo>
                <a:cubicBezTo>
                  <a:pt x="331663" y="166688"/>
                  <a:pt x="291703" y="205978"/>
                  <a:pt x="291703" y="254422"/>
                </a:cubicBezTo>
                <a:cubicBezTo>
                  <a:pt x="291703" y="305693"/>
                  <a:pt x="339403" y="366340"/>
                  <a:pt x="365075" y="395288"/>
                </a:cubicBezTo>
                <a:cubicBezTo>
                  <a:pt x="373707" y="404961"/>
                  <a:pt x="388367" y="404961"/>
                  <a:pt x="396999" y="395288"/>
                </a:cubicBezTo>
                <a:cubicBezTo>
                  <a:pt x="422672" y="366340"/>
                  <a:pt x="470371" y="305693"/>
                  <a:pt x="470371" y="254422"/>
                </a:cubicBezTo>
                <a:cubicBezTo>
                  <a:pt x="470371" y="205978"/>
                  <a:pt x="430411" y="166688"/>
                  <a:pt x="381074" y="166688"/>
                </a:cubicBezTo>
                <a:close/>
                <a:moveTo>
                  <a:pt x="351234" y="255984"/>
                </a:moveTo>
                <a:cubicBezTo>
                  <a:pt x="351234" y="239556"/>
                  <a:pt x="364572" y="226219"/>
                  <a:pt x="381000" y="226219"/>
                </a:cubicBezTo>
                <a:cubicBezTo>
                  <a:pt x="397428" y="226219"/>
                  <a:pt x="410766" y="239556"/>
                  <a:pt x="410766" y="255984"/>
                </a:cubicBezTo>
                <a:cubicBezTo>
                  <a:pt x="410766" y="272412"/>
                  <a:pt x="397428" y="285750"/>
                  <a:pt x="381000" y="285750"/>
                </a:cubicBezTo>
                <a:cubicBezTo>
                  <a:pt x="364572" y="285750"/>
                  <a:pt x="351234" y="272412"/>
                  <a:pt x="351234" y="255984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3" name="Text 21"/>
          <p:cNvSpPr/>
          <p:nvPr/>
        </p:nvSpPr>
        <p:spPr>
          <a:xfrm>
            <a:off x="9188302" y="1930167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湖南省农业特点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59674" y="2539758"/>
            <a:ext cx="699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3A17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气候条件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59674" y="2996890"/>
            <a:ext cx="698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大陆性亚热带季风湿润气候,光热水资源丰富。年均温</a:t>
            </a:r>
            <a:r>
              <a:rPr lang="en-US" sz="1600" b="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16.5-17.5℃</a:t>
            </a:r>
            <a:r>
              <a:rPr lang="en-US" sz="16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,年均降水量</a:t>
            </a:r>
            <a:r>
              <a:rPr lang="en-US" sz="1600" b="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1358-1552mm</a:t>
            </a:r>
            <a:r>
              <a:rPr lang="en-US" sz="16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,适宜喜温作物种植。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59674" y="3809597"/>
            <a:ext cx="699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3A17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主要作物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59674" y="4266729"/>
            <a:ext cx="698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水稻、玉米、棉花、油菜、大豆、小麦、花生、红薯、烟草、茶叶、柑橘等。洞庭湖地区以双季稻为主,湘西地区多旱地作物。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59674" y="5079436"/>
            <a:ext cx="699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3A17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土壤类型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59674" y="5536567"/>
            <a:ext cx="698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潴育性水稻土、酸性红壤(pH 5.71)、第四纪红土红壤,土壤肥力中等,适合多种农作物生长。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65245" y="6715175"/>
            <a:ext cx="7475550" cy="1798650"/>
          </a:xfrm>
          <a:custGeom>
            <a:avLst/>
            <a:gdLst/>
            <a:ahLst/>
            <a:cxnLst/>
            <a:rect l="l" t="t" r="r" b="b"/>
            <a:pathLst>
              <a:path w="7475550" h="1798650">
                <a:moveTo>
                  <a:pt x="152400" y="0"/>
                </a:moveTo>
                <a:lnTo>
                  <a:pt x="7323151" y="0"/>
                </a:lnTo>
                <a:cubicBezTo>
                  <a:pt x="7407319" y="0"/>
                  <a:pt x="7475550" y="68232"/>
                  <a:pt x="7475550" y="152400"/>
                </a:cubicBezTo>
                <a:lnTo>
                  <a:pt x="7475550" y="1646251"/>
                </a:lnTo>
                <a:cubicBezTo>
                  <a:pt x="7475550" y="1730419"/>
                  <a:pt x="7407319" y="1798650"/>
                  <a:pt x="7323151" y="1798650"/>
                </a:cubicBezTo>
                <a:lnTo>
                  <a:pt x="152400" y="1798650"/>
                </a:lnTo>
                <a:cubicBezTo>
                  <a:pt x="68232" y="1798650"/>
                  <a:pt x="0" y="1730419"/>
                  <a:pt x="0" y="1646251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 w="20650">
            <a:solidFill>
              <a:srgbClr val="C3A1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18424" y="70555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32" name="Text 30"/>
          <p:cNvSpPr/>
          <p:nvPr/>
        </p:nvSpPr>
        <p:spPr>
          <a:xfrm>
            <a:off x="9113686" y="7030253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研究意义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80324" y="7538207"/>
            <a:ext cx="6946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为农业决策提供科学数据支撑</a:t>
            </a: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,推动湖南省农业种植结构优化调整,提高农业资源配置效率,促进农业可持续发展,保障区域粮食安全。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670" y="524358"/>
            <a:ext cx="476716" cy="476716"/>
          </a:xfrm>
          <a:custGeom>
            <a:avLst/>
            <a:gdLst/>
            <a:ahLst/>
            <a:cxnLst/>
            <a:rect l="l" t="t" r="r" b="b"/>
            <a:pathLst>
              <a:path w="476716" h="476716">
                <a:moveTo>
                  <a:pt x="238358" y="0"/>
                </a:moveTo>
                <a:lnTo>
                  <a:pt x="238358" y="0"/>
                </a:lnTo>
                <a:cubicBezTo>
                  <a:pt x="369911" y="0"/>
                  <a:pt x="476716" y="106805"/>
                  <a:pt x="476716" y="238358"/>
                </a:cubicBezTo>
                <a:lnTo>
                  <a:pt x="476716" y="238358"/>
                </a:lnTo>
                <a:cubicBezTo>
                  <a:pt x="476716" y="369911"/>
                  <a:pt x="369911" y="476716"/>
                  <a:pt x="238358" y="476716"/>
                </a:cubicBezTo>
                <a:lnTo>
                  <a:pt x="238358" y="476716"/>
                </a:lnTo>
                <a:cubicBezTo>
                  <a:pt x="106805" y="476716"/>
                  <a:pt x="0" y="369911"/>
                  <a:pt x="0" y="238358"/>
                </a:cubicBezTo>
                <a:lnTo>
                  <a:pt x="0" y="238358"/>
                </a:lnTo>
                <a:cubicBezTo>
                  <a:pt x="0" y="106805"/>
                  <a:pt x="106805" y="0"/>
                  <a:pt x="238358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" name="Text 1"/>
          <p:cNvSpPr/>
          <p:nvPr/>
        </p:nvSpPr>
        <p:spPr>
          <a:xfrm>
            <a:off x="587719" y="595819"/>
            <a:ext cx="357537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6334" y="476669"/>
            <a:ext cx="3718381" cy="5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4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6334" y="1191713"/>
            <a:ext cx="1144117" cy="47672"/>
          </a:xfrm>
          <a:custGeom>
            <a:avLst/>
            <a:gdLst/>
            <a:ahLst/>
            <a:cxnLst/>
            <a:rect l="l" t="t" r="r" b="b"/>
            <a:pathLst>
              <a:path w="1144117" h="47672">
                <a:moveTo>
                  <a:pt x="0" y="0"/>
                </a:moveTo>
                <a:lnTo>
                  <a:pt x="1144117" y="0"/>
                </a:lnTo>
                <a:lnTo>
                  <a:pt x="1144117" y="47672"/>
                </a:lnTo>
                <a:lnTo>
                  <a:pt x="0" y="47672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476670" y="1547113"/>
            <a:ext cx="10058698" cy="5933074"/>
          </a:xfrm>
          <a:custGeom>
            <a:avLst/>
            <a:gdLst/>
            <a:ahLst/>
            <a:cxnLst/>
            <a:rect l="l" t="t" r="r" b="b"/>
            <a:pathLst>
              <a:path w="10058698" h="5933074">
                <a:moveTo>
                  <a:pt x="43602" y="0"/>
                </a:moveTo>
                <a:lnTo>
                  <a:pt x="10015096" y="0"/>
                </a:lnTo>
                <a:cubicBezTo>
                  <a:pt x="10039177" y="0"/>
                  <a:pt x="10058698" y="19521"/>
                  <a:pt x="10058698" y="43602"/>
                </a:cubicBezTo>
                <a:lnTo>
                  <a:pt x="10058698" y="5790087"/>
                </a:lnTo>
                <a:cubicBezTo>
                  <a:pt x="10058698" y="5869056"/>
                  <a:pt x="9994680" y="5933074"/>
                  <a:pt x="9915711" y="5933074"/>
                </a:cubicBezTo>
                <a:lnTo>
                  <a:pt x="142987" y="5933074"/>
                </a:lnTo>
                <a:cubicBezTo>
                  <a:pt x="64017" y="5933074"/>
                  <a:pt x="0" y="5869056"/>
                  <a:pt x="0" y="5790087"/>
                </a:cubicBezTo>
                <a:lnTo>
                  <a:pt x="0" y="43602"/>
                </a:lnTo>
                <a:cubicBezTo>
                  <a:pt x="0" y="19521"/>
                  <a:pt x="19521" y="0"/>
                  <a:pt x="43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78768" dist="1191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6670" y="1547113"/>
            <a:ext cx="10058698" cy="43602"/>
          </a:xfrm>
          <a:custGeom>
            <a:avLst/>
            <a:gdLst/>
            <a:ahLst/>
            <a:cxnLst/>
            <a:rect l="l" t="t" r="r" b="b"/>
            <a:pathLst>
              <a:path w="10058698" h="43602">
                <a:moveTo>
                  <a:pt x="43602" y="0"/>
                </a:moveTo>
                <a:lnTo>
                  <a:pt x="10015096" y="0"/>
                </a:lnTo>
                <a:cubicBezTo>
                  <a:pt x="10039177" y="0"/>
                  <a:pt x="10058698" y="19521"/>
                  <a:pt x="10058698" y="43602"/>
                </a:cubicBezTo>
                <a:lnTo>
                  <a:pt x="10058698" y="43602"/>
                </a:lnTo>
                <a:lnTo>
                  <a:pt x="0" y="43602"/>
                </a:lnTo>
                <a:lnTo>
                  <a:pt x="0" y="43602"/>
                </a:lnTo>
                <a:cubicBezTo>
                  <a:pt x="0" y="19521"/>
                  <a:pt x="19521" y="0"/>
                  <a:pt x="43602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8" name="Shape 6"/>
          <p:cNvSpPr/>
          <p:nvPr/>
        </p:nvSpPr>
        <p:spPr>
          <a:xfrm>
            <a:off x="762639" y="1819096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93434" y="25349"/>
                </a:moveTo>
                <a:cubicBezTo>
                  <a:pt x="101046" y="30656"/>
                  <a:pt x="102862" y="41131"/>
                  <a:pt x="97554" y="48672"/>
                </a:cubicBezTo>
                <a:lnTo>
                  <a:pt x="58449" y="104538"/>
                </a:lnTo>
                <a:cubicBezTo>
                  <a:pt x="55586" y="108588"/>
                  <a:pt x="51117" y="111172"/>
                  <a:pt x="46159" y="111591"/>
                </a:cubicBezTo>
                <a:cubicBezTo>
                  <a:pt x="41201" y="112010"/>
                  <a:pt x="36312" y="110334"/>
                  <a:pt x="32821" y="106842"/>
                </a:cubicBezTo>
                <a:lnTo>
                  <a:pt x="4888" y="78909"/>
                </a:lnTo>
                <a:cubicBezTo>
                  <a:pt x="-1606" y="72345"/>
                  <a:pt x="-1606" y="61731"/>
                  <a:pt x="4888" y="55167"/>
                </a:cubicBezTo>
                <a:cubicBezTo>
                  <a:pt x="11383" y="48603"/>
                  <a:pt x="22067" y="48672"/>
                  <a:pt x="28631" y="55167"/>
                </a:cubicBezTo>
                <a:lnTo>
                  <a:pt x="42457" y="68993"/>
                </a:lnTo>
                <a:lnTo>
                  <a:pt x="70111" y="29469"/>
                </a:lnTo>
                <a:cubicBezTo>
                  <a:pt x="75418" y="21857"/>
                  <a:pt x="85893" y="20042"/>
                  <a:pt x="93434" y="25349"/>
                </a:cubicBezTo>
                <a:close/>
                <a:moveTo>
                  <a:pt x="93434" y="137079"/>
                </a:moveTo>
                <a:cubicBezTo>
                  <a:pt x="101046" y="142386"/>
                  <a:pt x="102862" y="152861"/>
                  <a:pt x="97554" y="160403"/>
                </a:cubicBezTo>
                <a:lnTo>
                  <a:pt x="58449" y="216268"/>
                </a:lnTo>
                <a:cubicBezTo>
                  <a:pt x="55586" y="220318"/>
                  <a:pt x="51117" y="222902"/>
                  <a:pt x="46159" y="223321"/>
                </a:cubicBezTo>
                <a:cubicBezTo>
                  <a:pt x="41201" y="223740"/>
                  <a:pt x="36312" y="222064"/>
                  <a:pt x="32821" y="218572"/>
                </a:cubicBezTo>
                <a:lnTo>
                  <a:pt x="4888" y="190640"/>
                </a:lnTo>
                <a:cubicBezTo>
                  <a:pt x="-1676" y="184076"/>
                  <a:pt x="-1676" y="173461"/>
                  <a:pt x="4888" y="166967"/>
                </a:cubicBezTo>
                <a:cubicBezTo>
                  <a:pt x="11452" y="160473"/>
                  <a:pt x="22067" y="160403"/>
                  <a:pt x="28561" y="166967"/>
                </a:cubicBezTo>
                <a:lnTo>
                  <a:pt x="42388" y="180793"/>
                </a:lnTo>
                <a:lnTo>
                  <a:pt x="70041" y="141269"/>
                </a:lnTo>
                <a:cubicBezTo>
                  <a:pt x="75348" y="133657"/>
                  <a:pt x="85823" y="131842"/>
                  <a:pt x="93365" y="137149"/>
                </a:cubicBezTo>
                <a:close/>
                <a:moveTo>
                  <a:pt x="156422" y="67038"/>
                </a:moveTo>
                <a:cubicBezTo>
                  <a:pt x="156422" y="54678"/>
                  <a:pt x="166408" y="44692"/>
                  <a:pt x="178768" y="44692"/>
                </a:cubicBezTo>
                <a:lnTo>
                  <a:pt x="335191" y="44692"/>
                </a:lnTo>
                <a:cubicBezTo>
                  <a:pt x="347551" y="44692"/>
                  <a:pt x="357537" y="54678"/>
                  <a:pt x="357537" y="67038"/>
                </a:cubicBezTo>
                <a:cubicBezTo>
                  <a:pt x="357537" y="79398"/>
                  <a:pt x="347551" y="89384"/>
                  <a:pt x="335191" y="89384"/>
                </a:cubicBezTo>
                <a:lnTo>
                  <a:pt x="178768" y="89384"/>
                </a:lnTo>
                <a:cubicBezTo>
                  <a:pt x="166408" y="89384"/>
                  <a:pt x="156422" y="79398"/>
                  <a:pt x="156422" y="67038"/>
                </a:cubicBezTo>
                <a:close/>
                <a:moveTo>
                  <a:pt x="156422" y="178768"/>
                </a:moveTo>
                <a:cubicBezTo>
                  <a:pt x="156422" y="166408"/>
                  <a:pt x="166408" y="156422"/>
                  <a:pt x="178768" y="156422"/>
                </a:cubicBezTo>
                <a:lnTo>
                  <a:pt x="335191" y="156422"/>
                </a:lnTo>
                <a:cubicBezTo>
                  <a:pt x="347551" y="156422"/>
                  <a:pt x="357537" y="166408"/>
                  <a:pt x="357537" y="178768"/>
                </a:cubicBezTo>
                <a:cubicBezTo>
                  <a:pt x="357537" y="191128"/>
                  <a:pt x="347551" y="201114"/>
                  <a:pt x="335191" y="201114"/>
                </a:cubicBezTo>
                <a:lnTo>
                  <a:pt x="178768" y="201114"/>
                </a:lnTo>
                <a:cubicBezTo>
                  <a:pt x="166408" y="201114"/>
                  <a:pt x="156422" y="191128"/>
                  <a:pt x="156422" y="178768"/>
                </a:cubicBezTo>
                <a:close/>
                <a:moveTo>
                  <a:pt x="111730" y="290499"/>
                </a:moveTo>
                <a:cubicBezTo>
                  <a:pt x="111730" y="278138"/>
                  <a:pt x="121716" y="268152"/>
                  <a:pt x="134076" y="268152"/>
                </a:cubicBezTo>
                <a:lnTo>
                  <a:pt x="335191" y="268152"/>
                </a:lnTo>
                <a:cubicBezTo>
                  <a:pt x="347551" y="268152"/>
                  <a:pt x="357537" y="278138"/>
                  <a:pt x="357537" y="290499"/>
                </a:cubicBezTo>
                <a:cubicBezTo>
                  <a:pt x="357537" y="302859"/>
                  <a:pt x="347551" y="312845"/>
                  <a:pt x="335191" y="312845"/>
                </a:cubicBezTo>
                <a:lnTo>
                  <a:pt x="134076" y="312845"/>
                </a:lnTo>
                <a:cubicBezTo>
                  <a:pt x="121716" y="312845"/>
                  <a:pt x="111730" y="302859"/>
                  <a:pt x="111730" y="290499"/>
                </a:cubicBezTo>
                <a:close/>
                <a:moveTo>
                  <a:pt x="44692" y="262566"/>
                </a:moveTo>
                <a:cubicBezTo>
                  <a:pt x="60108" y="262566"/>
                  <a:pt x="72625" y="275082"/>
                  <a:pt x="72625" y="290499"/>
                </a:cubicBezTo>
                <a:cubicBezTo>
                  <a:pt x="72625" y="305915"/>
                  <a:pt x="60108" y="318431"/>
                  <a:pt x="44692" y="318431"/>
                </a:cubicBezTo>
                <a:cubicBezTo>
                  <a:pt x="29276" y="318431"/>
                  <a:pt x="16760" y="305915"/>
                  <a:pt x="16760" y="290499"/>
                </a:cubicBezTo>
                <a:cubicBezTo>
                  <a:pt x="16760" y="275082"/>
                  <a:pt x="29276" y="262566"/>
                  <a:pt x="44692" y="262566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" name="Text 7"/>
          <p:cNvSpPr/>
          <p:nvPr/>
        </p:nvSpPr>
        <p:spPr>
          <a:xfrm>
            <a:off x="1304882" y="1807213"/>
            <a:ext cx="1287132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功能需求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4967" y="2379263"/>
            <a:ext cx="9581982" cy="977267"/>
          </a:xfrm>
          <a:custGeom>
            <a:avLst/>
            <a:gdLst/>
            <a:ahLst/>
            <a:cxnLst/>
            <a:rect l="l" t="t" r="r" b="b"/>
            <a:pathLst>
              <a:path w="9581982" h="977267">
                <a:moveTo>
                  <a:pt x="95342" y="0"/>
                </a:moveTo>
                <a:lnTo>
                  <a:pt x="9486640" y="0"/>
                </a:lnTo>
                <a:cubicBezTo>
                  <a:pt x="9539296" y="0"/>
                  <a:pt x="9581982" y="42686"/>
                  <a:pt x="9581982" y="95342"/>
                </a:cubicBezTo>
                <a:lnTo>
                  <a:pt x="9581982" y="881925"/>
                </a:lnTo>
                <a:cubicBezTo>
                  <a:pt x="9581982" y="934581"/>
                  <a:pt x="9539296" y="977267"/>
                  <a:pt x="9486640" y="977267"/>
                </a:cubicBezTo>
                <a:lnTo>
                  <a:pt x="95342" y="977267"/>
                </a:lnTo>
                <a:cubicBezTo>
                  <a:pt x="42686" y="977267"/>
                  <a:pt x="0" y="934581"/>
                  <a:pt x="0" y="881925"/>
                </a:cubicBezTo>
                <a:lnTo>
                  <a:pt x="0" y="95342"/>
                </a:lnTo>
                <a:cubicBezTo>
                  <a:pt x="0" y="42721"/>
                  <a:pt x="42721" y="0"/>
                  <a:pt x="95342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7961" y="2522254"/>
            <a:ext cx="9403214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多准则适宜性区划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961" y="2951237"/>
            <a:ext cx="939129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支持</a:t>
            </a:r>
            <a:r>
              <a:rPr lang="en-US" sz="1501" b="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12种农作物</a:t>
            </a:r>
            <a:r>
              <a:rPr lang="en-US" sz="150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适宜性评价,提供</a:t>
            </a:r>
            <a:r>
              <a:rPr lang="en-US" sz="1501" b="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县级/乡镇级/村级</a:t>
            </a:r>
            <a:r>
              <a:rPr lang="en-US" sz="150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三种精度,基于湖南省地图的热力图可视化展示。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4967" y="3499364"/>
            <a:ext cx="9581982" cy="1239460"/>
          </a:xfrm>
          <a:custGeom>
            <a:avLst/>
            <a:gdLst/>
            <a:ahLst/>
            <a:cxnLst/>
            <a:rect l="l" t="t" r="r" b="b"/>
            <a:pathLst>
              <a:path w="9581982" h="1239460">
                <a:moveTo>
                  <a:pt x="95339" y="0"/>
                </a:moveTo>
                <a:lnTo>
                  <a:pt x="9486643" y="0"/>
                </a:lnTo>
                <a:cubicBezTo>
                  <a:pt x="9539298" y="0"/>
                  <a:pt x="9581982" y="42685"/>
                  <a:pt x="9581982" y="95339"/>
                </a:cubicBezTo>
                <a:lnTo>
                  <a:pt x="9581982" y="1144121"/>
                </a:lnTo>
                <a:cubicBezTo>
                  <a:pt x="9581982" y="1196776"/>
                  <a:pt x="9539298" y="1239460"/>
                  <a:pt x="9486643" y="1239460"/>
                </a:cubicBezTo>
                <a:lnTo>
                  <a:pt x="95339" y="1239460"/>
                </a:lnTo>
                <a:cubicBezTo>
                  <a:pt x="42685" y="1239460"/>
                  <a:pt x="0" y="1196776"/>
                  <a:pt x="0" y="1144121"/>
                </a:cubicBezTo>
                <a:lnTo>
                  <a:pt x="0" y="95339"/>
                </a:lnTo>
                <a:cubicBezTo>
                  <a:pt x="0" y="42720"/>
                  <a:pt x="42720" y="0"/>
                  <a:pt x="95339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7961" y="3642358"/>
            <a:ext cx="9403214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联网报告生成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961" y="4071338"/>
            <a:ext cx="9391296" cy="524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实时获取市场行情(当前价格、趋势、需求)、天气预报(温度、降水、种植条件)、政策动态(补贴、规划)、技术趋势分析。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4967" y="4881609"/>
            <a:ext cx="9581982" cy="1239460"/>
          </a:xfrm>
          <a:custGeom>
            <a:avLst/>
            <a:gdLst/>
            <a:ahLst/>
            <a:cxnLst/>
            <a:rect l="l" t="t" r="r" b="b"/>
            <a:pathLst>
              <a:path w="9581982" h="1239460">
                <a:moveTo>
                  <a:pt x="95339" y="0"/>
                </a:moveTo>
                <a:lnTo>
                  <a:pt x="9486643" y="0"/>
                </a:lnTo>
                <a:cubicBezTo>
                  <a:pt x="9539298" y="0"/>
                  <a:pt x="9581982" y="42685"/>
                  <a:pt x="9581982" y="95339"/>
                </a:cubicBezTo>
                <a:lnTo>
                  <a:pt x="9581982" y="1144121"/>
                </a:lnTo>
                <a:cubicBezTo>
                  <a:pt x="9581982" y="1196776"/>
                  <a:pt x="9539298" y="1239460"/>
                  <a:pt x="9486643" y="1239460"/>
                </a:cubicBezTo>
                <a:lnTo>
                  <a:pt x="95339" y="1239460"/>
                </a:lnTo>
                <a:cubicBezTo>
                  <a:pt x="42685" y="1239460"/>
                  <a:pt x="0" y="1196776"/>
                  <a:pt x="0" y="1144121"/>
                </a:cubicBezTo>
                <a:lnTo>
                  <a:pt x="0" y="95339"/>
                </a:lnTo>
                <a:cubicBezTo>
                  <a:pt x="0" y="42720"/>
                  <a:pt x="42720" y="0"/>
                  <a:pt x="95339" y="0"/>
                </a:cubicBezTo>
                <a:close/>
              </a:path>
            </a:pathLst>
          </a:custGeom>
          <a:solidFill>
            <a:srgbClr val="A4988A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7961" y="5024603"/>
            <a:ext cx="9403214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数据分析与可视化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961" y="5453583"/>
            <a:ext cx="9391296" cy="524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温度分析(年度和月度趋势)、土壤分析(类型分布和肥力评价)、作物分析(多作物适宜性对比)、交互式图表展示。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4967" y="6263854"/>
            <a:ext cx="9581982" cy="977267"/>
          </a:xfrm>
          <a:custGeom>
            <a:avLst/>
            <a:gdLst/>
            <a:ahLst/>
            <a:cxnLst/>
            <a:rect l="l" t="t" r="r" b="b"/>
            <a:pathLst>
              <a:path w="9581982" h="977267">
                <a:moveTo>
                  <a:pt x="95342" y="0"/>
                </a:moveTo>
                <a:lnTo>
                  <a:pt x="9486640" y="0"/>
                </a:lnTo>
                <a:cubicBezTo>
                  <a:pt x="9539296" y="0"/>
                  <a:pt x="9581982" y="42686"/>
                  <a:pt x="9581982" y="95342"/>
                </a:cubicBezTo>
                <a:lnTo>
                  <a:pt x="9581982" y="881925"/>
                </a:lnTo>
                <a:cubicBezTo>
                  <a:pt x="9581982" y="934581"/>
                  <a:pt x="9539296" y="977267"/>
                  <a:pt x="9486640" y="977267"/>
                </a:cubicBezTo>
                <a:lnTo>
                  <a:pt x="95342" y="977267"/>
                </a:lnTo>
                <a:cubicBezTo>
                  <a:pt x="42686" y="977267"/>
                  <a:pt x="0" y="934581"/>
                  <a:pt x="0" y="881925"/>
                </a:cubicBezTo>
                <a:lnTo>
                  <a:pt x="0" y="95342"/>
                </a:lnTo>
                <a:cubicBezTo>
                  <a:pt x="0" y="42721"/>
                  <a:pt x="42721" y="0"/>
                  <a:pt x="95342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7961" y="6406849"/>
            <a:ext cx="9403214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完整数据管理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7961" y="6835829"/>
            <a:ext cx="939129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报告预览展示所有分析数据,提供</a:t>
            </a:r>
            <a:r>
              <a:rPr lang="en-US" sz="1501" b="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14个地级市</a:t>
            </a:r>
            <a:r>
              <a:rPr lang="en-US" sz="150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详细评分和等级,支持纯文本格式完整数据导出。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768566" y="1547113"/>
            <a:ext cx="5005513" cy="2882094"/>
          </a:xfrm>
          <a:custGeom>
            <a:avLst/>
            <a:gdLst/>
            <a:ahLst/>
            <a:cxnLst/>
            <a:rect l="l" t="t" r="r" b="b"/>
            <a:pathLst>
              <a:path w="5005513" h="2882094">
                <a:moveTo>
                  <a:pt x="43602" y="0"/>
                </a:moveTo>
                <a:lnTo>
                  <a:pt x="4961911" y="0"/>
                </a:lnTo>
                <a:cubicBezTo>
                  <a:pt x="4985992" y="0"/>
                  <a:pt x="5005513" y="19521"/>
                  <a:pt x="5005513" y="43602"/>
                </a:cubicBezTo>
                <a:lnTo>
                  <a:pt x="5005513" y="2739085"/>
                </a:lnTo>
                <a:cubicBezTo>
                  <a:pt x="5005513" y="2818067"/>
                  <a:pt x="4941486" y="2882094"/>
                  <a:pt x="4862504" y="2882094"/>
                </a:cubicBezTo>
                <a:lnTo>
                  <a:pt x="143010" y="2882094"/>
                </a:lnTo>
                <a:cubicBezTo>
                  <a:pt x="64028" y="2882094"/>
                  <a:pt x="0" y="2818067"/>
                  <a:pt x="0" y="2739085"/>
                </a:cubicBezTo>
                <a:lnTo>
                  <a:pt x="0" y="43602"/>
                </a:lnTo>
                <a:cubicBezTo>
                  <a:pt x="0" y="19521"/>
                  <a:pt x="19521" y="0"/>
                  <a:pt x="43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78768" dist="1191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768566" y="1547113"/>
            <a:ext cx="5005513" cy="43602"/>
          </a:xfrm>
          <a:custGeom>
            <a:avLst/>
            <a:gdLst/>
            <a:ahLst/>
            <a:cxnLst/>
            <a:rect l="l" t="t" r="r" b="b"/>
            <a:pathLst>
              <a:path w="5005513" h="43602">
                <a:moveTo>
                  <a:pt x="43602" y="0"/>
                </a:moveTo>
                <a:lnTo>
                  <a:pt x="4961911" y="0"/>
                </a:lnTo>
                <a:cubicBezTo>
                  <a:pt x="4985992" y="0"/>
                  <a:pt x="5005513" y="19521"/>
                  <a:pt x="5005513" y="43602"/>
                </a:cubicBezTo>
                <a:lnTo>
                  <a:pt x="5005513" y="43602"/>
                </a:lnTo>
                <a:lnTo>
                  <a:pt x="0" y="43602"/>
                </a:lnTo>
                <a:lnTo>
                  <a:pt x="0" y="43602"/>
                </a:lnTo>
                <a:cubicBezTo>
                  <a:pt x="0" y="19521"/>
                  <a:pt x="19521" y="0"/>
                  <a:pt x="43602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54535" y="1819096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0" y="178768"/>
                </a:moveTo>
                <a:cubicBezTo>
                  <a:pt x="0" y="80103"/>
                  <a:pt x="80103" y="0"/>
                  <a:pt x="178768" y="0"/>
                </a:cubicBezTo>
                <a:cubicBezTo>
                  <a:pt x="277433" y="0"/>
                  <a:pt x="357537" y="80103"/>
                  <a:pt x="357537" y="178768"/>
                </a:cubicBezTo>
                <a:cubicBezTo>
                  <a:pt x="357537" y="277433"/>
                  <a:pt x="277433" y="357537"/>
                  <a:pt x="178768" y="357537"/>
                </a:cubicBezTo>
                <a:cubicBezTo>
                  <a:pt x="80103" y="357537"/>
                  <a:pt x="0" y="277433"/>
                  <a:pt x="0" y="178768"/>
                </a:cubicBezTo>
                <a:close/>
                <a:moveTo>
                  <a:pt x="201114" y="67038"/>
                </a:moveTo>
                <a:cubicBezTo>
                  <a:pt x="201114" y="54705"/>
                  <a:pt x="191101" y="44692"/>
                  <a:pt x="178768" y="44692"/>
                </a:cubicBezTo>
                <a:cubicBezTo>
                  <a:pt x="166435" y="44692"/>
                  <a:pt x="156422" y="54705"/>
                  <a:pt x="156422" y="67038"/>
                </a:cubicBezTo>
                <a:cubicBezTo>
                  <a:pt x="156422" y="79371"/>
                  <a:pt x="166435" y="89384"/>
                  <a:pt x="178768" y="89384"/>
                </a:cubicBezTo>
                <a:cubicBezTo>
                  <a:pt x="191101" y="89384"/>
                  <a:pt x="201114" y="79371"/>
                  <a:pt x="201114" y="67038"/>
                </a:cubicBezTo>
                <a:close/>
                <a:moveTo>
                  <a:pt x="178768" y="290499"/>
                </a:moveTo>
                <a:cubicBezTo>
                  <a:pt x="203419" y="290499"/>
                  <a:pt x="223460" y="270457"/>
                  <a:pt x="223460" y="245806"/>
                </a:cubicBezTo>
                <a:cubicBezTo>
                  <a:pt x="223460" y="234494"/>
                  <a:pt x="219271" y="224089"/>
                  <a:pt x="212287" y="216268"/>
                </a:cubicBezTo>
                <a:lnTo>
                  <a:pt x="260820" y="119272"/>
                </a:lnTo>
                <a:cubicBezTo>
                  <a:pt x="264940" y="110962"/>
                  <a:pt x="261588" y="100906"/>
                  <a:pt x="253348" y="96786"/>
                </a:cubicBezTo>
                <a:cubicBezTo>
                  <a:pt x="245108" y="92666"/>
                  <a:pt x="234983" y="96018"/>
                  <a:pt x="230863" y="104258"/>
                </a:cubicBezTo>
                <a:lnTo>
                  <a:pt x="182330" y="201254"/>
                </a:lnTo>
                <a:cubicBezTo>
                  <a:pt x="181143" y="201184"/>
                  <a:pt x="179955" y="201114"/>
                  <a:pt x="178768" y="201114"/>
                </a:cubicBezTo>
                <a:cubicBezTo>
                  <a:pt x="154118" y="201114"/>
                  <a:pt x="134076" y="221156"/>
                  <a:pt x="134076" y="245806"/>
                </a:cubicBezTo>
                <a:cubicBezTo>
                  <a:pt x="134076" y="270457"/>
                  <a:pt x="154118" y="290499"/>
                  <a:pt x="178768" y="290499"/>
                </a:cubicBezTo>
                <a:close/>
                <a:moveTo>
                  <a:pt x="122903" y="100557"/>
                </a:moveTo>
                <a:cubicBezTo>
                  <a:pt x="122903" y="88224"/>
                  <a:pt x="112890" y="78211"/>
                  <a:pt x="100557" y="78211"/>
                </a:cubicBezTo>
                <a:cubicBezTo>
                  <a:pt x="88224" y="78211"/>
                  <a:pt x="78211" y="88224"/>
                  <a:pt x="78211" y="100557"/>
                </a:cubicBezTo>
                <a:cubicBezTo>
                  <a:pt x="78211" y="112890"/>
                  <a:pt x="88224" y="122903"/>
                  <a:pt x="100557" y="122903"/>
                </a:cubicBezTo>
                <a:cubicBezTo>
                  <a:pt x="112890" y="122903"/>
                  <a:pt x="122903" y="112890"/>
                  <a:pt x="122903" y="100557"/>
                </a:cubicBezTo>
                <a:close/>
                <a:moveTo>
                  <a:pt x="67038" y="201114"/>
                </a:moveTo>
                <a:cubicBezTo>
                  <a:pt x="79371" y="201114"/>
                  <a:pt x="89384" y="191101"/>
                  <a:pt x="89384" y="178768"/>
                </a:cubicBezTo>
                <a:cubicBezTo>
                  <a:pt x="89384" y="166435"/>
                  <a:pt x="79371" y="156422"/>
                  <a:pt x="67038" y="156422"/>
                </a:cubicBezTo>
                <a:cubicBezTo>
                  <a:pt x="54705" y="156422"/>
                  <a:pt x="44692" y="166435"/>
                  <a:pt x="44692" y="178768"/>
                </a:cubicBezTo>
                <a:cubicBezTo>
                  <a:pt x="44692" y="191101"/>
                  <a:pt x="54705" y="201114"/>
                  <a:pt x="67038" y="201114"/>
                </a:cubicBezTo>
                <a:close/>
                <a:moveTo>
                  <a:pt x="312845" y="178768"/>
                </a:moveTo>
                <a:cubicBezTo>
                  <a:pt x="312845" y="166435"/>
                  <a:pt x="302832" y="156422"/>
                  <a:pt x="290499" y="156422"/>
                </a:cubicBezTo>
                <a:cubicBezTo>
                  <a:pt x="278165" y="156422"/>
                  <a:pt x="268152" y="166435"/>
                  <a:pt x="268152" y="178768"/>
                </a:cubicBezTo>
                <a:cubicBezTo>
                  <a:pt x="268152" y="191101"/>
                  <a:pt x="278165" y="201114"/>
                  <a:pt x="290499" y="201114"/>
                </a:cubicBezTo>
                <a:cubicBezTo>
                  <a:pt x="302832" y="201114"/>
                  <a:pt x="312845" y="191101"/>
                  <a:pt x="312845" y="17876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5" name="Text 23"/>
          <p:cNvSpPr/>
          <p:nvPr/>
        </p:nvSpPr>
        <p:spPr>
          <a:xfrm>
            <a:off x="11596778" y="1807213"/>
            <a:ext cx="1287132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性能需求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006863" y="2474565"/>
            <a:ext cx="95343" cy="95343"/>
          </a:xfrm>
          <a:custGeom>
            <a:avLst/>
            <a:gdLst/>
            <a:ahLst/>
            <a:cxnLst/>
            <a:rect l="l" t="t" r="r" b="b"/>
            <a:pathLst>
              <a:path w="95343" h="95343">
                <a:moveTo>
                  <a:pt x="47672" y="0"/>
                </a:moveTo>
                <a:lnTo>
                  <a:pt x="47672" y="0"/>
                </a:lnTo>
                <a:cubicBezTo>
                  <a:pt x="73982" y="0"/>
                  <a:pt x="95343" y="21361"/>
                  <a:pt x="95343" y="47672"/>
                </a:cubicBezTo>
                <a:lnTo>
                  <a:pt x="95343" y="47672"/>
                </a:lnTo>
                <a:cubicBezTo>
                  <a:pt x="95343" y="73982"/>
                  <a:pt x="73982" y="95343"/>
                  <a:pt x="47672" y="95343"/>
                </a:cubicBezTo>
                <a:lnTo>
                  <a:pt x="47672" y="95343"/>
                </a:lnTo>
                <a:cubicBezTo>
                  <a:pt x="21361" y="95343"/>
                  <a:pt x="0" y="73982"/>
                  <a:pt x="0" y="47672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7" name="Text 25"/>
          <p:cNvSpPr/>
          <p:nvPr/>
        </p:nvSpPr>
        <p:spPr>
          <a:xfrm>
            <a:off x="11245161" y="2379263"/>
            <a:ext cx="200220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支持</a:t>
            </a: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大数据量并行处理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006863" y="2855856"/>
            <a:ext cx="95343" cy="95343"/>
          </a:xfrm>
          <a:custGeom>
            <a:avLst/>
            <a:gdLst/>
            <a:ahLst/>
            <a:cxnLst/>
            <a:rect l="l" t="t" r="r" b="b"/>
            <a:pathLst>
              <a:path w="95343" h="95343">
                <a:moveTo>
                  <a:pt x="47672" y="0"/>
                </a:moveTo>
                <a:lnTo>
                  <a:pt x="47672" y="0"/>
                </a:lnTo>
                <a:cubicBezTo>
                  <a:pt x="73982" y="0"/>
                  <a:pt x="95343" y="21361"/>
                  <a:pt x="95343" y="47672"/>
                </a:cubicBezTo>
                <a:lnTo>
                  <a:pt x="95343" y="47672"/>
                </a:lnTo>
                <a:cubicBezTo>
                  <a:pt x="95343" y="73982"/>
                  <a:pt x="73982" y="95343"/>
                  <a:pt x="47672" y="95343"/>
                </a:cubicBezTo>
                <a:lnTo>
                  <a:pt x="47672" y="95343"/>
                </a:lnTo>
                <a:cubicBezTo>
                  <a:pt x="21361" y="95343"/>
                  <a:pt x="0" y="73982"/>
                  <a:pt x="0" y="47672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9" name="Text 27"/>
          <p:cNvSpPr/>
          <p:nvPr/>
        </p:nvSpPr>
        <p:spPr>
          <a:xfrm>
            <a:off x="11245161" y="2760554"/>
            <a:ext cx="162083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实时数据</a:t>
            </a: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响应能力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006863" y="3237147"/>
            <a:ext cx="95343" cy="95343"/>
          </a:xfrm>
          <a:custGeom>
            <a:avLst/>
            <a:gdLst/>
            <a:ahLst/>
            <a:cxnLst/>
            <a:rect l="l" t="t" r="r" b="b"/>
            <a:pathLst>
              <a:path w="95343" h="95343">
                <a:moveTo>
                  <a:pt x="47672" y="0"/>
                </a:moveTo>
                <a:lnTo>
                  <a:pt x="47672" y="0"/>
                </a:lnTo>
                <a:cubicBezTo>
                  <a:pt x="73982" y="0"/>
                  <a:pt x="95343" y="21361"/>
                  <a:pt x="95343" y="47672"/>
                </a:cubicBezTo>
                <a:lnTo>
                  <a:pt x="95343" y="47672"/>
                </a:lnTo>
                <a:cubicBezTo>
                  <a:pt x="95343" y="73982"/>
                  <a:pt x="73982" y="95343"/>
                  <a:pt x="47672" y="95343"/>
                </a:cubicBezTo>
                <a:lnTo>
                  <a:pt x="47672" y="95343"/>
                </a:lnTo>
                <a:cubicBezTo>
                  <a:pt x="21361" y="95343"/>
                  <a:pt x="0" y="73982"/>
                  <a:pt x="0" y="47672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31" name="Text 29"/>
          <p:cNvSpPr/>
          <p:nvPr/>
        </p:nvSpPr>
        <p:spPr>
          <a:xfrm>
            <a:off x="11245161" y="3141845"/>
            <a:ext cx="181151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支持</a:t>
            </a: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高并发</a:t>
            </a: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用户访问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006863" y="3618438"/>
            <a:ext cx="95343" cy="95343"/>
          </a:xfrm>
          <a:custGeom>
            <a:avLst/>
            <a:gdLst/>
            <a:ahLst/>
            <a:cxnLst/>
            <a:rect l="l" t="t" r="r" b="b"/>
            <a:pathLst>
              <a:path w="95343" h="95343">
                <a:moveTo>
                  <a:pt x="47672" y="0"/>
                </a:moveTo>
                <a:lnTo>
                  <a:pt x="47672" y="0"/>
                </a:lnTo>
                <a:cubicBezTo>
                  <a:pt x="73982" y="0"/>
                  <a:pt x="95343" y="21361"/>
                  <a:pt x="95343" y="47672"/>
                </a:cubicBezTo>
                <a:lnTo>
                  <a:pt x="95343" y="47672"/>
                </a:lnTo>
                <a:cubicBezTo>
                  <a:pt x="95343" y="73982"/>
                  <a:pt x="73982" y="95343"/>
                  <a:pt x="47672" y="95343"/>
                </a:cubicBezTo>
                <a:lnTo>
                  <a:pt x="47672" y="95343"/>
                </a:lnTo>
                <a:cubicBezTo>
                  <a:pt x="21361" y="95343"/>
                  <a:pt x="0" y="73982"/>
                  <a:pt x="0" y="47672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33" name="Text 31"/>
          <p:cNvSpPr/>
          <p:nvPr/>
        </p:nvSpPr>
        <p:spPr>
          <a:xfrm>
            <a:off x="11245161" y="3523133"/>
            <a:ext cx="1728094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数据查询响应≤</a:t>
            </a: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45161" y="3904424"/>
            <a:ext cx="1740012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768566" y="4641193"/>
            <a:ext cx="5005513" cy="2882094"/>
          </a:xfrm>
          <a:custGeom>
            <a:avLst/>
            <a:gdLst/>
            <a:ahLst/>
            <a:cxnLst/>
            <a:rect l="l" t="t" r="r" b="b"/>
            <a:pathLst>
              <a:path w="5005513" h="2882094">
                <a:moveTo>
                  <a:pt x="43602" y="0"/>
                </a:moveTo>
                <a:lnTo>
                  <a:pt x="4961911" y="0"/>
                </a:lnTo>
                <a:cubicBezTo>
                  <a:pt x="4985992" y="0"/>
                  <a:pt x="5005513" y="19521"/>
                  <a:pt x="5005513" y="43602"/>
                </a:cubicBezTo>
                <a:lnTo>
                  <a:pt x="5005513" y="2739085"/>
                </a:lnTo>
                <a:cubicBezTo>
                  <a:pt x="5005513" y="2818067"/>
                  <a:pt x="4941486" y="2882094"/>
                  <a:pt x="4862504" y="2882094"/>
                </a:cubicBezTo>
                <a:lnTo>
                  <a:pt x="143010" y="2882094"/>
                </a:lnTo>
                <a:cubicBezTo>
                  <a:pt x="64028" y="2882094"/>
                  <a:pt x="0" y="2818067"/>
                  <a:pt x="0" y="2739085"/>
                </a:cubicBezTo>
                <a:lnTo>
                  <a:pt x="0" y="43602"/>
                </a:lnTo>
                <a:cubicBezTo>
                  <a:pt x="0" y="19521"/>
                  <a:pt x="19521" y="0"/>
                  <a:pt x="43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78768" dist="1191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768566" y="4641193"/>
            <a:ext cx="5005513" cy="43602"/>
          </a:xfrm>
          <a:custGeom>
            <a:avLst/>
            <a:gdLst/>
            <a:ahLst/>
            <a:cxnLst/>
            <a:rect l="l" t="t" r="r" b="b"/>
            <a:pathLst>
              <a:path w="5005513" h="43602">
                <a:moveTo>
                  <a:pt x="43602" y="0"/>
                </a:moveTo>
                <a:lnTo>
                  <a:pt x="4961911" y="0"/>
                </a:lnTo>
                <a:cubicBezTo>
                  <a:pt x="4985992" y="0"/>
                  <a:pt x="5005513" y="19521"/>
                  <a:pt x="5005513" y="43602"/>
                </a:cubicBezTo>
                <a:lnTo>
                  <a:pt x="5005513" y="43602"/>
                </a:lnTo>
                <a:lnTo>
                  <a:pt x="0" y="43602"/>
                </a:lnTo>
                <a:lnTo>
                  <a:pt x="0" y="43602"/>
                </a:lnTo>
                <a:cubicBezTo>
                  <a:pt x="0" y="19521"/>
                  <a:pt x="19521" y="0"/>
                  <a:pt x="43602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38" name="Shape 36"/>
          <p:cNvSpPr/>
          <p:nvPr/>
        </p:nvSpPr>
        <p:spPr>
          <a:xfrm>
            <a:off x="11076881" y="4913176"/>
            <a:ext cx="312845" cy="357537"/>
          </a:xfrm>
          <a:custGeom>
            <a:avLst/>
            <a:gdLst/>
            <a:ahLst/>
            <a:cxnLst/>
            <a:rect l="l" t="t" r="r" b="b"/>
            <a:pathLst>
              <a:path w="312845" h="357537">
                <a:moveTo>
                  <a:pt x="312845" y="143713"/>
                </a:moveTo>
                <a:cubicBezTo>
                  <a:pt x="302510" y="150556"/>
                  <a:pt x="290638" y="156073"/>
                  <a:pt x="278278" y="160473"/>
                </a:cubicBezTo>
                <a:cubicBezTo>
                  <a:pt x="245457" y="172204"/>
                  <a:pt x="202371" y="178768"/>
                  <a:pt x="156422" y="178768"/>
                </a:cubicBezTo>
                <a:cubicBezTo>
                  <a:pt x="110473" y="178768"/>
                  <a:pt x="67317" y="172134"/>
                  <a:pt x="34567" y="160473"/>
                </a:cubicBezTo>
                <a:cubicBezTo>
                  <a:pt x="22276" y="156073"/>
                  <a:pt x="10335" y="150556"/>
                  <a:pt x="0" y="143713"/>
                </a:cubicBezTo>
                <a:lnTo>
                  <a:pt x="0" y="201114"/>
                </a:lnTo>
                <a:cubicBezTo>
                  <a:pt x="0" y="231980"/>
                  <a:pt x="70041" y="256979"/>
                  <a:pt x="156422" y="256979"/>
                </a:cubicBezTo>
                <a:cubicBezTo>
                  <a:pt x="242804" y="256979"/>
                  <a:pt x="312845" y="231980"/>
                  <a:pt x="312845" y="201114"/>
                </a:cubicBezTo>
                <a:lnTo>
                  <a:pt x="312845" y="143713"/>
                </a:lnTo>
                <a:close/>
                <a:moveTo>
                  <a:pt x="312845" y="89384"/>
                </a:moveTo>
                <a:lnTo>
                  <a:pt x="312845" y="55865"/>
                </a:lnTo>
                <a:cubicBezTo>
                  <a:pt x="312845" y="25000"/>
                  <a:pt x="242804" y="0"/>
                  <a:pt x="156422" y="0"/>
                </a:cubicBezTo>
                <a:cubicBezTo>
                  <a:pt x="70041" y="0"/>
                  <a:pt x="0" y="25000"/>
                  <a:pt x="0" y="55865"/>
                </a:cubicBezTo>
                <a:lnTo>
                  <a:pt x="0" y="89384"/>
                </a:lnTo>
                <a:cubicBezTo>
                  <a:pt x="0" y="120250"/>
                  <a:pt x="70041" y="145249"/>
                  <a:pt x="156422" y="145249"/>
                </a:cubicBezTo>
                <a:cubicBezTo>
                  <a:pt x="242804" y="145249"/>
                  <a:pt x="312845" y="120250"/>
                  <a:pt x="312845" y="89384"/>
                </a:cubicBezTo>
                <a:close/>
                <a:moveTo>
                  <a:pt x="278278" y="272203"/>
                </a:moveTo>
                <a:cubicBezTo>
                  <a:pt x="245527" y="283865"/>
                  <a:pt x="202441" y="290499"/>
                  <a:pt x="156422" y="290499"/>
                </a:cubicBezTo>
                <a:cubicBezTo>
                  <a:pt x="110403" y="290499"/>
                  <a:pt x="67317" y="283865"/>
                  <a:pt x="34567" y="272203"/>
                </a:cubicBezTo>
                <a:cubicBezTo>
                  <a:pt x="22276" y="267803"/>
                  <a:pt x="10335" y="262287"/>
                  <a:pt x="0" y="255443"/>
                </a:cubicBezTo>
                <a:lnTo>
                  <a:pt x="0" y="301672"/>
                </a:lnTo>
                <a:cubicBezTo>
                  <a:pt x="0" y="332537"/>
                  <a:pt x="70041" y="357537"/>
                  <a:pt x="156422" y="357537"/>
                </a:cubicBezTo>
                <a:cubicBezTo>
                  <a:pt x="242804" y="357537"/>
                  <a:pt x="312845" y="332537"/>
                  <a:pt x="312845" y="301672"/>
                </a:cubicBezTo>
                <a:lnTo>
                  <a:pt x="312845" y="255443"/>
                </a:lnTo>
                <a:cubicBezTo>
                  <a:pt x="302510" y="262287"/>
                  <a:pt x="290638" y="267803"/>
                  <a:pt x="278278" y="272203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9" name="Text 37"/>
          <p:cNvSpPr/>
          <p:nvPr/>
        </p:nvSpPr>
        <p:spPr>
          <a:xfrm>
            <a:off x="11596778" y="4901290"/>
            <a:ext cx="1287132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数据需求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017291" y="5509070"/>
            <a:ext cx="241337" cy="214522"/>
          </a:xfrm>
          <a:custGeom>
            <a:avLst/>
            <a:gdLst/>
            <a:ahLst/>
            <a:cxnLst/>
            <a:rect l="l" t="t" r="r" b="b"/>
            <a:pathLst>
              <a:path w="241337" h="214522">
                <a:moveTo>
                  <a:pt x="190053" y="-6201"/>
                </a:moveTo>
                <a:cubicBezTo>
                  <a:pt x="192106" y="-5363"/>
                  <a:pt x="193614" y="-3520"/>
                  <a:pt x="194033" y="-1341"/>
                </a:cubicBezTo>
                <a:lnTo>
                  <a:pt x="201114" y="33519"/>
                </a:lnTo>
                <a:lnTo>
                  <a:pt x="235974" y="40558"/>
                </a:lnTo>
                <a:cubicBezTo>
                  <a:pt x="238153" y="41019"/>
                  <a:pt x="239955" y="42485"/>
                  <a:pt x="240834" y="44538"/>
                </a:cubicBezTo>
                <a:cubicBezTo>
                  <a:pt x="241714" y="46591"/>
                  <a:pt x="241463" y="48938"/>
                  <a:pt x="240248" y="50781"/>
                </a:cubicBezTo>
                <a:lnTo>
                  <a:pt x="220597" y="80404"/>
                </a:lnTo>
                <a:lnTo>
                  <a:pt x="240248" y="110026"/>
                </a:lnTo>
                <a:cubicBezTo>
                  <a:pt x="241463" y="111870"/>
                  <a:pt x="241714" y="114216"/>
                  <a:pt x="240834" y="116269"/>
                </a:cubicBezTo>
                <a:cubicBezTo>
                  <a:pt x="239955" y="118322"/>
                  <a:pt x="238153" y="119831"/>
                  <a:pt x="235974" y="120250"/>
                </a:cubicBezTo>
                <a:lnTo>
                  <a:pt x="209913" y="125571"/>
                </a:lnTo>
                <a:cubicBezTo>
                  <a:pt x="204927" y="121926"/>
                  <a:pt x="199397" y="119035"/>
                  <a:pt x="193405" y="117023"/>
                </a:cubicBezTo>
                <a:cubicBezTo>
                  <a:pt x="192358" y="111702"/>
                  <a:pt x="190556" y="106674"/>
                  <a:pt x="188084" y="102066"/>
                </a:cubicBezTo>
                <a:cubicBezTo>
                  <a:pt x="192064" y="95823"/>
                  <a:pt x="194411" y="88407"/>
                  <a:pt x="194411" y="80404"/>
                </a:cubicBezTo>
                <a:cubicBezTo>
                  <a:pt x="194411" y="58197"/>
                  <a:pt x="176394" y="40181"/>
                  <a:pt x="154188" y="40181"/>
                </a:cubicBezTo>
                <a:cubicBezTo>
                  <a:pt x="134118" y="40181"/>
                  <a:pt x="117484" y="54887"/>
                  <a:pt x="114468" y="74077"/>
                </a:cubicBezTo>
                <a:cubicBezTo>
                  <a:pt x="103364" y="65572"/>
                  <a:pt x="89538" y="60460"/>
                  <a:pt x="74496" y="60292"/>
                </a:cubicBezTo>
                <a:lnTo>
                  <a:pt x="68169" y="50781"/>
                </a:lnTo>
                <a:cubicBezTo>
                  <a:pt x="66954" y="48938"/>
                  <a:pt x="66703" y="46591"/>
                  <a:pt x="67583" y="44538"/>
                </a:cubicBezTo>
                <a:cubicBezTo>
                  <a:pt x="68463" y="42485"/>
                  <a:pt x="70264" y="40977"/>
                  <a:pt x="72443" y="40558"/>
                </a:cubicBezTo>
                <a:lnTo>
                  <a:pt x="107261" y="33519"/>
                </a:lnTo>
                <a:lnTo>
                  <a:pt x="114300" y="-1341"/>
                </a:lnTo>
                <a:cubicBezTo>
                  <a:pt x="114761" y="-3520"/>
                  <a:pt x="116227" y="-5321"/>
                  <a:pt x="118280" y="-6201"/>
                </a:cubicBezTo>
                <a:cubicBezTo>
                  <a:pt x="120333" y="-7081"/>
                  <a:pt x="122680" y="-6830"/>
                  <a:pt x="124523" y="-5614"/>
                </a:cubicBezTo>
                <a:lnTo>
                  <a:pt x="154188" y="14078"/>
                </a:lnTo>
                <a:lnTo>
                  <a:pt x="183810" y="-5573"/>
                </a:lnTo>
                <a:cubicBezTo>
                  <a:pt x="185654" y="-6788"/>
                  <a:pt x="188000" y="-7039"/>
                  <a:pt x="190053" y="-6159"/>
                </a:cubicBezTo>
                <a:close/>
                <a:moveTo>
                  <a:pt x="174299" y="80446"/>
                </a:moveTo>
                <a:cubicBezTo>
                  <a:pt x="174299" y="82038"/>
                  <a:pt x="174132" y="83588"/>
                  <a:pt x="173754" y="85097"/>
                </a:cubicBezTo>
                <a:cubicBezTo>
                  <a:pt x="164662" y="77974"/>
                  <a:pt x="153224" y="73742"/>
                  <a:pt x="140780" y="73742"/>
                </a:cubicBezTo>
                <a:cubicBezTo>
                  <a:pt x="138853" y="73742"/>
                  <a:pt x="136967" y="73826"/>
                  <a:pt x="135124" y="74035"/>
                </a:cubicBezTo>
                <a:cubicBezTo>
                  <a:pt x="137805" y="66074"/>
                  <a:pt x="145347" y="60334"/>
                  <a:pt x="154188" y="60334"/>
                </a:cubicBezTo>
                <a:cubicBezTo>
                  <a:pt x="165291" y="60334"/>
                  <a:pt x="174299" y="69343"/>
                  <a:pt x="174299" y="80446"/>
                </a:cubicBezTo>
                <a:close/>
                <a:moveTo>
                  <a:pt x="40223" y="214522"/>
                </a:moveTo>
                <a:cubicBezTo>
                  <a:pt x="18016" y="214522"/>
                  <a:pt x="0" y="196505"/>
                  <a:pt x="0" y="174299"/>
                </a:cubicBezTo>
                <a:cubicBezTo>
                  <a:pt x="0" y="156492"/>
                  <a:pt x="11564" y="141367"/>
                  <a:pt x="27611" y="136087"/>
                </a:cubicBezTo>
                <a:cubicBezTo>
                  <a:pt x="27067" y="133280"/>
                  <a:pt x="26815" y="130347"/>
                  <a:pt x="26815" y="127372"/>
                </a:cubicBezTo>
                <a:cubicBezTo>
                  <a:pt x="26815" y="101437"/>
                  <a:pt x="47807" y="80446"/>
                  <a:pt x="73742" y="80446"/>
                </a:cubicBezTo>
                <a:cubicBezTo>
                  <a:pt x="91800" y="80446"/>
                  <a:pt x="107470" y="90627"/>
                  <a:pt x="115306" y="105585"/>
                </a:cubicBezTo>
                <a:cubicBezTo>
                  <a:pt x="121465" y="98420"/>
                  <a:pt x="130599" y="93853"/>
                  <a:pt x="140780" y="93853"/>
                </a:cubicBezTo>
                <a:cubicBezTo>
                  <a:pt x="159299" y="93853"/>
                  <a:pt x="174299" y="108853"/>
                  <a:pt x="174299" y="127372"/>
                </a:cubicBezTo>
                <a:cubicBezTo>
                  <a:pt x="174299" y="129677"/>
                  <a:pt x="174048" y="131898"/>
                  <a:pt x="173629" y="134076"/>
                </a:cubicBezTo>
                <a:cubicBezTo>
                  <a:pt x="173838" y="134076"/>
                  <a:pt x="174090" y="134076"/>
                  <a:pt x="174299" y="134076"/>
                </a:cubicBezTo>
                <a:cubicBezTo>
                  <a:pt x="196505" y="134076"/>
                  <a:pt x="214522" y="152093"/>
                  <a:pt x="214522" y="174299"/>
                </a:cubicBezTo>
                <a:cubicBezTo>
                  <a:pt x="214522" y="196505"/>
                  <a:pt x="196505" y="214522"/>
                  <a:pt x="174299" y="214522"/>
                </a:cubicBezTo>
                <a:lnTo>
                  <a:pt x="40223" y="214522"/>
                </a:ln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41" name="Text 39"/>
          <p:cNvSpPr/>
          <p:nvPr/>
        </p:nvSpPr>
        <p:spPr>
          <a:xfrm>
            <a:off x="11417979" y="5473340"/>
            <a:ext cx="206179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气象数据</a:t>
            </a: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:温度、降水等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30699" y="5890361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97415" y="2179"/>
                </a:moveTo>
                <a:cubicBezTo>
                  <a:pt x="103658" y="-712"/>
                  <a:pt x="110864" y="-712"/>
                  <a:pt x="117107" y="2179"/>
                </a:cubicBezTo>
                <a:lnTo>
                  <a:pt x="208698" y="44497"/>
                </a:lnTo>
                <a:cubicBezTo>
                  <a:pt x="212259" y="46131"/>
                  <a:pt x="214522" y="49692"/>
                  <a:pt x="214522" y="53630"/>
                </a:cubicBezTo>
                <a:cubicBezTo>
                  <a:pt x="214522" y="57569"/>
                  <a:pt x="212259" y="61130"/>
                  <a:pt x="208698" y="62764"/>
                </a:cubicBezTo>
                <a:lnTo>
                  <a:pt x="117107" y="105082"/>
                </a:lnTo>
                <a:cubicBezTo>
                  <a:pt x="110864" y="107973"/>
                  <a:pt x="103658" y="107973"/>
                  <a:pt x="97415" y="105082"/>
                </a:cubicBezTo>
                <a:lnTo>
                  <a:pt x="5824" y="62764"/>
                </a:lnTo>
                <a:cubicBezTo>
                  <a:pt x="2263" y="61088"/>
                  <a:pt x="0" y="57527"/>
                  <a:pt x="0" y="53630"/>
                </a:cubicBezTo>
                <a:cubicBezTo>
                  <a:pt x="0" y="49734"/>
                  <a:pt x="2263" y="46131"/>
                  <a:pt x="5824" y="44497"/>
                </a:cubicBezTo>
                <a:lnTo>
                  <a:pt x="97415" y="2179"/>
                </a:lnTo>
                <a:close/>
                <a:moveTo>
                  <a:pt x="20153" y="91507"/>
                </a:moveTo>
                <a:lnTo>
                  <a:pt x="88993" y="123308"/>
                </a:lnTo>
                <a:cubicBezTo>
                  <a:pt x="100599" y="128671"/>
                  <a:pt x="113965" y="128671"/>
                  <a:pt x="125571" y="123308"/>
                </a:cubicBezTo>
                <a:lnTo>
                  <a:pt x="194411" y="91507"/>
                </a:lnTo>
                <a:lnTo>
                  <a:pt x="208698" y="98127"/>
                </a:lnTo>
                <a:cubicBezTo>
                  <a:pt x="212259" y="99761"/>
                  <a:pt x="214522" y="103323"/>
                  <a:pt x="214522" y="107261"/>
                </a:cubicBezTo>
                <a:cubicBezTo>
                  <a:pt x="214522" y="111199"/>
                  <a:pt x="212259" y="114761"/>
                  <a:pt x="208698" y="116395"/>
                </a:cubicBezTo>
                <a:lnTo>
                  <a:pt x="117107" y="158713"/>
                </a:lnTo>
                <a:cubicBezTo>
                  <a:pt x="110864" y="161604"/>
                  <a:pt x="103658" y="161604"/>
                  <a:pt x="97415" y="158713"/>
                </a:cubicBezTo>
                <a:lnTo>
                  <a:pt x="5824" y="116395"/>
                </a:lnTo>
                <a:cubicBezTo>
                  <a:pt x="2263" y="114719"/>
                  <a:pt x="0" y="111158"/>
                  <a:pt x="0" y="107261"/>
                </a:cubicBezTo>
                <a:cubicBezTo>
                  <a:pt x="0" y="103364"/>
                  <a:pt x="2263" y="99761"/>
                  <a:pt x="5824" y="98127"/>
                </a:cubicBezTo>
                <a:lnTo>
                  <a:pt x="20111" y="91507"/>
                </a:lnTo>
                <a:close/>
                <a:moveTo>
                  <a:pt x="5824" y="151758"/>
                </a:moveTo>
                <a:lnTo>
                  <a:pt x="20111" y="145138"/>
                </a:lnTo>
                <a:lnTo>
                  <a:pt x="88951" y="176939"/>
                </a:lnTo>
                <a:cubicBezTo>
                  <a:pt x="100557" y="182302"/>
                  <a:pt x="113923" y="182302"/>
                  <a:pt x="125529" y="176939"/>
                </a:cubicBezTo>
                <a:lnTo>
                  <a:pt x="194369" y="145138"/>
                </a:lnTo>
                <a:lnTo>
                  <a:pt x="208656" y="151758"/>
                </a:lnTo>
                <a:cubicBezTo>
                  <a:pt x="212218" y="153392"/>
                  <a:pt x="214480" y="156953"/>
                  <a:pt x="214480" y="160891"/>
                </a:cubicBezTo>
                <a:cubicBezTo>
                  <a:pt x="214480" y="164830"/>
                  <a:pt x="212218" y="168391"/>
                  <a:pt x="208656" y="170025"/>
                </a:cubicBezTo>
                <a:lnTo>
                  <a:pt x="117065" y="212343"/>
                </a:lnTo>
                <a:cubicBezTo>
                  <a:pt x="110822" y="215234"/>
                  <a:pt x="103616" y="215234"/>
                  <a:pt x="97373" y="212343"/>
                </a:cubicBezTo>
                <a:lnTo>
                  <a:pt x="5824" y="170025"/>
                </a:lnTo>
                <a:cubicBezTo>
                  <a:pt x="2263" y="168349"/>
                  <a:pt x="0" y="164788"/>
                  <a:pt x="0" y="160891"/>
                </a:cubicBezTo>
                <a:cubicBezTo>
                  <a:pt x="0" y="156995"/>
                  <a:pt x="2263" y="153392"/>
                  <a:pt x="5824" y="15175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3" name="Text 41"/>
          <p:cNvSpPr/>
          <p:nvPr/>
        </p:nvSpPr>
        <p:spPr>
          <a:xfrm>
            <a:off x="11417979" y="5854631"/>
            <a:ext cx="215713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土壤数据</a:t>
            </a: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:类型、pH值等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030699" y="6271652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214522" y="13408"/>
                </a:moveTo>
                <a:cubicBezTo>
                  <a:pt x="214522" y="58700"/>
                  <a:pt x="182427" y="96493"/>
                  <a:pt x="139774" y="105334"/>
                </a:cubicBezTo>
                <a:cubicBezTo>
                  <a:pt x="136464" y="80990"/>
                  <a:pt x="125529" y="59077"/>
                  <a:pt x="109398" y="42108"/>
                </a:cubicBezTo>
                <a:cubicBezTo>
                  <a:pt x="126199" y="16760"/>
                  <a:pt x="154984" y="0"/>
                  <a:pt x="187707" y="0"/>
                </a:cubicBezTo>
                <a:lnTo>
                  <a:pt x="201114" y="0"/>
                </a:lnTo>
                <a:cubicBezTo>
                  <a:pt x="208530" y="0"/>
                  <a:pt x="214522" y="5992"/>
                  <a:pt x="214522" y="13408"/>
                </a:cubicBezTo>
                <a:close/>
                <a:moveTo>
                  <a:pt x="0" y="40223"/>
                </a:moveTo>
                <a:cubicBezTo>
                  <a:pt x="0" y="32807"/>
                  <a:pt x="5992" y="26815"/>
                  <a:pt x="13408" y="26815"/>
                </a:cubicBezTo>
                <a:lnTo>
                  <a:pt x="26815" y="26815"/>
                </a:lnTo>
                <a:cubicBezTo>
                  <a:pt x="78644" y="26815"/>
                  <a:pt x="120669" y="68840"/>
                  <a:pt x="120669" y="120669"/>
                </a:cubicBezTo>
                <a:lnTo>
                  <a:pt x="120669" y="201114"/>
                </a:lnTo>
                <a:cubicBezTo>
                  <a:pt x="120669" y="208530"/>
                  <a:pt x="114677" y="214522"/>
                  <a:pt x="107261" y="214522"/>
                </a:cubicBezTo>
                <a:cubicBezTo>
                  <a:pt x="99845" y="214522"/>
                  <a:pt x="93853" y="208530"/>
                  <a:pt x="93853" y="201114"/>
                </a:cubicBezTo>
                <a:lnTo>
                  <a:pt x="93853" y="134076"/>
                </a:lnTo>
                <a:cubicBezTo>
                  <a:pt x="42025" y="134076"/>
                  <a:pt x="0" y="92052"/>
                  <a:pt x="0" y="40223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45" name="Text 43"/>
          <p:cNvSpPr/>
          <p:nvPr/>
        </p:nvSpPr>
        <p:spPr>
          <a:xfrm>
            <a:off x="11417979" y="6235922"/>
            <a:ext cx="226439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作物数据</a:t>
            </a: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:61种主要农作物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030699" y="6652943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214522" y="20111"/>
                </a:moveTo>
                <a:cubicBezTo>
                  <a:pt x="214522" y="15461"/>
                  <a:pt x="212134" y="11145"/>
                  <a:pt x="208153" y="8715"/>
                </a:cubicBezTo>
                <a:cubicBezTo>
                  <a:pt x="204173" y="6285"/>
                  <a:pt x="199271" y="6033"/>
                  <a:pt x="195123" y="8128"/>
                </a:cubicBezTo>
                <a:lnTo>
                  <a:pt x="146436" y="32472"/>
                </a:lnTo>
                <a:lnTo>
                  <a:pt x="71270" y="7374"/>
                </a:lnTo>
                <a:cubicBezTo>
                  <a:pt x="67876" y="6243"/>
                  <a:pt x="64231" y="6494"/>
                  <a:pt x="61047" y="8086"/>
                </a:cubicBezTo>
                <a:lnTo>
                  <a:pt x="7416" y="34902"/>
                </a:lnTo>
                <a:cubicBezTo>
                  <a:pt x="2849" y="37206"/>
                  <a:pt x="0" y="41857"/>
                  <a:pt x="0" y="46927"/>
                </a:cubicBezTo>
                <a:lnTo>
                  <a:pt x="0" y="194411"/>
                </a:lnTo>
                <a:cubicBezTo>
                  <a:pt x="0" y="199061"/>
                  <a:pt x="2388" y="203377"/>
                  <a:pt x="6369" y="205807"/>
                </a:cubicBezTo>
                <a:cubicBezTo>
                  <a:pt x="10349" y="208237"/>
                  <a:pt x="15251" y="208489"/>
                  <a:pt x="19399" y="206394"/>
                </a:cubicBezTo>
                <a:lnTo>
                  <a:pt x="68044" y="182050"/>
                </a:lnTo>
                <a:lnTo>
                  <a:pt x="143210" y="207106"/>
                </a:lnTo>
                <a:cubicBezTo>
                  <a:pt x="146604" y="208237"/>
                  <a:pt x="150249" y="207986"/>
                  <a:pt x="153434" y="206394"/>
                </a:cubicBezTo>
                <a:lnTo>
                  <a:pt x="207064" y="179578"/>
                </a:lnTo>
                <a:cubicBezTo>
                  <a:pt x="211589" y="177316"/>
                  <a:pt x="214480" y="172665"/>
                  <a:pt x="214480" y="167595"/>
                </a:cubicBezTo>
                <a:lnTo>
                  <a:pt x="214480" y="20111"/>
                </a:lnTo>
                <a:close/>
                <a:moveTo>
                  <a:pt x="80446" y="157917"/>
                </a:moveTo>
                <a:lnTo>
                  <a:pt x="80446" y="38715"/>
                </a:lnTo>
                <a:lnTo>
                  <a:pt x="134076" y="56605"/>
                </a:lnTo>
                <a:lnTo>
                  <a:pt x="134076" y="175807"/>
                </a:lnTo>
                <a:lnTo>
                  <a:pt x="80446" y="157917"/>
                </a:ln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47" name="Text 45"/>
          <p:cNvSpPr/>
          <p:nvPr/>
        </p:nvSpPr>
        <p:spPr>
          <a:xfrm>
            <a:off x="11417979" y="6617213"/>
            <a:ext cx="2252481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地理数据</a:t>
            </a: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:边界和行政区划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30699" y="7034234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26815" y="26815"/>
                </a:moveTo>
                <a:cubicBezTo>
                  <a:pt x="26815" y="19399"/>
                  <a:pt x="20824" y="13408"/>
                  <a:pt x="13408" y="13408"/>
                </a:cubicBezTo>
                <a:cubicBezTo>
                  <a:pt x="5992" y="13408"/>
                  <a:pt x="0" y="19399"/>
                  <a:pt x="0" y="26815"/>
                </a:cubicBezTo>
                <a:lnTo>
                  <a:pt x="0" y="167595"/>
                </a:lnTo>
                <a:cubicBezTo>
                  <a:pt x="0" y="186115"/>
                  <a:pt x="15000" y="201114"/>
                  <a:pt x="33519" y="201114"/>
                </a:cubicBezTo>
                <a:lnTo>
                  <a:pt x="201114" y="201114"/>
                </a:lnTo>
                <a:cubicBezTo>
                  <a:pt x="208530" y="201114"/>
                  <a:pt x="214522" y="195123"/>
                  <a:pt x="214522" y="187707"/>
                </a:cubicBezTo>
                <a:cubicBezTo>
                  <a:pt x="214522" y="180291"/>
                  <a:pt x="208530" y="174299"/>
                  <a:pt x="201114" y="174299"/>
                </a:cubicBezTo>
                <a:lnTo>
                  <a:pt x="33519" y="174299"/>
                </a:lnTo>
                <a:cubicBezTo>
                  <a:pt x="29832" y="174299"/>
                  <a:pt x="26815" y="171282"/>
                  <a:pt x="26815" y="167595"/>
                </a:cubicBezTo>
                <a:lnTo>
                  <a:pt x="26815" y="26815"/>
                </a:lnTo>
                <a:close/>
                <a:moveTo>
                  <a:pt x="197176" y="63100"/>
                </a:moveTo>
                <a:cubicBezTo>
                  <a:pt x="202413" y="57862"/>
                  <a:pt x="202413" y="49357"/>
                  <a:pt x="197176" y="44119"/>
                </a:cubicBezTo>
                <a:cubicBezTo>
                  <a:pt x="191939" y="38882"/>
                  <a:pt x="183433" y="38882"/>
                  <a:pt x="178196" y="44119"/>
                </a:cubicBezTo>
                <a:lnTo>
                  <a:pt x="134076" y="88281"/>
                </a:lnTo>
                <a:lnTo>
                  <a:pt x="110026" y="64273"/>
                </a:lnTo>
                <a:cubicBezTo>
                  <a:pt x="104789" y="59035"/>
                  <a:pt x="96284" y="59035"/>
                  <a:pt x="91046" y="64273"/>
                </a:cubicBezTo>
                <a:lnTo>
                  <a:pt x="50823" y="104496"/>
                </a:lnTo>
                <a:cubicBezTo>
                  <a:pt x="45586" y="109733"/>
                  <a:pt x="45586" y="118238"/>
                  <a:pt x="50823" y="123476"/>
                </a:cubicBezTo>
                <a:cubicBezTo>
                  <a:pt x="56061" y="128713"/>
                  <a:pt x="64566" y="128713"/>
                  <a:pt x="69803" y="123476"/>
                </a:cubicBezTo>
                <a:lnTo>
                  <a:pt x="100557" y="92722"/>
                </a:lnTo>
                <a:lnTo>
                  <a:pt x="124607" y="116772"/>
                </a:lnTo>
                <a:cubicBezTo>
                  <a:pt x="129844" y="122009"/>
                  <a:pt x="138350" y="122009"/>
                  <a:pt x="143587" y="116772"/>
                </a:cubicBezTo>
                <a:lnTo>
                  <a:pt x="197218" y="63142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9" name="Text 47"/>
          <p:cNvSpPr/>
          <p:nvPr/>
        </p:nvSpPr>
        <p:spPr>
          <a:xfrm>
            <a:off x="11417979" y="6998504"/>
            <a:ext cx="206179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联网数据</a:t>
            </a:r>
            <a:r>
              <a:rPr lang="en-US" sz="150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:市场、政策等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76670" y="7713472"/>
            <a:ext cx="15297409" cy="1430147"/>
          </a:xfrm>
          <a:custGeom>
            <a:avLst/>
            <a:gdLst/>
            <a:ahLst/>
            <a:cxnLst/>
            <a:rect l="l" t="t" r="r" b="b"/>
            <a:pathLst>
              <a:path w="5005513" h="1430147">
                <a:moveTo>
                  <a:pt x="143015" y="0"/>
                </a:moveTo>
                <a:lnTo>
                  <a:pt x="4862499" y="0"/>
                </a:lnTo>
                <a:cubicBezTo>
                  <a:pt x="4941483" y="0"/>
                  <a:pt x="5005513" y="64030"/>
                  <a:pt x="5005513" y="143015"/>
                </a:cubicBezTo>
                <a:lnTo>
                  <a:pt x="5005513" y="1287132"/>
                </a:lnTo>
                <a:cubicBezTo>
                  <a:pt x="5005513" y="1366117"/>
                  <a:pt x="4941483" y="1430147"/>
                  <a:pt x="4862499" y="1430147"/>
                </a:cubicBezTo>
                <a:lnTo>
                  <a:pt x="143015" y="1430147"/>
                </a:lnTo>
                <a:cubicBezTo>
                  <a:pt x="64030" y="1430147"/>
                  <a:pt x="0" y="1366117"/>
                  <a:pt x="0" y="1287132"/>
                </a:cubicBezTo>
                <a:lnTo>
                  <a:pt x="0" y="143015"/>
                </a:lnTo>
                <a:cubicBezTo>
                  <a:pt x="0" y="64030"/>
                  <a:pt x="64030" y="0"/>
                  <a:pt x="1430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977049" y="7927924"/>
            <a:ext cx="357537" cy="286029"/>
          </a:xfrm>
          <a:custGeom>
            <a:avLst/>
            <a:gdLst/>
            <a:ahLst/>
            <a:cxnLst/>
            <a:rect l="l" t="t" r="r" b="b"/>
            <a:pathLst>
              <a:path w="357537" h="286029">
                <a:moveTo>
                  <a:pt x="178768" y="8938"/>
                </a:moveTo>
                <a:cubicBezTo>
                  <a:pt x="210834" y="8938"/>
                  <a:pt x="236868" y="34972"/>
                  <a:pt x="236868" y="67038"/>
                </a:cubicBezTo>
                <a:cubicBezTo>
                  <a:pt x="236868" y="99104"/>
                  <a:pt x="210834" y="125138"/>
                  <a:pt x="178768" y="125138"/>
                </a:cubicBezTo>
                <a:cubicBezTo>
                  <a:pt x="146702" y="125138"/>
                  <a:pt x="120669" y="99104"/>
                  <a:pt x="120669" y="67038"/>
                </a:cubicBezTo>
                <a:cubicBezTo>
                  <a:pt x="120669" y="34972"/>
                  <a:pt x="146702" y="8938"/>
                  <a:pt x="178768" y="8938"/>
                </a:cubicBezTo>
                <a:close/>
                <a:moveTo>
                  <a:pt x="53630" y="49161"/>
                </a:moveTo>
                <a:cubicBezTo>
                  <a:pt x="75830" y="49161"/>
                  <a:pt x="93853" y="67185"/>
                  <a:pt x="93853" y="89384"/>
                </a:cubicBezTo>
                <a:cubicBezTo>
                  <a:pt x="93853" y="111584"/>
                  <a:pt x="75830" y="129607"/>
                  <a:pt x="53630" y="129607"/>
                </a:cubicBezTo>
                <a:cubicBezTo>
                  <a:pt x="31431" y="129607"/>
                  <a:pt x="13408" y="111584"/>
                  <a:pt x="13408" y="89384"/>
                </a:cubicBezTo>
                <a:cubicBezTo>
                  <a:pt x="13408" y="67185"/>
                  <a:pt x="31431" y="49161"/>
                  <a:pt x="53630" y="49161"/>
                </a:cubicBezTo>
                <a:close/>
                <a:moveTo>
                  <a:pt x="0" y="232399"/>
                </a:moveTo>
                <a:cubicBezTo>
                  <a:pt x="0" y="192902"/>
                  <a:pt x="32011" y="160891"/>
                  <a:pt x="71507" y="160891"/>
                </a:cubicBezTo>
                <a:cubicBezTo>
                  <a:pt x="78658" y="160891"/>
                  <a:pt x="85585" y="161953"/>
                  <a:pt x="92122" y="163908"/>
                </a:cubicBezTo>
                <a:cubicBezTo>
                  <a:pt x="73742" y="184467"/>
                  <a:pt x="62569" y="211617"/>
                  <a:pt x="62569" y="241337"/>
                </a:cubicBezTo>
                <a:lnTo>
                  <a:pt x="62569" y="250276"/>
                </a:lnTo>
                <a:cubicBezTo>
                  <a:pt x="62569" y="256644"/>
                  <a:pt x="63910" y="262678"/>
                  <a:pt x="66312" y="268152"/>
                </a:cubicBezTo>
                <a:lnTo>
                  <a:pt x="17877" y="268152"/>
                </a:lnTo>
                <a:cubicBezTo>
                  <a:pt x="7989" y="268152"/>
                  <a:pt x="0" y="260164"/>
                  <a:pt x="0" y="250276"/>
                </a:cubicBezTo>
                <a:lnTo>
                  <a:pt x="0" y="232399"/>
                </a:lnTo>
                <a:close/>
                <a:moveTo>
                  <a:pt x="291225" y="268152"/>
                </a:moveTo>
                <a:cubicBezTo>
                  <a:pt x="293627" y="262678"/>
                  <a:pt x="294968" y="256644"/>
                  <a:pt x="294968" y="250276"/>
                </a:cubicBezTo>
                <a:lnTo>
                  <a:pt x="294968" y="241337"/>
                </a:lnTo>
                <a:cubicBezTo>
                  <a:pt x="294968" y="211617"/>
                  <a:pt x="283795" y="184467"/>
                  <a:pt x="265415" y="163908"/>
                </a:cubicBezTo>
                <a:cubicBezTo>
                  <a:pt x="271951" y="161953"/>
                  <a:pt x="278879" y="160891"/>
                  <a:pt x="286029" y="160891"/>
                </a:cubicBezTo>
                <a:cubicBezTo>
                  <a:pt x="325526" y="160891"/>
                  <a:pt x="357537" y="192902"/>
                  <a:pt x="357537" y="232399"/>
                </a:cubicBezTo>
                <a:lnTo>
                  <a:pt x="357537" y="250276"/>
                </a:lnTo>
                <a:cubicBezTo>
                  <a:pt x="357537" y="260164"/>
                  <a:pt x="349548" y="268152"/>
                  <a:pt x="339660" y="268152"/>
                </a:cubicBezTo>
                <a:lnTo>
                  <a:pt x="291225" y="268152"/>
                </a:lnTo>
                <a:close/>
                <a:moveTo>
                  <a:pt x="263683" y="89384"/>
                </a:moveTo>
                <a:cubicBezTo>
                  <a:pt x="263683" y="67185"/>
                  <a:pt x="281707" y="49161"/>
                  <a:pt x="303906" y="49161"/>
                </a:cubicBezTo>
                <a:cubicBezTo>
                  <a:pt x="326106" y="49161"/>
                  <a:pt x="344129" y="67185"/>
                  <a:pt x="344129" y="89384"/>
                </a:cubicBezTo>
                <a:cubicBezTo>
                  <a:pt x="344129" y="111584"/>
                  <a:pt x="326106" y="129607"/>
                  <a:pt x="303906" y="129607"/>
                </a:cubicBezTo>
                <a:cubicBezTo>
                  <a:pt x="281707" y="129607"/>
                  <a:pt x="263683" y="111584"/>
                  <a:pt x="263683" y="89384"/>
                </a:cubicBezTo>
                <a:close/>
                <a:moveTo>
                  <a:pt x="89384" y="241337"/>
                </a:moveTo>
                <a:cubicBezTo>
                  <a:pt x="89384" y="191952"/>
                  <a:pt x="129384" y="151953"/>
                  <a:pt x="178768" y="151953"/>
                </a:cubicBezTo>
                <a:cubicBezTo>
                  <a:pt x="228153" y="151953"/>
                  <a:pt x="268152" y="191952"/>
                  <a:pt x="268152" y="241337"/>
                </a:cubicBezTo>
                <a:lnTo>
                  <a:pt x="268152" y="250276"/>
                </a:lnTo>
                <a:cubicBezTo>
                  <a:pt x="268152" y="260164"/>
                  <a:pt x="260164" y="268152"/>
                  <a:pt x="250276" y="268152"/>
                </a:cubicBezTo>
                <a:lnTo>
                  <a:pt x="107261" y="268152"/>
                </a:lnTo>
                <a:cubicBezTo>
                  <a:pt x="97373" y="268152"/>
                  <a:pt x="89384" y="260164"/>
                  <a:pt x="89384" y="250276"/>
                </a:cubicBezTo>
                <a:lnTo>
                  <a:pt x="89384" y="241337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2" name="Text 50"/>
          <p:cNvSpPr/>
          <p:nvPr/>
        </p:nvSpPr>
        <p:spPr>
          <a:xfrm>
            <a:off x="1477564" y="7904154"/>
            <a:ext cx="3467816" cy="30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7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用户需求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7961" y="8333135"/>
            <a:ext cx="14820772" cy="61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为农业决策者、种植户、农技人员提供</a:t>
            </a:r>
            <a:r>
              <a:rPr lang="en-US" sz="1501" b="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科学、精准、实时</a:t>
            </a:r>
            <a:r>
              <a:rPr lang="en-US" sz="150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的种植决策支持,提高农业生产效率和经济效益。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2" grpId="0" animBg="1"/>
      <p:bldP spid="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2" y="55876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3" name="Text 1"/>
          <p:cNvSpPr/>
          <p:nvPr/>
        </p:nvSpPr>
        <p:spPr>
          <a:xfrm>
            <a:off x="626369" y="634919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68281" y="507950"/>
            <a:ext cx="518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系统总体架构设计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68281" y="1269919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500746" y="1448045"/>
            <a:ext cx="2921000" cy="3657600"/>
          </a:xfrm>
          <a:custGeom>
            <a:avLst/>
            <a:gdLst/>
            <a:ahLst/>
            <a:cxnLst/>
            <a:rect l="l" t="t" r="r" b="b"/>
            <a:pathLst>
              <a:path w="2921000" h="3657600">
                <a:moveTo>
                  <a:pt x="152389" y="0"/>
                </a:moveTo>
                <a:lnTo>
                  <a:pt x="2768611" y="0"/>
                </a:lnTo>
                <a:cubicBezTo>
                  <a:pt x="2852717" y="0"/>
                  <a:pt x="2921000" y="68283"/>
                  <a:pt x="2921000" y="152389"/>
                </a:cubicBezTo>
                <a:lnTo>
                  <a:pt x="2921000" y="3505211"/>
                </a:lnTo>
                <a:cubicBezTo>
                  <a:pt x="2921000" y="3589373"/>
                  <a:pt x="2852773" y="3657600"/>
                  <a:pt x="2768611" y="3657600"/>
                </a:cubicBezTo>
                <a:lnTo>
                  <a:pt x="152389" y="3657600"/>
                </a:lnTo>
                <a:cubicBezTo>
                  <a:pt x="68283" y="3657600"/>
                  <a:pt x="0" y="3589317"/>
                  <a:pt x="0" y="35052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61887" y="182852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8" name="Text 6"/>
          <p:cNvSpPr/>
          <p:nvPr/>
        </p:nvSpPr>
        <p:spPr>
          <a:xfrm>
            <a:off x="947983" y="1904678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397" y="1904678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应用展示层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7287" y="284507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1" name="Text 9"/>
          <p:cNvSpPr/>
          <p:nvPr/>
        </p:nvSpPr>
        <p:spPr>
          <a:xfrm>
            <a:off x="1117381" y="2794338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Web交互界面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287" y="325138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381" y="3200651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381" y="3606964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287" y="366566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381" y="3599618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图表展示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3659" y="401327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9" name="Text 17"/>
          <p:cNvSpPr/>
          <p:nvPr/>
        </p:nvSpPr>
        <p:spPr>
          <a:xfrm>
            <a:off x="1112757" y="3937459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报告导出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10930" y="1532914"/>
            <a:ext cx="3340383" cy="3640150"/>
          </a:xfrm>
          <a:custGeom>
            <a:avLst/>
            <a:gdLst/>
            <a:ahLst/>
            <a:cxnLst/>
            <a:rect l="l" t="t" r="r" b="b"/>
            <a:pathLst>
              <a:path w="2903550" h="3640150">
                <a:moveTo>
                  <a:pt x="152407" y="0"/>
                </a:moveTo>
                <a:lnTo>
                  <a:pt x="2751143" y="0"/>
                </a:lnTo>
                <a:cubicBezTo>
                  <a:pt x="2835315" y="0"/>
                  <a:pt x="2903550" y="68235"/>
                  <a:pt x="2903550" y="152407"/>
                </a:cubicBezTo>
                <a:lnTo>
                  <a:pt x="2903550" y="3487743"/>
                </a:lnTo>
                <a:cubicBezTo>
                  <a:pt x="2903550" y="3571915"/>
                  <a:pt x="2835315" y="3640150"/>
                  <a:pt x="2751143" y="3640150"/>
                </a:cubicBezTo>
                <a:lnTo>
                  <a:pt x="152407" y="3640150"/>
                </a:lnTo>
                <a:cubicBezTo>
                  <a:pt x="68235" y="3640150"/>
                  <a:pt x="0" y="3571915"/>
                  <a:pt x="0" y="34877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/>
          </a:solidFill>
          <a:ln w="20650">
            <a:solidFill>
              <a:srgbClr val="C3A170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58523" y="18491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2" name="Text 20"/>
          <p:cNvSpPr/>
          <p:nvPr/>
        </p:nvSpPr>
        <p:spPr>
          <a:xfrm>
            <a:off x="4344699" y="1925327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8032" y="1925327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服务分析层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58523" y="2845076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5" name="Text 23"/>
          <p:cNvSpPr/>
          <p:nvPr/>
        </p:nvSpPr>
        <p:spPr>
          <a:xfrm>
            <a:off x="4514016" y="2794338"/>
            <a:ext cx="135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AHP评价模型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58523" y="3251389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7" name="Text 25"/>
          <p:cNvSpPr/>
          <p:nvPr/>
        </p:nvSpPr>
        <p:spPr>
          <a:xfrm>
            <a:off x="4514016" y="3200651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权重计算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58523" y="3657702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9" name="Text 27"/>
          <p:cNvSpPr/>
          <p:nvPr/>
        </p:nvSpPr>
        <p:spPr>
          <a:xfrm>
            <a:off x="4514016" y="3606964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适宜性评分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58523" y="4064016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1" name="Text 29"/>
          <p:cNvSpPr/>
          <p:nvPr/>
        </p:nvSpPr>
        <p:spPr>
          <a:xfrm>
            <a:off x="4514016" y="4013278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数据挖掘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58523" y="4470329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3" name="Text 31"/>
          <p:cNvSpPr/>
          <p:nvPr/>
        </p:nvSpPr>
        <p:spPr>
          <a:xfrm>
            <a:off x="4514016" y="4419591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智能分析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61472" y="1505090"/>
            <a:ext cx="3709675" cy="3640150"/>
          </a:xfrm>
          <a:custGeom>
            <a:avLst/>
            <a:gdLst/>
            <a:ahLst/>
            <a:cxnLst/>
            <a:rect l="l" t="t" r="r" b="b"/>
            <a:pathLst>
              <a:path w="2903550" h="3640150">
                <a:moveTo>
                  <a:pt x="152407" y="0"/>
                </a:moveTo>
                <a:lnTo>
                  <a:pt x="2751143" y="0"/>
                </a:lnTo>
                <a:cubicBezTo>
                  <a:pt x="2835315" y="0"/>
                  <a:pt x="2903550" y="68235"/>
                  <a:pt x="2903550" y="152407"/>
                </a:cubicBezTo>
                <a:lnTo>
                  <a:pt x="2903550" y="3487743"/>
                </a:lnTo>
                <a:cubicBezTo>
                  <a:pt x="2903550" y="3571915"/>
                  <a:pt x="2835315" y="3640150"/>
                  <a:pt x="2751143" y="3640150"/>
                </a:cubicBezTo>
                <a:lnTo>
                  <a:pt x="152407" y="3640150"/>
                </a:lnTo>
                <a:cubicBezTo>
                  <a:pt x="68235" y="3640150"/>
                  <a:pt x="0" y="3571915"/>
                  <a:pt x="0" y="34877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/>
          </a:solidFill>
          <a:ln w="20650">
            <a:solidFill>
              <a:srgbClr val="A4988A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99045" y="18491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36" name="Text 34"/>
          <p:cNvSpPr/>
          <p:nvPr/>
        </p:nvSpPr>
        <p:spPr>
          <a:xfrm>
            <a:off x="8185222" y="1925327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08555" y="1925327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37145" y="2845076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39" name="Text 37"/>
          <p:cNvSpPr/>
          <p:nvPr/>
        </p:nvSpPr>
        <p:spPr>
          <a:xfrm>
            <a:off x="8354539" y="279433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MySQL主库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37145" y="3251389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41" name="Text 39"/>
          <p:cNvSpPr/>
          <p:nvPr/>
        </p:nvSpPr>
        <p:spPr>
          <a:xfrm>
            <a:off x="8354539" y="3200651"/>
            <a:ext cx="105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Redis缓存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37145" y="3657702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43" name="Text 41"/>
          <p:cNvSpPr/>
          <p:nvPr/>
        </p:nvSpPr>
        <p:spPr>
          <a:xfrm>
            <a:off x="8354539" y="3606964"/>
            <a:ext cx="128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HDFS分布式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37145" y="4064016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45" name="Text 43"/>
          <p:cNvSpPr/>
          <p:nvPr/>
        </p:nvSpPr>
        <p:spPr>
          <a:xfrm>
            <a:off x="8354539" y="4013278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JSON地图数据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37145" y="4470329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47" name="Text 45"/>
          <p:cNvSpPr/>
          <p:nvPr/>
        </p:nvSpPr>
        <p:spPr>
          <a:xfrm>
            <a:off x="8354539" y="4419591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文本文件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429345" y="1579844"/>
            <a:ext cx="4064768" cy="3640150"/>
          </a:xfrm>
          <a:custGeom>
            <a:avLst/>
            <a:gdLst/>
            <a:ahLst/>
            <a:cxnLst/>
            <a:rect l="l" t="t" r="r" b="b"/>
            <a:pathLst>
              <a:path w="2903550" h="3640150">
                <a:moveTo>
                  <a:pt x="152407" y="0"/>
                </a:moveTo>
                <a:lnTo>
                  <a:pt x="2751143" y="0"/>
                </a:lnTo>
                <a:cubicBezTo>
                  <a:pt x="2835315" y="0"/>
                  <a:pt x="2903550" y="68235"/>
                  <a:pt x="2903550" y="152407"/>
                </a:cubicBezTo>
                <a:lnTo>
                  <a:pt x="2903550" y="3487743"/>
                </a:lnTo>
                <a:cubicBezTo>
                  <a:pt x="2903550" y="3571915"/>
                  <a:pt x="2835315" y="3640150"/>
                  <a:pt x="2751143" y="3640150"/>
                </a:cubicBezTo>
                <a:lnTo>
                  <a:pt x="152407" y="3640150"/>
                </a:lnTo>
                <a:cubicBezTo>
                  <a:pt x="68235" y="3640150"/>
                  <a:pt x="0" y="3571915"/>
                  <a:pt x="0" y="34877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/>
          </a:solidFill>
          <a:ln w="20650">
            <a:solidFill>
              <a:srgbClr val="C3A170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2819192" y="18491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0" name="Text 48"/>
          <p:cNvSpPr/>
          <p:nvPr/>
        </p:nvSpPr>
        <p:spPr>
          <a:xfrm>
            <a:off x="13005289" y="1925327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3428703" y="1925327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网络传输层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2831892" y="2845076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38100"/>
                </a:moveTo>
                <a:cubicBezTo>
                  <a:pt x="78224" y="38100"/>
                  <a:pt x="45561" y="52388"/>
                  <a:pt x="21550" y="75644"/>
                </a:cubicBezTo>
                <a:cubicBezTo>
                  <a:pt x="16510" y="80526"/>
                  <a:pt x="8453" y="80407"/>
                  <a:pt x="3612" y="75367"/>
                </a:cubicBezTo>
                <a:cubicBezTo>
                  <a:pt x="-1230" y="70326"/>
                  <a:pt x="-1151" y="62270"/>
                  <a:pt x="3889" y="57428"/>
                </a:cubicBezTo>
                <a:cubicBezTo>
                  <a:pt x="32425" y="29726"/>
                  <a:pt x="71398" y="12700"/>
                  <a:pt x="114300" y="12700"/>
                </a:cubicBezTo>
                <a:cubicBezTo>
                  <a:pt x="157202" y="12700"/>
                  <a:pt x="196175" y="29726"/>
                  <a:pt x="224750" y="57428"/>
                </a:cubicBezTo>
                <a:cubicBezTo>
                  <a:pt x="229791" y="62309"/>
                  <a:pt x="229910" y="70366"/>
                  <a:pt x="225028" y="75367"/>
                </a:cubicBezTo>
                <a:cubicBezTo>
                  <a:pt x="220147" y="80367"/>
                  <a:pt x="212090" y="80526"/>
                  <a:pt x="207089" y="75644"/>
                </a:cubicBezTo>
                <a:cubicBezTo>
                  <a:pt x="183039" y="52388"/>
                  <a:pt x="150376" y="38100"/>
                  <a:pt x="114300" y="38100"/>
                </a:cubicBezTo>
                <a:close/>
                <a:moveTo>
                  <a:pt x="95250" y="171450"/>
                </a:moveTo>
                <a:cubicBezTo>
                  <a:pt x="95250" y="160936"/>
                  <a:pt x="103786" y="152400"/>
                  <a:pt x="114300" y="152400"/>
                </a:cubicBezTo>
                <a:cubicBezTo>
                  <a:pt x="124814" y="152400"/>
                  <a:pt x="133350" y="160936"/>
                  <a:pt x="133350" y="171450"/>
                </a:cubicBezTo>
                <a:cubicBezTo>
                  <a:pt x="133350" y="181964"/>
                  <a:pt x="124814" y="190500"/>
                  <a:pt x="114300" y="190500"/>
                </a:cubicBezTo>
                <a:cubicBezTo>
                  <a:pt x="103786" y="190500"/>
                  <a:pt x="95250" y="181964"/>
                  <a:pt x="95250" y="171450"/>
                </a:cubicBezTo>
                <a:close/>
                <a:moveTo>
                  <a:pt x="66675" y="129461"/>
                </a:moveTo>
                <a:cubicBezTo>
                  <a:pt x="62032" y="134739"/>
                  <a:pt x="54015" y="135215"/>
                  <a:pt x="48736" y="130572"/>
                </a:cubicBezTo>
                <a:cubicBezTo>
                  <a:pt x="43458" y="125928"/>
                  <a:pt x="42982" y="117912"/>
                  <a:pt x="47625" y="112633"/>
                </a:cubicBezTo>
                <a:cubicBezTo>
                  <a:pt x="63897" y="94218"/>
                  <a:pt x="87749" y="82550"/>
                  <a:pt x="114300" y="82550"/>
                </a:cubicBezTo>
                <a:cubicBezTo>
                  <a:pt x="140851" y="82550"/>
                  <a:pt x="164703" y="94218"/>
                  <a:pt x="180975" y="112633"/>
                </a:cubicBezTo>
                <a:cubicBezTo>
                  <a:pt x="185618" y="117912"/>
                  <a:pt x="185103" y="125928"/>
                  <a:pt x="179864" y="130572"/>
                </a:cubicBezTo>
                <a:cubicBezTo>
                  <a:pt x="174625" y="135215"/>
                  <a:pt x="166568" y="134699"/>
                  <a:pt x="161925" y="129461"/>
                </a:cubicBezTo>
                <a:cubicBezTo>
                  <a:pt x="150257" y="116245"/>
                  <a:pt x="133271" y="107950"/>
                  <a:pt x="114300" y="107950"/>
                </a:cubicBezTo>
                <a:cubicBezTo>
                  <a:pt x="95329" y="107950"/>
                  <a:pt x="78343" y="116245"/>
                  <a:pt x="66675" y="129461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3" name="Text 51"/>
          <p:cNvSpPr/>
          <p:nvPr/>
        </p:nvSpPr>
        <p:spPr>
          <a:xfrm>
            <a:off x="13174686" y="2794338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HTTP/HTTPS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831892" y="3251389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38100"/>
                </a:moveTo>
                <a:cubicBezTo>
                  <a:pt x="78224" y="38100"/>
                  <a:pt x="45561" y="52388"/>
                  <a:pt x="21550" y="75644"/>
                </a:cubicBezTo>
                <a:cubicBezTo>
                  <a:pt x="16510" y="80526"/>
                  <a:pt x="8453" y="80407"/>
                  <a:pt x="3612" y="75367"/>
                </a:cubicBezTo>
                <a:cubicBezTo>
                  <a:pt x="-1230" y="70326"/>
                  <a:pt x="-1151" y="62270"/>
                  <a:pt x="3889" y="57428"/>
                </a:cubicBezTo>
                <a:cubicBezTo>
                  <a:pt x="32425" y="29726"/>
                  <a:pt x="71398" y="12700"/>
                  <a:pt x="114300" y="12700"/>
                </a:cubicBezTo>
                <a:cubicBezTo>
                  <a:pt x="157202" y="12700"/>
                  <a:pt x="196175" y="29726"/>
                  <a:pt x="224750" y="57428"/>
                </a:cubicBezTo>
                <a:cubicBezTo>
                  <a:pt x="229791" y="62309"/>
                  <a:pt x="229910" y="70366"/>
                  <a:pt x="225028" y="75367"/>
                </a:cubicBezTo>
                <a:cubicBezTo>
                  <a:pt x="220147" y="80367"/>
                  <a:pt x="212090" y="80526"/>
                  <a:pt x="207089" y="75644"/>
                </a:cubicBezTo>
                <a:cubicBezTo>
                  <a:pt x="183039" y="52388"/>
                  <a:pt x="150376" y="38100"/>
                  <a:pt x="114300" y="38100"/>
                </a:cubicBezTo>
                <a:close/>
                <a:moveTo>
                  <a:pt x="95250" y="171450"/>
                </a:moveTo>
                <a:cubicBezTo>
                  <a:pt x="95250" y="160936"/>
                  <a:pt x="103786" y="152400"/>
                  <a:pt x="114300" y="152400"/>
                </a:cubicBezTo>
                <a:cubicBezTo>
                  <a:pt x="124814" y="152400"/>
                  <a:pt x="133350" y="160936"/>
                  <a:pt x="133350" y="171450"/>
                </a:cubicBezTo>
                <a:cubicBezTo>
                  <a:pt x="133350" y="181964"/>
                  <a:pt x="124814" y="190500"/>
                  <a:pt x="114300" y="190500"/>
                </a:cubicBezTo>
                <a:cubicBezTo>
                  <a:pt x="103786" y="190500"/>
                  <a:pt x="95250" y="181964"/>
                  <a:pt x="95250" y="171450"/>
                </a:cubicBezTo>
                <a:close/>
                <a:moveTo>
                  <a:pt x="66675" y="129461"/>
                </a:moveTo>
                <a:cubicBezTo>
                  <a:pt x="62032" y="134739"/>
                  <a:pt x="54015" y="135215"/>
                  <a:pt x="48736" y="130572"/>
                </a:cubicBezTo>
                <a:cubicBezTo>
                  <a:pt x="43458" y="125928"/>
                  <a:pt x="42982" y="117912"/>
                  <a:pt x="47625" y="112633"/>
                </a:cubicBezTo>
                <a:cubicBezTo>
                  <a:pt x="63897" y="94218"/>
                  <a:pt x="87749" y="82550"/>
                  <a:pt x="114300" y="82550"/>
                </a:cubicBezTo>
                <a:cubicBezTo>
                  <a:pt x="140851" y="82550"/>
                  <a:pt x="164703" y="94218"/>
                  <a:pt x="180975" y="112633"/>
                </a:cubicBezTo>
                <a:cubicBezTo>
                  <a:pt x="185618" y="117912"/>
                  <a:pt x="185103" y="125928"/>
                  <a:pt x="179864" y="130572"/>
                </a:cubicBezTo>
                <a:cubicBezTo>
                  <a:pt x="174625" y="135215"/>
                  <a:pt x="166568" y="134699"/>
                  <a:pt x="161925" y="129461"/>
                </a:cubicBezTo>
                <a:cubicBezTo>
                  <a:pt x="150257" y="116245"/>
                  <a:pt x="133271" y="107950"/>
                  <a:pt x="114300" y="107950"/>
                </a:cubicBezTo>
                <a:cubicBezTo>
                  <a:pt x="95329" y="107950"/>
                  <a:pt x="78343" y="116245"/>
                  <a:pt x="66675" y="129461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5" name="Text 53"/>
          <p:cNvSpPr/>
          <p:nvPr/>
        </p:nvSpPr>
        <p:spPr>
          <a:xfrm>
            <a:off x="13174686" y="3200651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RESTful API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831892" y="3657702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38100"/>
                </a:moveTo>
                <a:cubicBezTo>
                  <a:pt x="78224" y="38100"/>
                  <a:pt x="45561" y="52388"/>
                  <a:pt x="21550" y="75644"/>
                </a:cubicBezTo>
                <a:cubicBezTo>
                  <a:pt x="16510" y="80526"/>
                  <a:pt x="8453" y="80407"/>
                  <a:pt x="3612" y="75367"/>
                </a:cubicBezTo>
                <a:cubicBezTo>
                  <a:pt x="-1230" y="70326"/>
                  <a:pt x="-1151" y="62270"/>
                  <a:pt x="3889" y="57428"/>
                </a:cubicBezTo>
                <a:cubicBezTo>
                  <a:pt x="32425" y="29726"/>
                  <a:pt x="71398" y="12700"/>
                  <a:pt x="114300" y="12700"/>
                </a:cubicBezTo>
                <a:cubicBezTo>
                  <a:pt x="157202" y="12700"/>
                  <a:pt x="196175" y="29726"/>
                  <a:pt x="224750" y="57428"/>
                </a:cubicBezTo>
                <a:cubicBezTo>
                  <a:pt x="229791" y="62309"/>
                  <a:pt x="229910" y="70366"/>
                  <a:pt x="225028" y="75367"/>
                </a:cubicBezTo>
                <a:cubicBezTo>
                  <a:pt x="220147" y="80367"/>
                  <a:pt x="212090" y="80526"/>
                  <a:pt x="207089" y="75644"/>
                </a:cubicBezTo>
                <a:cubicBezTo>
                  <a:pt x="183039" y="52388"/>
                  <a:pt x="150376" y="38100"/>
                  <a:pt x="114300" y="38100"/>
                </a:cubicBezTo>
                <a:close/>
                <a:moveTo>
                  <a:pt x="95250" y="171450"/>
                </a:moveTo>
                <a:cubicBezTo>
                  <a:pt x="95250" y="160936"/>
                  <a:pt x="103786" y="152400"/>
                  <a:pt x="114300" y="152400"/>
                </a:cubicBezTo>
                <a:cubicBezTo>
                  <a:pt x="124814" y="152400"/>
                  <a:pt x="133350" y="160936"/>
                  <a:pt x="133350" y="171450"/>
                </a:cubicBezTo>
                <a:cubicBezTo>
                  <a:pt x="133350" y="181964"/>
                  <a:pt x="124814" y="190500"/>
                  <a:pt x="114300" y="190500"/>
                </a:cubicBezTo>
                <a:cubicBezTo>
                  <a:pt x="103786" y="190500"/>
                  <a:pt x="95250" y="181964"/>
                  <a:pt x="95250" y="171450"/>
                </a:cubicBezTo>
                <a:close/>
                <a:moveTo>
                  <a:pt x="66675" y="129461"/>
                </a:moveTo>
                <a:cubicBezTo>
                  <a:pt x="62032" y="134739"/>
                  <a:pt x="54015" y="135215"/>
                  <a:pt x="48736" y="130572"/>
                </a:cubicBezTo>
                <a:cubicBezTo>
                  <a:pt x="43458" y="125928"/>
                  <a:pt x="42982" y="117912"/>
                  <a:pt x="47625" y="112633"/>
                </a:cubicBezTo>
                <a:cubicBezTo>
                  <a:pt x="63897" y="94218"/>
                  <a:pt x="87749" y="82550"/>
                  <a:pt x="114300" y="82550"/>
                </a:cubicBezTo>
                <a:cubicBezTo>
                  <a:pt x="140851" y="82550"/>
                  <a:pt x="164703" y="94218"/>
                  <a:pt x="180975" y="112633"/>
                </a:cubicBezTo>
                <a:cubicBezTo>
                  <a:pt x="185618" y="117912"/>
                  <a:pt x="185103" y="125928"/>
                  <a:pt x="179864" y="130572"/>
                </a:cubicBezTo>
                <a:cubicBezTo>
                  <a:pt x="174625" y="135215"/>
                  <a:pt x="166568" y="134699"/>
                  <a:pt x="161925" y="129461"/>
                </a:cubicBezTo>
                <a:cubicBezTo>
                  <a:pt x="150257" y="116245"/>
                  <a:pt x="133271" y="107950"/>
                  <a:pt x="114300" y="107950"/>
                </a:cubicBezTo>
                <a:cubicBezTo>
                  <a:pt x="95329" y="107950"/>
                  <a:pt x="78343" y="116245"/>
                  <a:pt x="66675" y="129461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7" name="Text 55"/>
          <p:cNvSpPr/>
          <p:nvPr/>
        </p:nvSpPr>
        <p:spPr>
          <a:xfrm>
            <a:off x="13174686" y="3606964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JSON数据格式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2831892" y="4064016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38100"/>
                </a:moveTo>
                <a:cubicBezTo>
                  <a:pt x="78224" y="38100"/>
                  <a:pt x="45561" y="52388"/>
                  <a:pt x="21550" y="75644"/>
                </a:cubicBezTo>
                <a:cubicBezTo>
                  <a:pt x="16510" y="80526"/>
                  <a:pt x="8453" y="80407"/>
                  <a:pt x="3612" y="75367"/>
                </a:cubicBezTo>
                <a:cubicBezTo>
                  <a:pt x="-1230" y="70326"/>
                  <a:pt x="-1151" y="62270"/>
                  <a:pt x="3889" y="57428"/>
                </a:cubicBezTo>
                <a:cubicBezTo>
                  <a:pt x="32425" y="29726"/>
                  <a:pt x="71398" y="12700"/>
                  <a:pt x="114300" y="12700"/>
                </a:cubicBezTo>
                <a:cubicBezTo>
                  <a:pt x="157202" y="12700"/>
                  <a:pt x="196175" y="29726"/>
                  <a:pt x="224750" y="57428"/>
                </a:cubicBezTo>
                <a:cubicBezTo>
                  <a:pt x="229791" y="62309"/>
                  <a:pt x="229910" y="70366"/>
                  <a:pt x="225028" y="75367"/>
                </a:cubicBezTo>
                <a:cubicBezTo>
                  <a:pt x="220147" y="80367"/>
                  <a:pt x="212090" y="80526"/>
                  <a:pt x="207089" y="75644"/>
                </a:cubicBezTo>
                <a:cubicBezTo>
                  <a:pt x="183039" y="52388"/>
                  <a:pt x="150376" y="38100"/>
                  <a:pt x="114300" y="38100"/>
                </a:cubicBezTo>
                <a:close/>
                <a:moveTo>
                  <a:pt x="95250" y="171450"/>
                </a:moveTo>
                <a:cubicBezTo>
                  <a:pt x="95250" y="160936"/>
                  <a:pt x="103786" y="152400"/>
                  <a:pt x="114300" y="152400"/>
                </a:cubicBezTo>
                <a:cubicBezTo>
                  <a:pt x="124814" y="152400"/>
                  <a:pt x="133350" y="160936"/>
                  <a:pt x="133350" y="171450"/>
                </a:cubicBezTo>
                <a:cubicBezTo>
                  <a:pt x="133350" y="181964"/>
                  <a:pt x="124814" y="190500"/>
                  <a:pt x="114300" y="190500"/>
                </a:cubicBezTo>
                <a:cubicBezTo>
                  <a:pt x="103786" y="190500"/>
                  <a:pt x="95250" y="181964"/>
                  <a:pt x="95250" y="171450"/>
                </a:cubicBezTo>
                <a:close/>
                <a:moveTo>
                  <a:pt x="66675" y="129461"/>
                </a:moveTo>
                <a:cubicBezTo>
                  <a:pt x="62032" y="134739"/>
                  <a:pt x="54015" y="135215"/>
                  <a:pt x="48736" y="130572"/>
                </a:cubicBezTo>
                <a:cubicBezTo>
                  <a:pt x="43458" y="125928"/>
                  <a:pt x="42982" y="117912"/>
                  <a:pt x="47625" y="112633"/>
                </a:cubicBezTo>
                <a:cubicBezTo>
                  <a:pt x="63897" y="94218"/>
                  <a:pt x="87749" y="82550"/>
                  <a:pt x="114300" y="82550"/>
                </a:cubicBezTo>
                <a:cubicBezTo>
                  <a:pt x="140851" y="82550"/>
                  <a:pt x="164703" y="94218"/>
                  <a:pt x="180975" y="112633"/>
                </a:cubicBezTo>
                <a:cubicBezTo>
                  <a:pt x="185618" y="117912"/>
                  <a:pt x="185103" y="125928"/>
                  <a:pt x="179864" y="130572"/>
                </a:cubicBezTo>
                <a:cubicBezTo>
                  <a:pt x="174625" y="135215"/>
                  <a:pt x="166568" y="134699"/>
                  <a:pt x="161925" y="129461"/>
                </a:cubicBezTo>
                <a:cubicBezTo>
                  <a:pt x="150257" y="116245"/>
                  <a:pt x="133271" y="107950"/>
                  <a:pt x="114300" y="107950"/>
                </a:cubicBezTo>
                <a:cubicBezTo>
                  <a:pt x="95329" y="107950"/>
                  <a:pt x="78343" y="116245"/>
                  <a:pt x="66675" y="129461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9" name="Text 57"/>
          <p:cNvSpPr/>
          <p:nvPr/>
        </p:nvSpPr>
        <p:spPr>
          <a:xfrm>
            <a:off x="13174686" y="4013278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实时数据流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3174686" y="4419591"/>
            <a:ext cx="134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07952" y="5436140"/>
            <a:ext cx="7518400" cy="3200400"/>
          </a:xfrm>
          <a:custGeom>
            <a:avLst/>
            <a:gdLst/>
            <a:ahLst/>
            <a:cxnLst/>
            <a:rect l="l" t="t" r="r" b="b"/>
            <a:pathLst>
              <a:path w="7518400" h="3200400">
                <a:moveTo>
                  <a:pt x="152403" y="0"/>
                </a:moveTo>
                <a:lnTo>
                  <a:pt x="7365997" y="0"/>
                </a:lnTo>
                <a:cubicBezTo>
                  <a:pt x="7450167" y="0"/>
                  <a:pt x="7518400" y="68233"/>
                  <a:pt x="7518400" y="152403"/>
                </a:cubicBezTo>
                <a:lnTo>
                  <a:pt x="7518400" y="3047997"/>
                </a:lnTo>
                <a:cubicBezTo>
                  <a:pt x="7518400" y="3132167"/>
                  <a:pt x="7450167" y="3200400"/>
                  <a:pt x="7365997" y="3200400"/>
                </a:cubicBezTo>
                <a:lnTo>
                  <a:pt x="152403" y="3200400"/>
                </a:lnTo>
                <a:cubicBezTo>
                  <a:pt x="68233" y="3200400"/>
                  <a:pt x="0" y="3132167"/>
                  <a:pt x="0" y="3047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19037" y="5740812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78" name="Text 76"/>
          <p:cNvSpPr/>
          <p:nvPr/>
        </p:nvSpPr>
        <p:spPr>
          <a:xfrm>
            <a:off x="1142887" y="5690074"/>
            <a:ext cx="678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后端技术栈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61887" y="629966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857114" y="645204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Python 3.8+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69814" y="685835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主开发语言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3149510" y="629966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3244737" y="645204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Flask 2.3+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3257437" y="685835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Web框架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5537132" y="629966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5632360" y="645204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5645060" y="685835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大数据处理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761887" y="741704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857114" y="7569423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MySQL 5.7+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69814" y="797573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主数据库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3149510" y="741704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3244737" y="7569423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pandas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257437" y="797573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5537132" y="741704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5632360" y="7569423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PyMySQL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5645060" y="797573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数据库连接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8312711" y="5436140"/>
            <a:ext cx="7518400" cy="3200400"/>
          </a:xfrm>
          <a:custGeom>
            <a:avLst/>
            <a:gdLst/>
            <a:ahLst/>
            <a:cxnLst/>
            <a:rect l="l" t="t" r="r" b="b"/>
            <a:pathLst>
              <a:path w="7518400" h="3200400">
                <a:moveTo>
                  <a:pt x="152403" y="0"/>
                </a:moveTo>
                <a:lnTo>
                  <a:pt x="7365997" y="0"/>
                </a:lnTo>
                <a:cubicBezTo>
                  <a:pt x="7450167" y="0"/>
                  <a:pt x="7518400" y="68233"/>
                  <a:pt x="7518400" y="152403"/>
                </a:cubicBezTo>
                <a:lnTo>
                  <a:pt x="7518400" y="3047997"/>
                </a:lnTo>
                <a:cubicBezTo>
                  <a:pt x="7518400" y="3132167"/>
                  <a:pt x="7450167" y="3200400"/>
                  <a:pt x="7365997" y="3200400"/>
                </a:cubicBezTo>
                <a:lnTo>
                  <a:pt x="152403" y="3200400"/>
                </a:lnTo>
                <a:cubicBezTo>
                  <a:pt x="68233" y="3200400"/>
                  <a:pt x="0" y="3132167"/>
                  <a:pt x="0" y="3047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8483526" y="5740812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8100" y="57150"/>
                </a:moveTo>
                <a:cubicBezTo>
                  <a:pt x="38100" y="36135"/>
                  <a:pt x="55185" y="19050"/>
                  <a:pt x="76200" y="19050"/>
                </a:cubicBezTo>
                <a:lnTo>
                  <a:pt x="304800" y="19050"/>
                </a:lnTo>
                <a:cubicBezTo>
                  <a:pt x="325815" y="19050"/>
                  <a:pt x="342900" y="36135"/>
                  <a:pt x="342900" y="57150"/>
                </a:cubicBezTo>
                <a:lnTo>
                  <a:pt x="342900" y="200025"/>
                </a:lnTo>
                <a:lnTo>
                  <a:pt x="304800" y="200025"/>
                </a:lnTo>
                <a:lnTo>
                  <a:pt x="304800" y="57150"/>
                </a:lnTo>
                <a:lnTo>
                  <a:pt x="76200" y="57150"/>
                </a:lnTo>
                <a:lnTo>
                  <a:pt x="76200" y="200025"/>
                </a:lnTo>
                <a:lnTo>
                  <a:pt x="38100" y="200025"/>
                </a:lnTo>
                <a:lnTo>
                  <a:pt x="38100" y="57150"/>
                </a:lnTo>
                <a:close/>
                <a:moveTo>
                  <a:pt x="0" y="240030"/>
                </a:moveTo>
                <a:cubicBezTo>
                  <a:pt x="0" y="233720"/>
                  <a:pt x="5120" y="228600"/>
                  <a:pt x="11430" y="228600"/>
                </a:cubicBezTo>
                <a:lnTo>
                  <a:pt x="369570" y="228600"/>
                </a:lnTo>
                <a:cubicBezTo>
                  <a:pt x="375880" y="228600"/>
                  <a:pt x="381000" y="233720"/>
                  <a:pt x="381000" y="240030"/>
                </a:cubicBezTo>
                <a:cubicBezTo>
                  <a:pt x="381000" y="265271"/>
                  <a:pt x="360521" y="285750"/>
                  <a:pt x="335280" y="285750"/>
                </a:cubicBezTo>
                <a:lnTo>
                  <a:pt x="45720" y="285750"/>
                </a:lnTo>
                <a:cubicBezTo>
                  <a:pt x="20479" y="285750"/>
                  <a:pt x="0" y="265271"/>
                  <a:pt x="0" y="240030"/>
                </a:cubicBezTo>
                <a:close/>
                <a:moveTo>
                  <a:pt x="167283" y="124420"/>
                </a:moveTo>
                <a:lnTo>
                  <a:pt x="148828" y="142875"/>
                </a:lnTo>
                <a:lnTo>
                  <a:pt x="167283" y="161330"/>
                </a:lnTo>
                <a:cubicBezTo>
                  <a:pt x="172879" y="166926"/>
                  <a:pt x="172879" y="175974"/>
                  <a:pt x="167283" y="181511"/>
                </a:cubicBezTo>
                <a:cubicBezTo>
                  <a:pt x="161687" y="187047"/>
                  <a:pt x="152638" y="187107"/>
                  <a:pt x="147102" y="181511"/>
                </a:cubicBezTo>
                <a:lnTo>
                  <a:pt x="118527" y="152936"/>
                </a:lnTo>
                <a:cubicBezTo>
                  <a:pt x="112931" y="147340"/>
                  <a:pt x="112931" y="138291"/>
                  <a:pt x="118527" y="132755"/>
                </a:cubicBezTo>
                <a:lnTo>
                  <a:pt x="147102" y="104180"/>
                </a:lnTo>
                <a:cubicBezTo>
                  <a:pt x="152698" y="98584"/>
                  <a:pt x="161746" y="98584"/>
                  <a:pt x="167283" y="104180"/>
                </a:cubicBezTo>
                <a:cubicBezTo>
                  <a:pt x="172819" y="109776"/>
                  <a:pt x="172879" y="118824"/>
                  <a:pt x="167283" y="124361"/>
                </a:cubicBezTo>
                <a:close/>
                <a:moveTo>
                  <a:pt x="233958" y="104180"/>
                </a:moveTo>
                <a:lnTo>
                  <a:pt x="262533" y="132755"/>
                </a:lnTo>
                <a:cubicBezTo>
                  <a:pt x="268129" y="138351"/>
                  <a:pt x="268129" y="147399"/>
                  <a:pt x="262533" y="152936"/>
                </a:cubicBezTo>
                <a:lnTo>
                  <a:pt x="233958" y="181511"/>
                </a:lnTo>
                <a:cubicBezTo>
                  <a:pt x="228362" y="187107"/>
                  <a:pt x="219313" y="187107"/>
                  <a:pt x="213777" y="181511"/>
                </a:cubicBezTo>
                <a:cubicBezTo>
                  <a:pt x="208240" y="175915"/>
                  <a:pt x="208181" y="166866"/>
                  <a:pt x="213777" y="161330"/>
                </a:cubicBezTo>
                <a:lnTo>
                  <a:pt x="232231" y="142875"/>
                </a:lnTo>
                <a:lnTo>
                  <a:pt x="213777" y="124420"/>
                </a:lnTo>
                <a:cubicBezTo>
                  <a:pt x="208181" y="118824"/>
                  <a:pt x="208181" y="109776"/>
                  <a:pt x="213777" y="104239"/>
                </a:cubicBezTo>
                <a:cubicBezTo>
                  <a:pt x="219373" y="98703"/>
                  <a:pt x="228421" y="98643"/>
                  <a:pt x="233958" y="104239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9" name="Text 97"/>
          <p:cNvSpPr/>
          <p:nvPr/>
        </p:nvSpPr>
        <p:spPr>
          <a:xfrm>
            <a:off x="8864526" y="5690074"/>
            <a:ext cx="678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前端技术栈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8483526" y="629966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8578753" y="645204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HTML5/CSS3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8591453" y="685835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页面结构样式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10871148" y="629966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10966376" y="645204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JavaScript ES6+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10979076" y="685835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异步交互逻辑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13258771" y="6299665"/>
            <a:ext cx="2235200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107" name="Text 105"/>
          <p:cNvSpPr/>
          <p:nvPr/>
        </p:nvSpPr>
        <p:spPr>
          <a:xfrm>
            <a:off x="13353999" y="645204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Bootstrap 5.3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13366699" y="685835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响应式UI框架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8506918" y="7417045"/>
            <a:ext cx="2997274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8999667" y="7569423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ECharts 5.4+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9019625" y="797573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10966376" y="7569423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10979076" y="797573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15" name="Shape 113"/>
          <p:cNvSpPr/>
          <p:nvPr/>
        </p:nvSpPr>
        <p:spPr>
          <a:xfrm>
            <a:off x="12453257" y="7417045"/>
            <a:ext cx="3040714" cy="965200"/>
          </a:xfrm>
          <a:custGeom>
            <a:avLst/>
            <a:gdLst/>
            <a:ahLst/>
            <a:cxnLst/>
            <a:rect l="l" t="t" r="r" b="b"/>
            <a:pathLst>
              <a:path w="2235200" h="9652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863603"/>
                </a:lnTo>
                <a:cubicBezTo>
                  <a:pt x="2235200" y="919713"/>
                  <a:pt x="2189713" y="965200"/>
                  <a:pt x="2133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116" name="Text 114"/>
          <p:cNvSpPr/>
          <p:nvPr/>
        </p:nvSpPr>
        <p:spPr>
          <a:xfrm>
            <a:off x="12787942" y="7569423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JSON</a:t>
            </a:r>
            <a:endParaRPr lang="en-US" sz="1600" dirty="0"/>
          </a:p>
        </p:txBody>
      </p:sp>
      <p:sp>
        <p:nvSpPr>
          <p:cNvPr id="117" name="Text 115"/>
          <p:cNvSpPr/>
          <p:nvPr/>
        </p:nvSpPr>
        <p:spPr>
          <a:xfrm>
            <a:off x="12786127" y="7975733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地图数据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9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6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8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9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42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4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48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1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4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6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9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2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5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8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4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7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0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3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6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9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02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05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08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1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4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0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3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6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9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2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5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8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1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4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7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0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3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6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9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62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65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68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1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4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7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0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3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6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9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92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6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50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78" grpId="0" animBg="1"/>
      <p:bldP spid="80" grpId="0" animBg="1"/>
      <p:bldP spid="81" grpId="0" animBg="1"/>
      <p:bldP spid="83" grpId="0" animBg="1"/>
      <p:bldP spid="84" grpId="0" animBg="1"/>
      <p:bldP spid="86" grpId="0" animBg="1"/>
      <p:bldP spid="87" grpId="0" animBg="1"/>
      <p:bldP spid="89" grpId="0" animBg="1"/>
      <p:bldP spid="90" grpId="0" animBg="1"/>
      <p:bldP spid="92" grpId="0" animBg="1"/>
      <p:bldP spid="93" grpId="0" animBg="1"/>
      <p:bldP spid="95" grpId="0" animBg="1"/>
      <p:bldP spid="96" grpId="0" animBg="1"/>
      <p:bldP spid="99" grpId="0" animBg="1"/>
      <p:bldP spid="101" grpId="0" animBg="1"/>
      <p:bldP spid="102" grpId="0" animBg="1"/>
      <p:bldP spid="104" grpId="0" animBg="1"/>
      <p:bldP spid="105" grpId="0" animBg="1"/>
      <p:bldP spid="107" grpId="0" animBg="1"/>
      <p:bldP spid="108" grpId="0" animBg="1"/>
      <p:bldP spid="110" grpId="0" animBg="1"/>
      <p:bldP spid="111" grpId="0" animBg="1"/>
      <p:bldP spid="113" grpId="0" animBg="1"/>
      <p:bldP spid="114" grpId="0" animBg="1"/>
      <p:bldP spid="116" grpId="0" animBg="1"/>
      <p:bldP spid="1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293" y="46564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3" name="Text 1"/>
          <p:cNvSpPr/>
          <p:nvPr/>
        </p:nvSpPr>
        <p:spPr>
          <a:xfrm>
            <a:off x="521907" y="529099"/>
            <a:ext cx="31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3567" y="423292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系统核心功能实现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73567" y="1058266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423293" y="1289241"/>
            <a:ext cx="7620000" cy="5723776"/>
          </a:xfrm>
          <a:custGeom>
            <a:avLst/>
            <a:gdLst/>
            <a:ahLst/>
            <a:cxnLst/>
            <a:rect l="l" t="t" r="r" b="b"/>
            <a:pathLst>
              <a:path w="7620000" h="5723776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5596766"/>
                </a:lnTo>
                <a:cubicBezTo>
                  <a:pt x="7620000" y="5666912"/>
                  <a:pt x="7563135" y="5723776"/>
                  <a:pt x="7492989" y="5723776"/>
                </a:cubicBezTo>
                <a:lnTo>
                  <a:pt x="127011" y="5723776"/>
                </a:lnTo>
                <a:cubicBezTo>
                  <a:pt x="56865" y="5723776"/>
                  <a:pt x="0" y="5666912"/>
                  <a:pt x="0" y="5596766"/>
                </a:cubicBezTo>
                <a:lnTo>
                  <a:pt x="0" y="38720"/>
                </a:lnTo>
                <a:cubicBezTo>
                  <a:pt x="0" y="17335"/>
                  <a:pt x="17335" y="0"/>
                  <a:pt x="387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3293" y="1289241"/>
            <a:ext cx="7620000" cy="38720"/>
          </a:xfrm>
          <a:custGeom>
            <a:avLst/>
            <a:gdLst/>
            <a:ahLst/>
            <a:cxnLst/>
            <a:rect l="l" t="t" r="r" b="b"/>
            <a:pathLst>
              <a:path w="7620000" h="38720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38720"/>
                </a:lnTo>
                <a:lnTo>
                  <a:pt x="0" y="38720"/>
                </a:ln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8" name="Shape 6"/>
          <p:cNvSpPr/>
          <p:nvPr/>
        </p:nvSpPr>
        <p:spPr>
          <a:xfrm>
            <a:off x="637552" y="1530764"/>
            <a:ext cx="396875" cy="317500"/>
          </a:xfrm>
          <a:custGeom>
            <a:avLst/>
            <a:gdLst/>
            <a:ahLst/>
            <a:cxnLst/>
            <a:rect l="l" t="t" r="r" b="b"/>
            <a:pathLst>
              <a:path w="396875" h="317500">
                <a:moveTo>
                  <a:pt x="357188" y="29766"/>
                </a:moveTo>
                <a:cubicBezTo>
                  <a:pt x="357188" y="22882"/>
                  <a:pt x="353653" y="16495"/>
                  <a:pt x="347762" y="12898"/>
                </a:cubicBezTo>
                <a:cubicBezTo>
                  <a:pt x="341871" y="9302"/>
                  <a:pt x="334615" y="8930"/>
                  <a:pt x="328476" y="12030"/>
                </a:cubicBezTo>
                <a:lnTo>
                  <a:pt x="256418" y="48059"/>
                </a:lnTo>
                <a:lnTo>
                  <a:pt x="145169" y="10914"/>
                </a:lnTo>
                <a:cubicBezTo>
                  <a:pt x="140146" y="9240"/>
                  <a:pt x="134751" y="9612"/>
                  <a:pt x="130039" y="11968"/>
                </a:cubicBezTo>
                <a:lnTo>
                  <a:pt x="50664" y="51656"/>
                </a:lnTo>
                <a:cubicBezTo>
                  <a:pt x="43904" y="55066"/>
                  <a:pt x="39688" y="61950"/>
                  <a:pt x="39688" y="69453"/>
                </a:cubicBezTo>
                <a:lnTo>
                  <a:pt x="39688" y="287734"/>
                </a:lnTo>
                <a:cubicBezTo>
                  <a:pt x="39688" y="294618"/>
                  <a:pt x="43222" y="301005"/>
                  <a:pt x="49113" y="304602"/>
                </a:cubicBezTo>
                <a:cubicBezTo>
                  <a:pt x="55004" y="308198"/>
                  <a:pt x="62260" y="308570"/>
                  <a:pt x="68399" y="305470"/>
                </a:cubicBezTo>
                <a:lnTo>
                  <a:pt x="140395" y="269441"/>
                </a:lnTo>
                <a:lnTo>
                  <a:pt x="247861" y="305284"/>
                </a:lnTo>
                <a:cubicBezTo>
                  <a:pt x="245194" y="301315"/>
                  <a:pt x="242590" y="297160"/>
                  <a:pt x="240047" y="292943"/>
                </a:cubicBezTo>
                <a:cubicBezTo>
                  <a:pt x="233226" y="281595"/>
                  <a:pt x="226467" y="268573"/>
                  <a:pt x="221444" y="254620"/>
                </a:cubicBezTo>
                <a:lnTo>
                  <a:pt x="158688" y="233722"/>
                </a:lnTo>
                <a:lnTo>
                  <a:pt x="158688" y="57299"/>
                </a:lnTo>
                <a:lnTo>
                  <a:pt x="238063" y="83778"/>
                </a:lnTo>
                <a:lnTo>
                  <a:pt x="238063" y="145355"/>
                </a:lnTo>
                <a:cubicBezTo>
                  <a:pt x="257287" y="123155"/>
                  <a:pt x="285812" y="109141"/>
                  <a:pt x="317438" y="109141"/>
                </a:cubicBezTo>
                <a:cubicBezTo>
                  <a:pt x="331453" y="109141"/>
                  <a:pt x="344847" y="111869"/>
                  <a:pt x="357125" y="116892"/>
                </a:cubicBezTo>
                <a:lnTo>
                  <a:pt x="357188" y="29766"/>
                </a:lnTo>
                <a:close/>
                <a:moveTo>
                  <a:pt x="317500" y="138906"/>
                </a:moveTo>
                <a:cubicBezTo>
                  <a:pt x="276386" y="138906"/>
                  <a:pt x="243086" y="171648"/>
                  <a:pt x="243086" y="212018"/>
                </a:cubicBezTo>
                <a:cubicBezTo>
                  <a:pt x="243086" y="254744"/>
                  <a:pt x="282835" y="305284"/>
                  <a:pt x="304229" y="329406"/>
                </a:cubicBezTo>
                <a:cubicBezTo>
                  <a:pt x="311423" y="337468"/>
                  <a:pt x="323639" y="337468"/>
                  <a:pt x="330833" y="329406"/>
                </a:cubicBezTo>
                <a:cubicBezTo>
                  <a:pt x="352227" y="305284"/>
                  <a:pt x="391976" y="254744"/>
                  <a:pt x="391976" y="212018"/>
                </a:cubicBezTo>
                <a:cubicBezTo>
                  <a:pt x="391976" y="171648"/>
                  <a:pt x="358676" y="138906"/>
                  <a:pt x="317562" y="138906"/>
                </a:cubicBezTo>
                <a:close/>
                <a:moveTo>
                  <a:pt x="292695" y="213320"/>
                </a:moveTo>
                <a:cubicBezTo>
                  <a:pt x="292695" y="199630"/>
                  <a:pt x="303810" y="188516"/>
                  <a:pt x="317500" y="188516"/>
                </a:cubicBezTo>
                <a:cubicBezTo>
                  <a:pt x="331190" y="188516"/>
                  <a:pt x="342305" y="199630"/>
                  <a:pt x="342305" y="213320"/>
                </a:cubicBezTo>
                <a:cubicBezTo>
                  <a:pt x="342305" y="227010"/>
                  <a:pt x="331190" y="238125"/>
                  <a:pt x="317500" y="238125"/>
                </a:cubicBezTo>
                <a:cubicBezTo>
                  <a:pt x="303810" y="238125"/>
                  <a:pt x="292695" y="227010"/>
                  <a:pt x="292695" y="21332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" name="Text 7"/>
          <p:cNvSpPr/>
          <p:nvPr/>
        </p:nvSpPr>
        <p:spPr>
          <a:xfrm>
            <a:off x="1158762" y="1520212"/>
            <a:ext cx="215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多准则适宜性区划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3054" y="23036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1906"/>
                </a:moveTo>
                <a:cubicBezTo>
                  <a:pt x="190500" y="52127"/>
                  <a:pt x="161999" y="85688"/>
                  <a:pt x="124123" y="93538"/>
                </a:cubicBezTo>
                <a:cubicBezTo>
                  <a:pt x="121183" y="71921"/>
                  <a:pt x="111472" y="52462"/>
                  <a:pt x="97148" y="37393"/>
                </a:cubicBezTo>
                <a:cubicBezTo>
                  <a:pt x="112068" y="14883"/>
                  <a:pt x="137629" y="0"/>
                  <a:pt x="166688" y="0"/>
                </a:cubicBezTo>
                <a:lnTo>
                  <a:pt x="178594" y="0"/>
                </a:lnTo>
                <a:cubicBezTo>
                  <a:pt x="185179" y="0"/>
                  <a:pt x="190500" y="5321"/>
                  <a:pt x="190500" y="11906"/>
                </a:cubicBezTo>
                <a:close/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23812" y="23812"/>
                </a:lnTo>
                <a:cubicBezTo>
                  <a:pt x="69838" y="23812"/>
                  <a:pt x="107156" y="61131"/>
                  <a:pt x="107156" y="107156"/>
                </a:cubicBezTo>
                <a:lnTo>
                  <a:pt x="107156" y="178594"/>
                </a:lnTo>
                <a:cubicBezTo>
                  <a:pt x="107156" y="185179"/>
                  <a:pt x="101836" y="190500"/>
                  <a:pt x="95250" y="190500"/>
                </a:cubicBezTo>
                <a:cubicBezTo>
                  <a:pt x="88664" y="190500"/>
                  <a:pt x="83344" y="185179"/>
                  <a:pt x="83344" y="178594"/>
                </a:cubicBezTo>
                <a:lnTo>
                  <a:pt x="83344" y="119063"/>
                </a:lnTo>
                <a:cubicBezTo>
                  <a:pt x="37319" y="119063"/>
                  <a:pt x="0" y="81744"/>
                  <a:pt x="0" y="35719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2" name="Text 10"/>
          <p:cNvSpPr/>
          <p:nvPr/>
        </p:nvSpPr>
        <p:spPr>
          <a:xfrm>
            <a:off x="994720" y="2250705"/>
            <a:ext cx="6805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作物支持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4906" y="5477800"/>
            <a:ext cx="7196667" cy="1185333"/>
          </a:xfrm>
          <a:custGeom>
            <a:avLst/>
            <a:gdLst/>
            <a:ahLst/>
            <a:cxnLst/>
            <a:rect l="l" t="t" r="r" b="b"/>
            <a:pathLst>
              <a:path w="7196667" h="1185333">
                <a:moveTo>
                  <a:pt x="84668" y="0"/>
                </a:moveTo>
                <a:lnTo>
                  <a:pt x="7111998" y="0"/>
                </a:lnTo>
                <a:cubicBezTo>
                  <a:pt x="7158759" y="0"/>
                  <a:pt x="7196667" y="37907"/>
                  <a:pt x="7196667" y="84668"/>
                </a:cubicBezTo>
                <a:lnTo>
                  <a:pt x="7196667" y="1100665"/>
                </a:lnTo>
                <a:cubicBezTo>
                  <a:pt x="7196667" y="1147426"/>
                  <a:pt x="7158759" y="1185333"/>
                  <a:pt x="7111998" y="1185333"/>
                </a:cubicBezTo>
                <a:lnTo>
                  <a:pt x="84668" y="1185333"/>
                </a:lnTo>
                <a:cubicBezTo>
                  <a:pt x="37907" y="1185333"/>
                  <a:pt x="0" y="1147426"/>
                  <a:pt x="0" y="1100665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7" name="Text 45"/>
          <p:cNvSpPr/>
          <p:nvPr/>
        </p:nvSpPr>
        <p:spPr>
          <a:xfrm>
            <a:off x="761887" y="5604785"/>
            <a:ext cx="7037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可视化展示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1887" y="5985728"/>
            <a:ext cx="7027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</a:t>
            </a: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湖南省地图</a:t>
            </a: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的热力图可视化,颜色深浅代表适宜程度(深绿=非常适宜,浅绿=适宜,黄绿=勉强适宜,红色=不适宜)。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12637" y="1289241"/>
            <a:ext cx="7620000" cy="5723776"/>
          </a:xfrm>
          <a:custGeom>
            <a:avLst/>
            <a:gdLst/>
            <a:ahLst/>
            <a:cxnLst/>
            <a:rect l="l" t="t" r="r" b="b"/>
            <a:pathLst>
              <a:path w="7620000" h="5723776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5596766"/>
                </a:lnTo>
                <a:cubicBezTo>
                  <a:pt x="7620000" y="5666912"/>
                  <a:pt x="7563135" y="5723776"/>
                  <a:pt x="7492989" y="5723776"/>
                </a:cubicBezTo>
                <a:lnTo>
                  <a:pt x="127011" y="5723776"/>
                </a:lnTo>
                <a:cubicBezTo>
                  <a:pt x="56865" y="5723776"/>
                  <a:pt x="0" y="5666912"/>
                  <a:pt x="0" y="5596766"/>
                </a:cubicBezTo>
                <a:lnTo>
                  <a:pt x="0" y="38720"/>
                </a:lnTo>
                <a:cubicBezTo>
                  <a:pt x="0" y="17335"/>
                  <a:pt x="17335" y="0"/>
                  <a:pt x="387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12637" y="1289241"/>
            <a:ext cx="7620000" cy="38720"/>
          </a:xfrm>
          <a:custGeom>
            <a:avLst/>
            <a:gdLst/>
            <a:ahLst/>
            <a:cxnLst/>
            <a:rect l="l" t="t" r="r" b="b"/>
            <a:pathLst>
              <a:path w="7620000" h="38720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38720"/>
                </a:lnTo>
                <a:lnTo>
                  <a:pt x="0" y="38720"/>
                </a:ln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1" name="Shape 49"/>
          <p:cNvSpPr/>
          <p:nvPr/>
        </p:nvSpPr>
        <p:spPr>
          <a:xfrm>
            <a:off x="8506271" y="1530764"/>
            <a:ext cx="238125" cy="317500"/>
          </a:xfrm>
          <a:custGeom>
            <a:avLst/>
            <a:gdLst/>
            <a:ahLst/>
            <a:cxnLst/>
            <a:rect l="l" t="t" r="r" b="b"/>
            <a:pathLst>
              <a:path w="238125" h="317500">
                <a:moveTo>
                  <a:pt x="0" y="39688"/>
                </a:moveTo>
                <a:cubicBezTo>
                  <a:pt x="0" y="17797"/>
                  <a:pt x="17797" y="0"/>
                  <a:pt x="39688" y="0"/>
                </a:cubicBezTo>
                <a:lnTo>
                  <a:pt x="132395" y="0"/>
                </a:lnTo>
                <a:cubicBezTo>
                  <a:pt x="142937" y="0"/>
                  <a:pt x="153045" y="4155"/>
                  <a:pt x="160486" y="11596"/>
                </a:cubicBezTo>
                <a:lnTo>
                  <a:pt x="226529" y="77701"/>
                </a:lnTo>
                <a:cubicBezTo>
                  <a:pt x="233970" y="85142"/>
                  <a:pt x="238125" y="95250"/>
                  <a:pt x="238125" y="105792"/>
                </a:cubicBezTo>
                <a:lnTo>
                  <a:pt x="238125" y="277813"/>
                </a:lnTo>
                <a:cubicBezTo>
                  <a:pt x="238125" y="299703"/>
                  <a:pt x="220328" y="317500"/>
                  <a:pt x="198438" y="317500"/>
                </a:cubicBezTo>
                <a:lnTo>
                  <a:pt x="39688" y="317500"/>
                </a:lnTo>
                <a:cubicBezTo>
                  <a:pt x="17797" y="317500"/>
                  <a:pt x="0" y="299703"/>
                  <a:pt x="0" y="277813"/>
                </a:cubicBezTo>
                <a:lnTo>
                  <a:pt x="0" y="39688"/>
                </a:lnTo>
                <a:close/>
                <a:moveTo>
                  <a:pt x="128984" y="36277"/>
                </a:moveTo>
                <a:lnTo>
                  <a:pt x="128984" y="94258"/>
                </a:lnTo>
                <a:cubicBezTo>
                  <a:pt x="128984" y="102505"/>
                  <a:pt x="135620" y="109141"/>
                  <a:pt x="143867" y="109141"/>
                </a:cubicBezTo>
                <a:lnTo>
                  <a:pt x="201848" y="109141"/>
                </a:lnTo>
                <a:lnTo>
                  <a:pt x="128984" y="36277"/>
                </a:lnTo>
                <a:close/>
                <a:moveTo>
                  <a:pt x="74414" y="158750"/>
                </a:moveTo>
                <a:cubicBezTo>
                  <a:pt x="66167" y="158750"/>
                  <a:pt x="59531" y="165385"/>
                  <a:pt x="59531" y="173633"/>
                </a:cubicBezTo>
                <a:cubicBezTo>
                  <a:pt x="59531" y="181880"/>
                  <a:pt x="66167" y="188516"/>
                  <a:pt x="74414" y="188516"/>
                </a:cubicBezTo>
                <a:lnTo>
                  <a:pt x="163711" y="188516"/>
                </a:lnTo>
                <a:cubicBezTo>
                  <a:pt x="171958" y="188516"/>
                  <a:pt x="178594" y="181880"/>
                  <a:pt x="178594" y="173633"/>
                </a:cubicBezTo>
                <a:cubicBezTo>
                  <a:pt x="178594" y="165385"/>
                  <a:pt x="171958" y="158750"/>
                  <a:pt x="163711" y="158750"/>
                </a:cubicBezTo>
                <a:lnTo>
                  <a:pt x="74414" y="158750"/>
                </a:lnTo>
                <a:close/>
                <a:moveTo>
                  <a:pt x="74414" y="218281"/>
                </a:moveTo>
                <a:cubicBezTo>
                  <a:pt x="66167" y="218281"/>
                  <a:pt x="59531" y="224917"/>
                  <a:pt x="59531" y="233164"/>
                </a:cubicBezTo>
                <a:cubicBezTo>
                  <a:pt x="59531" y="241412"/>
                  <a:pt x="66167" y="248047"/>
                  <a:pt x="74414" y="248047"/>
                </a:cubicBezTo>
                <a:lnTo>
                  <a:pt x="163711" y="248047"/>
                </a:lnTo>
                <a:cubicBezTo>
                  <a:pt x="171958" y="248047"/>
                  <a:pt x="178594" y="241412"/>
                  <a:pt x="178594" y="233164"/>
                </a:cubicBezTo>
                <a:cubicBezTo>
                  <a:pt x="178594" y="224917"/>
                  <a:pt x="171958" y="218281"/>
                  <a:pt x="163711" y="218281"/>
                </a:cubicBezTo>
                <a:lnTo>
                  <a:pt x="74414" y="218281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2" name="Text 50"/>
          <p:cNvSpPr/>
          <p:nvPr/>
        </p:nvSpPr>
        <p:spPr>
          <a:xfrm>
            <a:off x="8948106" y="1520212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联网报告生成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24250" y="2127421"/>
            <a:ext cx="7196667" cy="825500"/>
          </a:xfrm>
          <a:custGeom>
            <a:avLst/>
            <a:gdLst/>
            <a:ahLst/>
            <a:cxnLst/>
            <a:rect l="l" t="t" r="r" b="b"/>
            <a:pathLst>
              <a:path w="7196667" h="825500">
                <a:moveTo>
                  <a:pt x="84663" y="0"/>
                </a:moveTo>
                <a:lnTo>
                  <a:pt x="7112003" y="0"/>
                </a:lnTo>
                <a:cubicBezTo>
                  <a:pt x="7158762" y="0"/>
                  <a:pt x="7196667" y="37905"/>
                  <a:pt x="7196667" y="84663"/>
                </a:cubicBezTo>
                <a:lnTo>
                  <a:pt x="7196667" y="740837"/>
                </a:lnTo>
                <a:cubicBezTo>
                  <a:pt x="7196667" y="787595"/>
                  <a:pt x="7158762" y="825500"/>
                  <a:pt x="7112003" y="825500"/>
                </a:cubicBezTo>
                <a:lnTo>
                  <a:pt x="84663" y="825500"/>
                </a:lnTo>
                <a:cubicBezTo>
                  <a:pt x="37905" y="825500"/>
                  <a:pt x="0" y="787595"/>
                  <a:pt x="0" y="7408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51231" y="2254405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55" name="Shape 53"/>
          <p:cNvSpPr/>
          <p:nvPr/>
        </p:nvSpPr>
        <p:spPr>
          <a:xfrm>
            <a:off x="8678204" y="2381384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167" y="21167"/>
                </a:moveTo>
                <a:cubicBezTo>
                  <a:pt x="21167" y="15313"/>
                  <a:pt x="16437" y="10583"/>
                  <a:pt x="10583" y="10583"/>
                </a:cubicBezTo>
                <a:cubicBezTo>
                  <a:pt x="4729" y="10583"/>
                  <a:pt x="0" y="15313"/>
                  <a:pt x="0" y="21167"/>
                </a:cubicBezTo>
                <a:lnTo>
                  <a:pt x="0" y="132292"/>
                </a:lnTo>
                <a:cubicBezTo>
                  <a:pt x="0" y="146910"/>
                  <a:pt x="11840" y="158750"/>
                  <a:pt x="26458" y="158750"/>
                </a:cubicBezTo>
                <a:lnTo>
                  <a:pt x="158750" y="158750"/>
                </a:lnTo>
                <a:cubicBezTo>
                  <a:pt x="164604" y="158750"/>
                  <a:pt x="169333" y="154021"/>
                  <a:pt x="169333" y="148167"/>
                </a:cubicBezTo>
                <a:cubicBezTo>
                  <a:pt x="169333" y="142313"/>
                  <a:pt x="164604" y="137583"/>
                  <a:pt x="158750" y="137583"/>
                </a:cubicBezTo>
                <a:lnTo>
                  <a:pt x="26458" y="137583"/>
                </a:lnTo>
                <a:cubicBezTo>
                  <a:pt x="23548" y="137583"/>
                  <a:pt x="21167" y="135202"/>
                  <a:pt x="21167" y="132292"/>
                </a:cubicBezTo>
                <a:lnTo>
                  <a:pt x="21167" y="21167"/>
                </a:lnTo>
                <a:close/>
                <a:moveTo>
                  <a:pt x="155641" y="49808"/>
                </a:moveTo>
                <a:cubicBezTo>
                  <a:pt x="159775" y="45674"/>
                  <a:pt x="159775" y="38960"/>
                  <a:pt x="155641" y="34826"/>
                </a:cubicBezTo>
                <a:cubicBezTo>
                  <a:pt x="151507" y="30692"/>
                  <a:pt x="144793" y="30692"/>
                  <a:pt x="140659" y="34826"/>
                </a:cubicBezTo>
                <a:lnTo>
                  <a:pt x="105833" y="69685"/>
                </a:lnTo>
                <a:lnTo>
                  <a:pt x="86849" y="50734"/>
                </a:lnTo>
                <a:cubicBezTo>
                  <a:pt x="82715" y="46600"/>
                  <a:pt x="76002" y="46600"/>
                  <a:pt x="71867" y="50734"/>
                </a:cubicBezTo>
                <a:lnTo>
                  <a:pt x="40117" y="82484"/>
                </a:lnTo>
                <a:cubicBezTo>
                  <a:pt x="35983" y="86618"/>
                  <a:pt x="35983" y="93332"/>
                  <a:pt x="40117" y="97466"/>
                </a:cubicBezTo>
                <a:cubicBezTo>
                  <a:pt x="44252" y="101600"/>
                  <a:pt x="50965" y="101600"/>
                  <a:pt x="55099" y="97466"/>
                </a:cubicBezTo>
                <a:lnTo>
                  <a:pt x="79375" y="73190"/>
                </a:lnTo>
                <a:lnTo>
                  <a:pt x="98359" y="92174"/>
                </a:lnTo>
                <a:cubicBezTo>
                  <a:pt x="102493" y="96308"/>
                  <a:pt x="109207" y="96308"/>
                  <a:pt x="113341" y="92174"/>
                </a:cubicBezTo>
                <a:lnTo>
                  <a:pt x="155674" y="49841"/>
                </a:ln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56" name="Text 54"/>
          <p:cNvSpPr/>
          <p:nvPr/>
        </p:nvSpPr>
        <p:spPr>
          <a:xfrm>
            <a:off x="9101505" y="2254405"/>
            <a:ext cx="6487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实时市场数据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01505" y="2592999"/>
            <a:ext cx="6477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当前价格、价格趋势、市场需求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24250" y="3362885"/>
            <a:ext cx="7196667" cy="825500"/>
          </a:xfrm>
          <a:custGeom>
            <a:avLst/>
            <a:gdLst/>
            <a:ahLst/>
            <a:cxnLst/>
            <a:rect l="l" t="t" r="r" b="b"/>
            <a:pathLst>
              <a:path w="7196667" h="825500">
                <a:moveTo>
                  <a:pt x="84663" y="0"/>
                </a:moveTo>
                <a:lnTo>
                  <a:pt x="7112003" y="0"/>
                </a:lnTo>
                <a:cubicBezTo>
                  <a:pt x="7158762" y="0"/>
                  <a:pt x="7196667" y="37905"/>
                  <a:pt x="7196667" y="84663"/>
                </a:cubicBezTo>
                <a:lnTo>
                  <a:pt x="7196667" y="740837"/>
                </a:lnTo>
                <a:cubicBezTo>
                  <a:pt x="7196667" y="787595"/>
                  <a:pt x="7158762" y="825500"/>
                  <a:pt x="7112003" y="825500"/>
                </a:cubicBezTo>
                <a:lnTo>
                  <a:pt x="84663" y="825500"/>
                </a:lnTo>
                <a:cubicBezTo>
                  <a:pt x="37905" y="825500"/>
                  <a:pt x="0" y="787595"/>
                  <a:pt x="0" y="7408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51231" y="3489865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0" name="Shape 58"/>
          <p:cNvSpPr/>
          <p:nvPr/>
        </p:nvSpPr>
        <p:spPr>
          <a:xfrm>
            <a:off x="8667621" y="3616844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50019" y="-4895"/>
                </a:moveTo>
                <a:cubicBezTo>
                  <a:pt x="151639" y="-4233"/>
                  <a:pt x="152830" y="-2778"/>
                  <a:pt x="153161" y="-1058"/>
                </a:cubicBezTo>
                <a:lnTo>
                  <a:pt x="158750" y="26458"/>
                </a:lnTo>
                <a:lnTo>
                  <a:pt x="186267" y="32015"/>
                </a:lnTo>
                <a:cubicBezTo>
                  <a:pt x="187986" y="32378"/>
                  <a:pt x="189409" y="33536"/>
                  <a:pt x="190103" y="35157"/>
                </a:cubicBezTo>
                <a:cubicBezTo>
                  <a:pt x="190798" y="36777"/>
                  <a:pt x="190599" y="38629"/>
                  <a:pt x="189640" y="40084"/>
                </a:cubicBezTo>
                <a:lnTo>
                  <a:pt x="174129" y="63467"/>
                </a:lnTo>
                <a:lnTo>
                  <a:pt x="189640" y="86849"/>
                </a:lnTo>
                <a:cubicBezTo>
                  <a:pt x="190599" y="88305"/>
                  <a:pt x="190798" y="90157"/>
                  <a:pt x="190103" y="91777"/>
                </a:cubicBezTo>
                <a:cubicBezTo>
                  <a:pt x="189409" y="93398"/>
                  <a:pt x="187986" y="94589"/>
                  <a:pt x="186267" y="94919"/>
                </a:cubicBezTo>
                <a:lnTo>
                  <a:pt x="165695" y="99120"/>
                </a:lnTo>
                <a:cubicBezTo>
                  <a:pt x="161760" y="96242"/>
                  <a:pt x="157394" y="93960"/>
                  <a:pt x="152665" y="92373"/>
                </a:cubicBezTo>
                <a:cubicBezTo>
                  <a:pt x="151838" y="88172"/>
                  <a:pt x="150416" y="84204"/>
                  <a:pt x="148464" y="80566"/>
                </a:cubicBezTo>
                <a:cubicBezTo>
                  <a:pt x="151606" y="75638"/>
                  <a:pt x="153458" y="69784"/>
                  <a:pt x="153458" y="63467"/>
                </a:cubicBezTo>
                <a:cubicBezTo>
                  <a:pt x="153458" y="45938"/>
                  <a:pt x="139237" y="31717"/>
                  <a:pt x="121708" y="31717"/>
                </a:cubicBezTo>
                <a:cubicBezTo>
                  <a:pt x="105866" y="31717"/>
                  <a:pt x="92736" y="43326"/>
                  <a:pt x="90355" y="58473"/>
                </a:cubicBezTo>
                <a:cubicBezTo>
                  <a:pt x="81591" y="51759"/>
                  <a:pt x="70677" y="47724"/>
                  <a:pt x="58804" y="47592"/>
                </a:cubicBezTo>
                <a:lnTo>
                  <a:pt x="53810" y="40084"/>
                </a:lnTo>
                <a:cubicBezTo>
                  <a:pt x="52851" y="38629"/>
                  <a:pt x="52652" y="36777"/>
                  <a:pt x="53347" y="35157"/>
                </a:cubicBezTo>
                <a:cubicBezTo>
                  <a:pt x="54041" y="33536"/>
                  <a:pt x="55463" y="32345"/>
                  <a:pt x="57183" y="32015"/>
                </a:cubicBezTo>
                <a:lnTo>
                  <a:pt x="84667" y="26458"/>
                </a:lnTo>
                <a:lnTo>
                  <a:pt x="90223" y="-1058"/>
                </a:lnTo>
                <a:cubicBezTo>
                  <a:pt x="90587" y="-2778"/>
                  <a:pt x="91744" y="-4200"/>
                  <a:pt x="93365" y="-4895"/>
                </a:cubicBezTo>
                <a:cubicBezTo>
                  <a:pt x="94985" y="-5589"/>
                  <a:pt x="96838" y="-5391"/>
                  <a:pt x="98293" y="-4432"/>
                </a:cubicBezTo>
                <a:lnTo>
                  <a:pt x="121708" y="11113"/>
                </a:lnTo>
                <a:lnTo>
                  <a:pt x="145091" y="-4399"/>
                </a:lnTo>
                <a:cubicBezTo>
                  <a:pt x="146546" y="-5358"/>
                  <a:pt x="148398" y="-5556"/>
                  <a:pt x="150019" y="-4862"/>
                </a:cubicBezTo>
                <a:close/>
                <a:moveTo>
                  <a:pt x="137583" y="63500"/>
                </a:moveTo>
                <a:cubicBezTo>
                  <a:pt x="137583" y="64757"/>
                  <a:pt x="137451" y="65980"/>
                  <a:pt x="137153" y="67171"/>
                </a:cubicBezTo>
                <a:cubicBezTo>
                  <a:pt x="129977" y="61549"/>
                  <a:pt x="120948" y="58208"/>
                  <a:pt x="111125" y="58208"/>
                </a:cubicBezTo>
                <a:cubicBezTo>
                  <a:pt x="109604" y="58208"/>
                  <a:pt x="108115" y="58274"/>
                  <a:pt x="106660" y="58440"/>
                </a:cubicBezTo>
                <a:cubicBezTo>
                  <a:pt x="108777" y="52156"/>
                  <a:pt x="114730" y="47625"/>
                  <a:pt x="121708" y="47625"/>
                </a:cubicBezTo>
                <a:cubicBezTo>
                  <a:pt x="130473" y="47625"/>
                  <a:pt x="137583" y="54736"/>
                  <a:pt x="137583" y="63500"/>
                </a:cubicBezTo>
                <a:close/>
                <a:moveTo>
                  <a:pt x="31750" y="169333"/>
                </a:moveTo>
                <a:cubicBezTo>
                  <a:pt x="14221" y="169333"/>
                  <a:pt x="0" y="155112"/>
                  <a:pt x="0" y="137583"/>
                </a:cubicBezTo>
                <a:cubicBezTo>
                  <a:pt x="0" y="123527"/>
                  <a:pt x="9128" y="111588"/>
                  <a:pt x="21795" y="107421"/>
                </a:cubicBezTo>
                <a:cubicBezTo>
                  <a:pt x="21365" y="105205"/>
                  <a:pt x="21167" y="102890"/>
                  <a:pt x="21167" y="100542"/>
                </a:cubicBezTo>
                <a:cubicBezTo>
                  <a:pt x="21167" y="80070"/>
                  <a:pt x="37736" y="63500"/>
                  <a:pt x="58208" y="63500"/>
                </a:cubicBezTo>
                <a:cubicBezTo>
                  <a:pt x="72463" y="63500"/>
                  <a:pt x="84832" y="71537"/>
                  <a:pt x="91017" y="83344"/>
                </a:cubicBezTo>
                <a:cubicBezTo>
                  <a:pt x="95878" y="77688"/>
                  <a:pt x="103088" y="74083"/>
                  <a:pt x="111125" y="74083"/>
                </a:cubicBezTo>
                <a:cubicBezTo>
                  <a:pt x="125743" y="74083"/>
                  <a:pt x="137583" y="85923"/>
                  <a:pt x="137583" y="100542"/>
                </a:cubicBezTo>
                <a:cubicBezTo>
                  <a:pt x="137583" y="102361"/>
                  <a:pt x="137385" y="104114"/>
                  <a:pt x="137054" y="105833"/>
                </a:cubicBezTo>
                <a:cubicBezTo>
                  <a:pt x="137220" y="105833"/>
                  <a:pt x="137418" y="105833"/>
                  <a:pt x="137583" y="105833"/>
                </a:cubicBezTo>
                <a:cubicBezTo>
                  <a:pt x="155112" y="105833"/>
                  <a:pt x="169333" y="120055"/>
                  <a:pt x="169333" y="137583"/>
                </a:cubicBezTo>
                <a:cubicBezTo>
                  <a:pt x="169333" y="155112"/>
                  <a:pt x="155112" y="169333"/>
                  <a:pt x="137583" y="169333"/>
                </a:cubicBezTo>
                <a:lnTo>
                  <a:pt x="31750" y="169333"/>
                </a:ln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61" name="Text 59"/>
          <p:cNvSpPr/>
          <p:nvPr/>
        </p:nvSpPr>
        <p:spPr>
          <a:xfrm>
            <a:off x="9101505" y="3489865"/>
            <a:ext cx="6487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天气预报集成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101505" y="3828459"/>
            <a:ext cx="6477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温度范围、降水预测、种植条件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24250" y="4598345"/>
            <a:ext cx="7196667" cy="825500"/>
          </a:xfrm>
          <a:custGeom>
            <a:avLst/>
            <a:gdLst/>
            <a:ahLst/>
            <a:cxnLst/>
            <a:rect l="l" t="t" r="r" b="b"/>
            <a:pathLst>
              <a:path w="7196667" h="825500">
                <a:moveTo>
                  <a:pt x="84663" y="0"/>
                </a:moveTo>
                <a:lnTo>
                  <a:pt x="7112003" y="0"/>
                </a:lnTo>
                <a:cubicBezTo>
                  <a:pt x="7158762" y="0"/>
                  <a:pt x="7196667" y="37905"/>
                  <a:pt x="7196667" y="84663"/>
                </a:cubicBezTo>
                <a:lnTo>
                  <a:pt x="7196667" y="740837"/>
                </a:lnTo>
                <a:cubicBezTo>
                  <a:pt x="7196667" y="787595"/>
                  <a:pt x="7158762" y="825500"/>
                  <a:pt x="7112003" y="825500"/>
                </a:cubicBezTo>
                <a:lnTo>
                  <a:pt x="84663" y="825500"/>
                </a:lnTo>
                <a:cubicBezTo>
                  <a:pt x="37905" y="825500"/>
                  <a:pt x="0" y="787595"/>
                  <a:pt x="0" y="7408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51231" y="4725324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65" name="Shape 63"/>
          <p:cNvSpPr/>
          <p:nvPr/>
        </p:nvSpPr>
        <p:spPr>
          <a:xfrm>
            <a:off x="8667621" y="4852308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56092" y="50734"/>
                </a:moveTo>
                <a:lnTo>
                  <a:pt x="49907" y="44549"/>
                </a:lnTo>
                <a:cubicBezTo>
                  <a:pt x="45773" y="40415"/>
                  <a:pt x="45773" y="33701"/>
                  <a:pt x="49907" y="29567"/>
                </a:cubicBezTo>
                <a:lnTo>
                  <a:pt x="87842" y="-8401"/>
                </a:lnTo>
                <a:cubicBezTo>
                  <a:pt x="91976" y="-12535"/>
                  <a:pt x="98690" y="-12535"/>
                  <a:pt x="102824" y="-8401"/>
                </a:cubicBezTo>
                <a:lnTo>
                  <a:pt x="109008" y="-2183"/>
                </a:lnTo>
                <a:cubicBezTo>
                  <a:pt x="113142" y="1951"/>
                  <a:pt x="113142" y="8665"/>
                  <a:pt x="109008" y="12799"/>
                </a:cubicBezTo>
                <a:lnTo>
                  <a:pt x="71074" y="50734"/>
                </a:lnTo>
                <a:cubicBezTo>
                  <a:pt x="66940" y="54868"/>
                  <a:pt x="60226" y="54868"/>
                  <a:pt x="56092" y="50734"/>
                </a:cubicBezTo>
                <a:close/>
                <a:moveTo>
                  <a:pt x="91281" y="70015"/>
                </a:moveTo>
                <a:lnTo>
                  <a:pt x="80896" y="59630"/>
                </a:lnTo>
                <a:lnTo>
                  <a:pt x="117938" y="22589"/>
                </a:lnTo>
                <a:lnTo>
                  <a:pt x="157427" y="62078"/>
                </a:lnTo>
                <a:lnTo>
                  <a:pt x="120385" y="99120"/>
                </a:lnTo>
                <a:lnTo>
                  <a:pt x="110001" y="88735"/>
                </a:lnTo>
                <a:lnTo>
                  <a:pt x="33271" y="165464"/>
                </a:lnTo>
                <a:cubicBezTo>
                  <a:pt x="28112" y="170623"/>
                  <a:pt x="19745" y="170623"/>
                  <a:pt x="14552" y="165464"/>
                </a:cubicBezTo>
                <a:cubicBezTo>
                  <a:pt x="9360" y="160304"/>
                  <a:pt x="9393" y="151937"/>
                  <a:pt x="14552" y="146745"/>
                </a:cubicBezTo>
                <a:lnTo>
                  <a:pt x="91281" y="70015"/>
                </a:lnTo>
                <a:close/>
                <a:moveTo>
                  <a:pt x="129282" y="123891"/>
                </a:moveTo>
                <a:cubicBezTo>
                  <a:pt x="125148" y="119757"/>
                  <a:pt x="125148" y="113043"/>
                  <a:pt x="129282" y="108909"/>
                </a:cubicBezTo>
                <a:lnTo>
                  <a:pt x="167217" y="70974"/>
                </a:lnTo>
                <a:cubicBezTo>
                  <a:pt x="171351" y="66840"/>
                  <a:pt x="178065" y="66840"/>
                  <a:pt x="182199" y="70974"/>
                </a:cubicBezTo>
                <a:lnTo>
                  <a:pt x="188383" y="77159"/>
                </a:lnTo>
                <a:cubicBezTo>
                  <a:pt x="192517" y="81293"/>
                  <a:pt x="192517" y="88007"/>
                  <a:pt x="188383" y="92141"/>
                </a:cubicBezTo>
                <a:lnTo>
                  <a:pt x="150449" y="130109"/>
                </a:lnTo>
                <a:cubicBezTo>
                  <a:pt x="146315" y="134243"/>
                  <a:pt x="139601" y="134243"/>
                  <a:pt x="135467" y="130109"/>
                </a:cubicBezTo>
                <a:lnTo>
                  <a:pt x="129282" y="123924"/>
                </a:ln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66" name="Text 64"/>
          <p:cNvSpPr/>
          <p:nvPr/>
        </p:nvSpPr>
        <p:spPr>
          <a:xfrm>
            <a:off x="9101505" y="4725324"/>
            <a:ext cx="6487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政策动态跟踪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101505" y="5063918"/>
            <a:ext cx="6477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最新补贴政策、产业规划、指导意见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24250" y="5833809"/>
            <a:ext cx="7196667" cy="825500"/>
          </a:xfrm>
          <a:custGeom>
            <a:avLst/>
            <a:gdLst/>
            <a:ahLst/>
            <a:cxnLst/>
            <a:rect l="l" t="t" r="r" b="b"/>
            <a:pathLst>
              <a:path w="7196667" h="825500">
                <a:moveTo>
                  <a:pt x="84663" y="0"/>
                </a:moveTo>
                <a:lnTo>
                  <a:pt x="7112003" y="0"/>
                </a:lnTo>
                <a:cubicBezTo>
                  <a:pt x="7158762" y="0"/>
                  <a:pt x="7196667" y="37905"/>
                  <a:pt x="7196667" y="84663"/>
                </a:cubicBezTo>
                <a:lnTo>
                  <a:pt x="7196667" y="740837"/>
                </a:lnTo>
                <a:cubicBezTo>
                  <a:pt x="7196667" y="787595"/>
                  <a:pt x="7158762" y="825500"/>
                  <a:pt x="7112003" y="825500"/>
                </a:cubicBezTo>
                <a:lnTo>
                  <a:pt x="84663" y="825500"/>
                </a:lnTo>
                <a:cubicBezTo>
                  <a:pt x="37905" y="825500"/>
                  <a:pt x="0" y="787595"/>
                  <a:pt x="0" y="7408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551231" y="5960789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70" name="Shape 68"/>
          <p:cNvSpPr/>
          <p:nvPr/>
        </p:nvSpPr>
        <p:spPr>
          <a:xfrm>
            <a:off x="8699371" y="6087768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71" name="Text 69"/>
          <p:cNvSpPr/>
          <p:nvPr/>
        </p:nvSpPr>
        <p:spPr>
          <a:xfrm>
            <a:off x="9101505" y="5960789"/>
            <a:ext cx="6487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技术趋势分析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101505" y="6299383"/>
            <a:ext cx="6477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智能化种植、新品种推广、防控技术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423293" y="7181867"/>
            <a:ext cx="15409344" cy="1912173"/>
          </a:xfrm>
          <a:custGeom>
            <a:avLst/>
            <a:gdLst/>
            <a:ahLst/>
            <a:cxnLst/>
            <a:rect l="l" t="t" r="r" b="b"/>
            <a:pathLst>
              <a:path w="7620000" h="4868333">
                <a:moveTo>
                  <a:pt x="127015" y="0"/>
                </a:moveTo>
                <a:lnTo>
                  <a:pt x="7492985" y="0"/>
                </a:lnTo>
                <a:cubicBezTo>
                  <a:pt x="7563134" y="0"/>
                  <a:pt x="7620000" y="56866"/>
                  <a:pt x="7620000" y="127015"/>
                </a:cubicBezTo>
                <a:lnTo>
                  <a:pt x="7620000" y="4741319"/>
                </a:lnTo>
                <a:cubicBezTo>
                  <a:pt x="7620000" y="4811467"/>
                  <a:pt x="7563134" y="4868333"/>
                  <a:pt x="7492985" y="4868333"/>
                </a:cubicBezTo>
                <a:lnTo>
                  <a:pt x="127015" y="4868333"/>
                </a:lnTo>
                <a:cubicBezTo>
                  <a:pt x="56866" y="4868333"/>
                  <a:pt x="0" y="4811467"/>
                  <a:pt x="0" y="4741319"/>
                </a:cubicBezTo>
                <a:lnTo>
                  <a:pt x="0" y="127015"/>
                </a:lnTo>
                <a:cubicBezTo>
                  <a:pt x="0" y="56913"/>
                  <a:pt x="56913" y="0"/>
                  <a:pt x="1270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759747" y="7404029"/>
            <a:ext cx="277813" cy="317500"/>
          </a:xfrm>
          <a:custGeom>
            <a:avLst/>
            <a:gdLst/>
            <a:ahLst/>
            <a:cxnLst/>
            <a:rect l="l" t="t" r="r" b="b"/>
            <a:pathLst>
              <a:path w="277813" h="317500">
                <a:moveTo>
                  <a:pt x="277813" y="127620"/>
                </a:moveTo>
                <a:cubicBezTo>
                  <a:pt x="268635" y="133697"/>
                  <a:pt x="258093" y="138596"/>
                  <a:pt x="247117" y="142503"/>
                </a:cubicBezTo>
                <a:cubicBezTo>
                  <a:pt x="217971" y="152921"/>
                  <a:pt x="179710" y="158750"/>
                  <a:pt x="138906" y="158750"/>
                </a:cubicBezTo>
                <a:cubicBezTo>
                  <a:pt x="98103" y="158750"/>
                  <a:pt x="59779" y="152859"/>
                  <a:pt x="30696" y="142503"/>
                </a:cubicBezTo>
                <a:cubicBezTo>
                  <a:pt x="19782" y="138596"/>
                  <a:pt x="9178" y="133697"/>
                  <a:pt x="0" y="127620"/>
                </a:cubicBezTo>
                <a:lnTo>
                  <a:pt x="0" y="178594"/>
                </a:lnTo>
                <a:cubicBezTo>
                  <a:pt x="0" y="206003"/>
                  <a:pt x="62198" y="228203"/>
                  <a:pt x="138906" y="228203"/>
                </a:cubicBezTo>
                <a:cubicBezTo>
                  <a:pt x="215615" y="228203"/>
                  <a:pt x="277813" y="206003"/>
                  <a:pt x="277813" y="178594"/>
                </a:cubicBezTo>
                <a:lnTo>
                  <a:pt x="277813" y="127620"/>
                </a:lnTo>
                <a:close/>
                <a:moveTo>
                  <a:pt x="277813" y="79375"/>
                </a:moveTo>
                <a:lnTo>
                  <a:pt x="277813" y="49609"/>
                </a:lnTo>
                <a:cubicBezTo>
                  <a:pt x="277813" y="22200"/>
                  <a:pt x="215615" y="0"/>
                  <a:pt x="138906" y="0"/>
                </a:cubicBezTo>
                <a:cubicBezTo>
                  <a:pt x="62198" y="0"/>
                  <a:pt x="0" y="22200"/>
                  <a:pt x="0" y="49609"/>
                </a:cubicBezTo>
                <a:lnTo>
                  <a:pt x="0" y="79375"/>
                </a:lnTo>
                <a:cubicBezTo>
                  <a:pt x="0" y="106784"/>
                  <a:pt x="62198" y="128984"/>
                  <a:pt x="138906" y="128984"/>
                </a:cubicBezTo>
                <a:cubicBezTo>
                  <a:pt x="215615" y="128984"/>
                  <a:pt x="277813" y="106784"/>
                  <a:pt x="277813" y="79375"/>
                </a:cubicBezTo>
                <a:close/>
                <a:moveTo>
                  <a:pt x="247117" y="241722"/>
                </a:moveTo>
                <a:cubicBezTo>
                  <a:pt x="218033" y="252078"/>
                  <a:pt x="179772" y="257969"/>
                  <a:pt x="138906" y="257969"/>
                </a:cubicBezTo>
                <a:cubicBezTo>
                  <a:pt x="98041" y="257969"/>
                  <a:pt x="59779" y="252078"/>
                  <a:pt x="30696" y="241722"/>
                </a:cubicBezTo>
                <a:cubicBezTo>
                  <a:pt x="19782" y="237815"/>
                  <a:pt x="9178" y="232916"/>
                  <a:pt x="0" y="226839"/>
                </a:cubicBezTo>
                <a:lnTo>
                  <a:pt x="0" y="267891"/>
                </a:lnTo>
                <a:cubicBezTo>
                  <a:pt x="0" y="295300"/>
                  <a:pt x="62198" y="317500"/>
                  <a:pt x="138906" y="317500"/>
                </a:cubicBezTo>
                <a:cubicBezTo>
                  <a:pt x="215615" y="317500"/>
                  <a:pt x="277813" y="295300"/>
                  <a:pt x="277813" y="267891"/>
                </a:cubicBezTo>
                <a:lnTo>
                  <a:pt x="277813" y="226839"/>
                </a:lnTo>
                <a:cubicBezTo>
                  <a:pt x="268635" y="232916"/>
                  <a:pt x="258093" y="237815"/>
                  <a:pt x="247117" y="241722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5" name="Text 93"/>
          <p:cNvSpPr/>
          <p:nvPr/>
        </p:nvSpPr>
        <p:spPr>
          <a:xfrm>
            <a:off x="1221426" y="7393476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完整数据管理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697570" y="8183397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7" name="Shape 95"/>
          <p:cNvSpPr/>
          <p:nvPr/>
        </p:nvSpPr>
        <p:spPr>
          <a:xfrm>
            <a:off x="771677" y="8268028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95250" y="10583"/>
                </a:moveTo>
                <a:cubicBezTo>
                  <a:pt x="68527" y="10583"/>
                  <a:pt x="47129" y="22754"/>
                  <a:pt x="31552" y="37240"/>
                </a:cubicBezTo>
                <a:cubicBezTo>
                  <a:pt x="16073" y="51627"/>
                  <a:pt x="5722" y="68792"/>
                  <a:pt x="794" y="80599"/>
                </a:cubicBezTo>
                <a:cubicBezTo>
                  <a:pt x="-298" y="83211"/>
                  <a:pt x="-298" y="86122"/>
                  <a:pt x="794" y="88735"/>
                </a:cubicBezTo>
                <a:cubicBezTo>
                  <a:pt x="5722" y="100542"/>
                  <a:pt x="16073" y="117740"/>
                  <a:pt x="31552" y="132093"/>
                </a:cubicBezTo>
                <a:cubicBezTo>
                  <a:pt x="47129" y="146546"/>
                  <a:pt x="68527" y="158750"/>
                  <a:pt x="95250" y="158750"/>
                </a:cubicBezTo>
                <a:cubicBezTo>
                  <a:pt x="121973" y="158750"/>
                  <a:pt x="143371" y="146579"/>
                  <a:pt x="158948" y="132093"/>
                </a:cubicBezTo>
                <a:cubicBezTo>
                  <a:pt x="174427" y="117707"/>
                  <a:pt x="184778" y="100542"/>
                  <a:pt x="189706" y="88735"/>
                </a:cubicBezTo>
                <a:cubicBezTo>
                  <a:pt x="190798" y="86122"/>
                  <a:pt x="190798" y="83211"/>
                  <a:pt x="189706" y="80599"/>
                </a:cubicBezTo>
                <a:cubicBezTo>
                  <a:pt x="184778" y="68792"/>
                  <a:pt x="174427" y="51594"/>
                  <a:pt x="158948" y="37240"/>
                </a:cubicBezTo>
                <a:cubicBezTo>
                  <a:pt x="143371" y="22787"/>
                  <a:pt x="121973" y="10583"/>
                  <a:pt x="95250" y="10583"/>
                </a:cubicBezTo>
                <a:close/>
                <a:moveTo>
                  <a:pt x="47625" y="84667"/>
                </a:moveTo>
                <a:cubicBezTo>
                  <a:pt x="47625" y="58382"/>
                  <a:pt x="68965" y="37042"/>
                  <a:pt x="95250" y="37042"/>
                </a:cubicBezTo>
                <a:cubicBezTo>
                  <a:pt x="121535" y="37042"/>
                  <a:pt x="142875" y="58382"/>
                  <a:pt x="142875" y="84667"/>
                </a:cubicBezTo>
                <a:cubicBezTo>
                  <a:pt x="142875" y="110952"/>
                  <a:pt x="121535" y="132292"/>
                  <a:pt x="95250" y="132292"/>
                </a:cubicBezTo>
                <a:cubicBezTo>
                  <a:pt x="68965" y="132292"/>
                  <a:pt x="47625" y="110952"/>
                  <a:pt x="47625" y="84667"/>
                </a:cubicBezTo>
                <a:close/>
                <a:moveTo>
                  <a:pt x="95250" y="63500"/>
                </a:moveTo>
                <a:cubicBezTo>
                  <a:pt x="95250" y="75175"/>
                  <a:pt x="85758" y="84667"/>
                  <a:pt x="74083" y="84667"/>
                </a:cubicBezTo>
                <a:cubicBezTo>
                  <a:pt x="70280" y="84667"/>
                  <a:pt x="66708" y="83674"/>
                  <a:pt x="63599" y="81889"/>
                </a:cubicBezTo>
                <a:cubicBezTo>
                  <a:pt x="63268" y="85493"/>
                  <a:pt x="63566" y="89198"/>
                  <a:pt x="64558" y="92869"/>
                </a:cubicBezTo>
                <a:cubicBezTo>
                  <a:pt x="69089" y="109802"/>
                  <a:pt x="86519" y="119856"/>
                  <a:pt x="103452" y="115325"/>
                </a:cubicBezTo>
                <a:cubicBezTo>
                  <a:pt x="120385" y="110794"/>
                  <a:pt x="130440" y="93365"/>
                  <a:pt x="125909" y="76432"/>
                </a:cubicBezTo>
                <a:cubicBezTo>
                  <a:pt x="121874" y="61317"/>
                  <a:pt x="107553" y="51693"/>
                  <a:pt x="92472" y="53016"/>
                </a:cubicBezTo>
                <a:cubicBezTo>
                  <a:pt x="94225" y="56092"/>
                  <a:pt x="95250" y="59664"/>
                  <a:pt x="95250" y="6350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98" name="Text 96"/>
          <p:cNvSpPr/>
          <p:nvPr/>
        </p:nvSpPr>
        <p:spPr>
          <a:xfrm>
            <a:off x="1163212" y="8183397"/>
            <a:ext cx="472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数据预览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1163212" y="8521991"/>
            <a:ext cx="4709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报告预览中展示所有分析数据,包括评价指标、权重、评分等。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5883379" y="8202622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01" name="Shape 99"/>
          <p:cNvSpPr/>
          <p:nvPr/>
        </p:nvSpPr>
        <p:spPr>
          <a:xfrm>
            <a:off x="5989236" y="8287253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0" y="62376"/>
                </a:moveTo>
                <a:cubicBezTo>
                  <a:pt x="0" y="27914"/>
                  <a:pt x="28443" y="0"/>
                  <a:pt x="63500" y="0"/>
                </a:cubicBezTo>
                <a:cubicBezTo>
                  <a:pt x="98557" y="0"/>
                  <a:pt x="127000" y="27914"/>
                  <a:pt x="127000" y="62376"/>
                </a:cubicBezTo>
                <a:cubicBezTo>
                  <a:pt x="127000" y="101832"/>
                  <a:pt x="87246" y="149126"/>
                  <a:pt x="70644" y="167151"/>
                </a:cubicBezTo>
                <a:cubicBezTo>
                  <a:pt x="66741" y="171384"/>
                  <a:pt x="60226" y="171384"/>
                  <a:pt x="56323" y="167151"/>
                </a:cubicBezTo>
                <a:cubicBezTo>
                  <a:pt x="39721" y="149126"/>
                  <a:pt x="-33" y="101832"/>
                  <a:pt x="-33" y="62376"/>
                </a:cubicBezTo>
                <a:close/>
                <a:moveTo>
                  <a:pt x="63500" y="84667"/>
                </a:moveTo>
                <a:cubicBezTo>
                  <a:pt x="75182" y="84667"/>
                  <a:pt x="84667" y="75182"/>
                  <a:pt x="84667" y="63500"/>
                </a:cubicBezTo>
                <a:cubicBezTo>
                  <a:pt x="84667" y="51818"/>
                  <a:pt x="75182" y="42333"/>
                  <a:pt x="63500" y="42333"/>
                </a:cubicBezTo>
                <a:cubicBezTo>
                  <a:pt x="51818" y="42333"/>
                  <a:pt x="42333" y="51818"/>
                  <a:pt x="42333" y="63500"/>
                </a:cubicBezTo>
                <a:cubicBezTo>
                  <a:pt x="42333" y="75182"/>
                  <a:pt x="51818" y="84667"/>
                  <a:pt x="63500" y="84667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102" name="Text 100"/>
          <p:cNvSpPr/>
          <p:nvPr/>
        </p:nvSpPr>
        <p:spPr>
          <a:xfrm>
            <a:off x="6349021" y="8202622"/>
            <a:ext cx="4222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县市详情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6349021" y="8541216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14个地级市</a:t>
            </a:r>
            <a:r>
              <a:rPr lang="en-US" sz="1333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的详细评分和适宜性等级,覆盖湖南省全域。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11364349" y="818351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459623" y="8268144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84667" y="10583"/>
                </a:moveTo>
                <a:cubicBezTo>
                  <a:pt x="84667" y="4729"/>
                  <a:pt x="79937" y="0"/>
                  <a:pt x="74083" y="0"/>
                </a:cubicBezTo>
                <a:cubicBezTo>
                  <a:pt x="68229" y="0"/>
                  <a:pt x="63500" y="4729"/>
                  <a:pt x="63500" y="10583"/>
                </a:cubicBezTo>
                <a:lnTo>
                  <a:pt x="63500" y="80268"/>
                </a:lnTo>
                <a:lnTo>
                  <a:pt x="49808" y="66576"/>
                </a:lnTo>
                <a:cubicBezTo>
                  <a:pt x="45674" y="62442"/>
                  <a:pt x="38960" y="62442"/>
                  <a:pt x="34826" y="66576"/>
                </a:cubicBezTo>
                <a:cubicBezTo>
                  <a:pt x="30692" y="70710"/>
                  <a:pt x="30692" y="77424"/>
                  <a:pt x="34826" y="81558"/>
                </a:cubicBezTo>
                <a:lnTo>
                  <a:pt x="66576" y="113308"/>
                </a:lnTo>
                <a:cubicBezTo>
                  <a:pt x="70710" y="117442"/>
                  <a:pt x="77424" y="117442"/>
                  <a:pt x="81558" y="113308"/>
                </a:cubicBezTo>
                <a:lnTo>
                  <a:pt x="113308" y="81558"/>
                </a:lnTo>
                <a:cubicBezTo>
                  <a:pt x="117442" y="77424"/>
                  <a:pt x="117442" y="70710"/>
                  <a:pt x="113308" y="66576"/>
                </a:cubicBezTo>
                <a:cubicBezTo>
                  <a:pt x="109174" y="62442"/>
                  <a:pt x="102460" y="62442"/>
                  <a:pt x="98326" y="66576"/>
                </a:cubicBezTo>
                <a:lnTo>
                  <a:pt x="84667" y="80268"/>
                </a:lnTo>
                <a:lnTo>
                  <a:pt x="84667" y="10583"/>
                </a:lnTo>
                <a:close/>
                <a:moveTo>
                  <a:pt x="21167" y="105833"/>
                </a:moveTo>
                <a:cubicBezTo>
                  <a:pt x="9492" y="105833"/>
                  <a:pt x="0" y="115325"/>
                  <a:pt x="0" y="127000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27000"/>
                </a:lnTo>
                <a:cubicBezTo>
                  <a:pt x="148167" y="115325"/>
                  <a:pt x="138675" y="105833"/>
                  <a:pt x="127000" y="105833"/>
                </a:cubicBezTo>
                <a:lnTo>
                  <a:pt x="111489" y="105833"/>
                </a:lnTo>
                <a:lnTo>
                  <a:pt x="92770" y="124553"/>
                </a:lnTo>
                <a:cubicBezTo>
                  <a:pt x="82451" y="134871"/>
                  <a:pt x="65683" y="134871"/>
                  <a:pt x="55364" y="124553"/>
                </a:cubicBezTo>
                <a:lnTo>
                  <a:pt x="36678" y="105833"/>
                </a:lnTo>
                <a:lnTo>
                  <a:pt x="21167" y="105833"/>
                </a:lnTo>
                <a:close/>
                <a:moveTo>
                  <a:pt x="121708" y="124354"/>
                </a:moveTo>
                <a:cubicBezTo>
                  <a:pt x="126089" y="124354"/>
                  <a:pt x="129646" y="127911"/>
                  <a:pt x="129646" y="132292"/>
                </a:cubicBezTo>
                <a:cubicBezTo>
                  <a:pt x="129646" y="136672"/>
                  <a:pt x="126089" y="140229"/>
                  <a:pt x="121708" y="140229"/>
                </a:cubicBezTo>
                <a:cubicBezTo>
                  <a:pt x="117328" y="140229"/>
                  <a:pt x="113771" y="136672"/>
                  <a:pt x="113771" y="132292"/>
                </a:cubicBezTo>
                <a:cubicBezTo>
                  <a:pt x="113771" y="127911"/>
                  <a:pt x="117328" y="124354"/>
                  <a:pt x="121708" y="124354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106" name="Text 104"/>
          <p:cNvSpPr/>
          <p:nvPr/>
        </p:nvSpPr>
        <p:spPr>
          <a:xfrm>
            <a:off x="11829991" y="8183513"/>
            <a:ext cx="3704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数据导出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11829991" y="8522108"/>
            <a:ext cx="3693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纯文本格式完整报告下载,便于后续分析和存档。</a:t>
            </a:r>
            <a:endParaRPr lang="en-US" sz="1600" dirty="0"/>
          </a:p>
        </p:txBody>
      </p:sp>
      <p:pic>
        <p:nvPicPr>
          <p:cNvPr id="110" name="图片 109" descr="背景图案&#10;&#10;AI 生成的内容可能不正确。">
            <a:extLst>
              <a:ext uri="{FF2B5EF4-FFF2-40B4-BE49-F238E27FC236}">
                <a16:creationId xmlns:a16="http://schemas.microsoft.com/office/drawing/2014/main" id="{3B1CEEBB-1563-F644-F14F-CA52BE99E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629" y="2564470"/>
            <a:ext cx="5913233" cy="277559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47" grpId="0" animBg="1"/>
      <p:bldP spid="48" grpId="0" animBg="1"/>
      <p:bldP spid="52" grpId="0" animBg="1"/>
      <p:bldP spid="56" grpId="0" animBg="1"/>
      <p:bldP spid="57" grpId="0" animBg="1"/>
      <p:bldP spid="61" grpId="0" animBg="1"/>
      <p:bldP spid="62" grpId="0" animBg="1"/>
      <p:bldP spid="66" grpId="0" animBg="1"/>
      <p:bldP spid="67" grpId="0" animBg="1"/>
      <p:bldP spid="71" grpId="0" animBg="1"/>
      <p:bldP spid="72" grpId="0" animBg="1"/>
      <p:bldP spid="95" grpId="0" animBg="1"/>
      <p:bldP spid="98" grpId="0" animBg="1"/>
      <p:bldP spid="99" grpId="0" animBg="1"/>
      <p:bldP spid="102" grpId="0" animBg="1"/>
      <p:bldP spid="103" grpId="0" animBg="1"/>
      <p:bldP spid="106" grpId="0" animBg="1"/>
      <p:bldP spid="10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73567" y="423295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农业适宜性评价模型设计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73567" y="1058266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442653" y="1312164"/>
            <a:ext cx="5550902" cy="7936612"/>
          </a:xfrm>
          <a:custGeom>
            <a:avLst/>
            <a:gdLst/>
            <a:ahLst/>
            <a:cxnLst/>
            <a:rect l="l" t="t" r="r" b="b"/>
            <a:pathLst>
              <a:path w="7575860" h="8625417">
                <a:moveTo>
                  <a:pt x="38720" y="0"/>
                </a:moveTo>
                <a:lnTo>
                  <a:pt x="7448888" y="0"/>
                </a:lnTo>
                <a:cubicBezTo>
                  <a:pt x="7519013" y="0"/>
                  <a:pt x="7575860" y="56847"/>
                  <a:pt x="7575860" y="126971"/>
                </a:cubicBezTo>
                <a:lnTo>
                  <a:pt x="7575860" y="8498445"/>
                </a:lnTo>
                <a:cubicBezTo>
                  <a:pt x="7575860" y="8568570"/>
                  <a:pt x="7519013" y="8625417"/>
                  <a:pt x="7448888" y="8625417"/>
                </a:cubicBezTo>
                <a:lnTo>
                  <a:pt x="38720" y="8625417"/>
                </a:lnTo>
                <a:cubicBezTo>
                  <a:pt x="17335" y="8625417"/>
                  <a:pt x="0" y="8608081"/>
                  <a:pt x="0" y="8586697"/>
                </a:cubicBez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2653" y="1312163"/>
            <a:ext cx="38720" cy="8625417"/>
          </a:xfrm>
          <a:custGeom>
            <a:avLst/>
            <a:gdLst/>
            <a:ahLst/>
            <a:cxnLst/>
            <a:rect l="l" t="t" r="r" b="b"/>
            <a:pathLst>
              <a:path w="38720" h="8625417">
                <a:moveTo>
                  <a:pt x="38720" y="0"/>
                </a:moveTo>
                <a:lnTo>
                  <a:pt x="38720" y="0"/>
                </a:lnTo>
                <a:lnTo>
                  <a:pt x="38720" y="8625417"/>
                </a:lnTo>
                <a:lnTo>
                  <a:pt x="38720" y="8625417"/>
                </a:lnTo>
                <a:cubicBezTo>
                  <a:pt x="17335" y="8625417"/>
                  <a:pt x="0" y="8608081"/>
                  <a:pt x="0" y="8586697"/>
                </a:cubicBez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8" name="Shape 6"/>
          <p:cNvSpPr/>
          <p:nvPr/>
        </p:nvSpPr>
        <p:spPr>
          <a:xfrm>
            <a:off x="705375" y="156605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" name="Text 7"/>
          <p:cNvSpPr/>
          <p:nvPr/>
        </p:nvSpPr>
        <p:spPr>
          <a:xfrm>
            <a:off x="1118093" y="1523775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层次结构模型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3625" y="1904569"/>
            <a:ext cx="4861715" cy="2970160"/>
          </a:xfrm>
          <a:custGeom>
            <a:avLst/>
            <a:gdLst/>
            <a:ahLst/>
            <a:cxnLst/>
            <a:rect l="l" t="t" r="r" b="b"/>
            <a:pathLst>
              <a:path w="7133167" h="846667">
                <a:moveTo>
                  <a:pt x="84667" y="0"/>
                </a:moveTo>
                <a:lnTo>
                  <a:pt x="7048500" y="0"/>
                </a:lnTo>
                <a:cubicBezTo>
                  <a:pt x="7095260" y="0"/>
                  <a:pt x="7133167" y="37907"/>
                  <a:pt x="7133167" y="84667"/>
                </a:cubicBezTo>
                <a:lnTo>
                  <a:pt x="7133167" y="762000"/>
                </a:lnTo>
                <a:cubicBezTo>
                  <a:pt x="7133167" y="808760"/>
                  <a:pt x="7095260" y="846667"/>
                  <a:pt x="7048500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821773" y="291378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48167" y="84667"/>
                </a:moveTo>
                <a:cubicBezTo>
                  <a:pt x="148167" y="49620"/>
                  <a:pt x="119713" y="21167"/>
                  <a:pt x="84667" y="21167"/>
                </a:cubicBezTo>
                <a:cubicBezTo>
                  <a:pt x="49620" y="21167"/>
                  <a:pt x="21167" y="49620"/>
                  <a:pt x="21167" y="84667"/>
                </a:cubicBezTo>
                <a:cubicBezTo>
                  <a:pt x="21167" y="119713"/>
                  <a:pt x="49620" y="148167"/>
                  <a:pt x="84667" y="148167"/>
                </a:cubicBezTo>
                <a:cubicBezTo>
                  <a:pt x="119713" y="148167"/>
                  <a:pt x="148167" y="119713"/>
                  <a:pt x="148167" y="84667"/>
                </a:cubicBezTo>
                <a:close/>
                <a:moveTo>
                  <a:pt x="0" y="84667"/>
                </a:moveTo>
                <a:cubicBezTo>
                  <a:pt x="0" y="37938"/>
                  <a:pt x="37938" y="0"/>
                  <a:pt x="84667" y="0"/>
                </a:cubicBez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lose/>
                <a:moveTo>
                  <a:pt x="84667" y="111125"/>
                </a:moveTo>
                <a:cubicBezTo>
                  <a:pt x="99269" y="111125"/>
                  <a:pt x="111125" y="99269"/>
                  <a:pt x="111125" y="84667"/>
                </a:cubicBezTo>
                <a:cubicBezTo>
                  <a:pt x="111125" y="70064"/>
                  <a:pt x="99269" y="58208"/>
                  <a:pt x="84667" y="58208"/>
                </a:cubicBezTo>
                <a:cubicBezTo>
                  <a:pt x="70064" y="58208"/>
                  <a:pt x="58208" y="70064"/>
                  <a:pt x="58208" y="84667"/>
                </a:cubicBezTo>
                <a:cubicBezTo>
                  <a:pt x="58208" y="99269"/>
                  <a:pt x="70064" y="111125"/>
                  <a:pt x="84667" y="111125"/>
                </a:cubicBezTo>
                <a:close/>
                <a:moveTo>
                  <a:pt x="84667" y="37042"/>
                </a:moveTo>
                <a:cubicBezTo>
                  <a:pt x="110952" y="37042"/>
                  <a:pt x="132292" y="58382"/>
                  <a:pt x="132292" y="84667"/>
                </a:cubicBezTo>
                <a:cubicBezTo>
                  <a:pt x="132292" y="110952"/>
                  <a:pt x="110952" y="132292"/>
                  <a:pt x="84667" y="132292"/>
                </a:cubicBezTo>
                <a:cubicBezTo>
                  <a:pt x="58382" y="132292"/>
                  <a:pt x="37042" y="110952"/>
                  <a:pt x="37042" y="84667"/>
                </a:cubicBezTo>
                <a:cubicBezTo>
                  <a:pt x="37042" y="58382"/>
                  <a:pt x="58382" y="37042"/>
                  <a:pt x="84667" y="37042"/>
                </a:cubicBezTo>
                <a:close/>
                <a:moveTo>
                  <a:pt x="74083" y="84667"/>
                </a:moveTo>
                <a:cubicBezTo>
                  <a:pt x="74083" y="78826"/>
                  <a:pt x="78826" y="74083"/>
                  <a:pt x="84667" y="74083"/>
                </a:cubicBezTo>
                <a:cubicBezTo>
                  <a:pt x="90508" y="74083"/>
                  <a:pt x="95250" y="78826"/>
                  <a:pt x="95250" y="84667"/>
                </a:cubicBezTo>
                <a:cubicBezTo>
                  <a:pt x="95250" y="90508"/>
                  <a:pt x="90508" y="95250"/>
                  <a:pt x="84667" y="95250"/>
                </a:cubicBezTo>
                <a:cubicBezTo>
                  <a:pt x="78826" y="95250"/>
                  <a:pt x="74083" y="90508"/>
                  <a:pt x="74083" y="84667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6851" y="2850322"/>
            <a:ext cx="846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目标层 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0607" y="3188916"/>
            <a:ext cx="696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作物种植适宜性综合评价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2230" y="5130943"/>
            <a:ext cx="1699959" cy="694542"/>
          </a:xfrm>
          <a:custGeom>
            <a:avLst/>
            <a:gdLst/>
            <a:ahLst/>
            <a:cxnLst/>
            <a:rect l="l" t="t" r="r" b="b"/>
            <a:pathLst>
              <a:path w="1699959" h="694542">
                <a:moveTo>
                  <a:pt x="42332" y="0"/>
                </a:moveTo>
                <a:lnTo>
                  <a:pt x="1657626" y="0"/>
                </a:lnTo>
                <a:cubicBezTo>
                  <a:pt x="1681006" y="0"/>
                  <a:pt x="1699959" y="18953"/>
                  <a:pt x="1699959" y="42332"/>
                </a:cubicBezTo>
                <a:lnTo>
                  <a:pt x="1699959" y="652210"/>
                </a:lnTo>
                <a:cubicBezTo>
                  <a:pt x="1699959" y="675589"/>
                  <a:pt x="1681006" y="694542"/>
                  <a:pt x="1657626" y="694542"/>
                </a:cubicBezTo>
                <a:lnTo>
                  <a:pt x="42332" y="694542"/>
                </a:lnTo>
                <a:cubicBezTo>
                  <a:pt x="18953" y="694542"/>
                  <a:pt x="0" y="675589"/>
                  <a:pt x="0" y="652210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 w="20650">
            <a:solidFill>
              <a:srgbClr val="C3A1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132" y="5224177"/>
            <a:ext cx="159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准则层 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8424" y="5520423"/>
            <a:ext cx="1587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地形地貌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87594" y="5130943"/>
            <a:ext cx="1699959" cy="694542"/>
          </a:xfrm>
          <a:custGeom>
            <a:avLst/>
            <a:gdLst/>
            <a:ahLst/>
            <a:cxnLst/>
            <a:rect l="l" t="t" r="r" b="b"/>
            <a:pathLst>
              <a:path w="1699959" h="694542">
                <a:moveTo>
                  <a:pt x="42332" y="0"/>
                </a:moveTo>
                <a:lnTo>
                  <a:pt x="1657626" y="0"/>
                </a:lnTo>
                <a:cubicBezTo>
                  <a:pt x="1681006" y="0"/>
                  <a:pt x="1699959" y="18953"/>
                  <a:pt x="1699959" y="42332"/>
                </a:cubicBezTo>
                <a:lnTo>
                  <a:pt x="1699959" y="652210"/>
                </a:lnTo>
                <a:cubicBezTo>
                  <a:pt x="1699959" y="675589"/>
                  <a:pt x="1681006" y="694542"/>
                  <a:pt x="1657626" y="694542"/>
                </a:cubicBezTo>
                <a:lnTo>
                  <a:pt x="42332" y="694542"/>
                </a:lnTo>
                <a:cubicBezTo>
                  <a:pt x="18953" y="694542"/>
                  <a:pt x="0" y="675589"/>
                  <a:pt x="0" y="652210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 w="20650">
            <a:solidFill>
              <a:srgbClr val="C3A1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8497" y="5224177"/>
            <a:ext cx="159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准则层 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43789" y="5520423"/>
            <a:ext cx="1587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土壤环境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0724" y="6056558"/>
            <a:ext cx="1699959" cy="694542"/>
          </a:xfrm>
          <a:custGeom>
            <a:avLst/>
            <a:gdLst/>
            <a:ahLst/>
            <a:cxnLst/>
            <a:rect l="l" t="t" r="r" b="b"/>
            <a:pathLst>
              <a:path w="1699959" h="694542">
                <a:moveTo>
                  <a:pt x="42332" y="0"/>
                </a:moveTo>
                <a:lnTo>
                  <a:pt x="1657626" y="0"/>
                </a:lnTo>
                <a:cubicBezTo>
                  <a:pt x="1681006" y="0"/>
                  <a:pt x="1699959" y="18953"/>
                  <a:pt x="1699959" y="42332"/>
                </a:cubicBezTo>
                <a:lnTo>
                  <a:pt x="1699959" y="652210"/>
                </a:lnTo>
                <a:cubicBezTo>
                  <a:pt x="1699959" y="675589"/>
                  <a:pt x="1681006" y="694542"/>
                  <a:pt x="1657626" y="694542"/>
                </a:cubicBezTo>
                <a:lnTo>
                  <a:pt x="42332" y="694542"/>
                </a:lnTo>
                <a:cubicBezTo>
                  <a:pt x="18953" y="694542"/>
                  <a:pt x="0" y="675589"/>
                  <a:pt x="0" y="652210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 w="20650">
            <a:solidFill>
              <a:srgbClr val="C3A1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41" y="6158653"/>
            <a:ext cx="159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准则层 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3133" y="6454899"/>
            <a:ext cx="1587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气候条件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28579" y="6056558"/>
            <a:ext cx="1699959" cy="694542"/>
          </a:xfrm>
          <a:custGeom>
            <a:avLst/>
            <a:gdLst/>
            <a:ahLst/>
            <a:cxnLst/>
            <a:rect l="l" t="t" r="r" b="b"/>
            <a:pathLst>
              <a:path w="1699959" h="694542">
                <a:moveTo>
                  <a:pt x="42332" y="0"/>
                </a:moveTo>
                <a:lnTo>
                  <a:pt x="1657626" y="0"/>
                </a:lnTo>
                <a:cubicBezTo>
                  <a:pt x="1681006" y="0"/>
                  <a:pt x="1699959" y="18953"/>
                  <a:pt x="1699959" y="42332"/>
                </a:cubicBezTo>
                <a:lnTo>
                  <a:pt x="1699959" y="652210"/>
                </a:lnTo>
                <a:cubicBezTo>
                  <a:pt x="1699959" y="675589"/>
                  <a:pt x="1681006" y="694542"/>
                  <a:pt x="1657626" y="694542"/>
                </a:cubicBezTo>
                <a:lnTo>
                  <a:pt x="42332" y="694542"/>
                </a:lnTo>
                <a:cubicBezTo>
                  <a:pt x="18953" y="694542"/>
                  <a:pt x="0" y="675589"/>
                  <a:pt x="0" y="652210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 w="20650">
            <a:solidFill>
              <a:srgbClr val="C3A1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33206" y="6158653"/>
            <a:ext cx="159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准则层 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538498" y="6454899"/>
            <a:ext cx="1587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水文状况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005" y="6819504"/>
            <a:ext cx="4969335" cy="2159177"/>
          </a:xfrm>
          <a:custGeom>
            <a:avLst/>
            <a:gdLst/>
            <a:ahLst/>
            <a:cxnLst/>
            <a:rect l="l" t="t" r="r" b="b"/>
            <a:pathLst>
              <a:path w="7133167" h="1608667">
                <a:moveTo>
                  <a:pt x="84664" y="0"/>
                </a:moveTo>
                <a:lnTo>
                  <a:pt x="7048503" y="0"/>
                </a:lnTo>
                <a:cubicBezTo>
                  <a:pt x="7095261" y="0"/>
                  <a:pt x="7133167" y="37905"/>
                  <a:pt x="7133167" y="84664"/>
                </a:cubicBezTo>
                <a:lnTo>
                  <a:pt x="7133167" y="1524003"/>
                </a:lnTo>
                <a:cubicBezTo>
                  <a:pt x="7133167" y="1570761"/>
                  <a:pt x="7095261" y="1608667"/>
                  <a:pt x="7048503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1773" y="688736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5875" y="47625"/>
                </a:moveTo>
                <a:cubicBezTo>
                  <a:pt x="24637" y="47625"/>
                  <a:pt x="31750" y="40512"/>
                  <a:pt x="31750" y="31750"/>
                </a:cubicBezTo>
                <a:cubicBezTo>
                  <a:pt x="31750" y="22988"/>
                  <a:pt x="24637" y="15875"/>
                  <a:pt x="15875" y="15875"/>
                </a:cubicBezTo>
                <a:cubicBezTo>
                  <a:pt x="7113" y="15875"/>
                  <a:pt x="0" y="22988"/>
                  <a:pt x="0" y="31750"/>
                </a:cubicBezTo>
                <a:cubicBezTo>
                  <a:pt x="0" y="40512"/>
                  <a:pt x="7113" y="47625"/>
                  <a:pt x="15875" y="47625"/>
                </a:cubicBezTo>
                <a:close/>
                <a:moveTo>
                  <a:pt x="63500" y="21167"/>
                </a:moveTo>
                <a:cubicBezTo>
                  <a:pt x="57646" y="21167"/>
                  <a:pt x="52917" y="25896"/>
                  <a:pt x="52917" y="31750"/>
                </a:cubicBezTo>
                <a:cubicBezTo>
                  <a:pt x="52917" y="37604"/>
                  <a:pt x="57646" y="42333"/>
                  <a:pt x="63500" y="42333"/>
                </a:cubicBezTo>
                <a:lnTo>
                  <a:pt x="158750" y="42333"/>
                </a:lnTo>
                <a:cubicBezTo>
                  <a:pt x="164604" y="42333"/>
                  <a:pt x="169333" y="37604"/>
                  <a:pt x="169333" y="31750"/>
                </a:cubicBezTo>
                <a:cubicBezTo>
                  <a:pt x="169333" y="25896"/>
                  <a:pt x="164604" y="21167"/>
                  <a:pt x="158750" y="21167"/>
                </a:cubicBezTo>
                <a:lnTo>
                  <a:pt x="63500" y="21167"/>
                </a:lnTo>
                <a:close/>
                <a:moveTo>
                  <a:pt x="63500" y="74083"/>
                </a:moveTo>
                <a:cubicBezTo>
                  <a:pt x="57646" y="74083"/>
                  <a:pt x="52917" y="78813"/>
                  <a:pt x="52917" y="84667"/>
                </a:cubicBezTo>
                <a:cubicBezTo>
                  <a:pt x="52917" y="90521"/>
                  <a:pt x="57646" y="95250"/>
                  <a:pt x="63500" y="95250"/>
                </a:cubicBezTo>
                <a:lnTo>
                  <a:pt x="158750" y="95250"/>
                </a:lnTo>
                <a:cubicBezTo>
                  <a:pt x="164604" y="95250"/>
                  <a:pt x="169333" y="90521"/>
                  <a:pt x="169333" y="84667"/>
                </a:cubicBezTo>
                <a:cubicBezTo>
                  <a:pt x="169333" y="78813"/>
                  <a:pt x="164604" y="74083"/>
                  <a:pt x="158750" y="74083"/>
                </a:cubicBezTo>
                <a:lnTo>
                  <a:pt x="63500" y="74083"/>
                </a:lnTo>
                <a:close/>
                <a:moveTo>
                  <a:pt x="63500" y="127000"/>
                </a:moveTo>
                <a:cubicBezTo>
                  <a:pt x="57646" y="127000"/>
                  <a:pt x="52917" y="131729"/>
                  <a:pt x="52917" y="137583"/>
                </a:cubicBezTo>
                <a:cubicBezTo>
                  <a:pt x="52917" y="143437"/>
                  <a:pt x="57646" y="148167"/>
                  <a:pt x="63500" y="148167"/>
                </a:cubicBezTo>
                <a:lnTo>
                  <a:pt x="158750" y="148167"/>
                </a:lnTo>
                <a:cubicBezTo>
                  <a:pt x="164604" y="148167"/>
                  <a:pt x="169333" y="143437"/>
                  <a:pt x="169333" y="137583"/>
                </a:cubicBezTo>
                <a:cubicBezTo>
                  <a:pt x="169333" y="131729"/>
                  <a:pt x="164604" y="127000"/>
                  <a:pt x="158750" y="127000"/>
                </a:cubicBezTo>
                <a:lnTo>
                  <a:pt x="63500" y="127000"/>
                </a:lnTo>
                <a:close/>
                <a:moveTo>
                  <a:pt x="15875" y="153458"/>
                </a:moveTo>
                <a:cubicBezTo>
                  <a:pt x="24637" y="153458"/>
                  <a:pt x="31750" y="146345"/>
                  <a:pt x="31750" y="137583"/>
                </a:cubicBezTo>
                <a:cubicBezTo>
                  <a:pt x="31750" y="128822"/>
                  <a:pt x="24637" y="121708"/>
                  <a:pt x="15875" y="121708"/>
                </a:cubicBezTo>
                <a:cubicBezTo>
                  <a:pt x="7113" y="121708"/>
                  <a:pt x="0" y="128822"/>
                  <a:pt x="0" y="137583"/>
                </a:cubicBezTo>
                <a:cubicBezTo>
                  <a:pt x="0" y="146345"/>
                  <a:pt x="7113" y="153458"/>
                  <a:pt x="15875" y="153458"/>
                </a:cubicBezTo>
                <a:close/>
                <a:moveTo>
                  <a:pt x="31750" y="84667"/>
                </a:moveTo>
                <a:cubicBezTo>
                  <a:pt x="31750" y="75905"/>
                  <a:pt x="24637" y="68792"/>
                  <a:pt x="15875" y="68792"/>
                </a:cubicBezTo>
                <a:cubicBezTo>
                  <a:pt x="7113" y="68792"/>
                  <a:pt x="0" y="75905"/>
                  <a:pt x="0" y="84667"/>
                </a:cubicBezTo>
                <a:cubicBezTo>
                  <a:pt x="0" y="93428"/>
                  <a:pt x="7113" y="100542"/>
                  <a:pt x="15875" y="100542"/>
                </a:cubicBezTo>
                <a:cubicBezTo>
                  <a:pt x="24637" y="100542"/>
                  <a:pt x="31750" y="93428"/>
                  <a:pt x="31750" y="84667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8" name="Text 26"/>
          <p:cNvSpPr/>
          <p:nvPr/>
        </p:nvSpPr>
        <p:spPr>
          <a:xfrm>
            <a:off x="1096851" y="6823904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指标层 C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0607" y="7894278"/>
            <a:ext cx="1693333" cy="296333"/>
          </a:xfrm>
          <a:custGeom>
            <a:avLst/>
            <a:gdLst/>
            <a:ahLst/>
            <a:cxnLst/>
            <a:rect l="l" t="t" r="r" b="b"/>
            <a:pathLst>
              <a:path w="1693333" h="296333">
                <a:moveTo>
                  <a:pt x="42334" y="0"/>
                </a:moveTo>
                <a:lnTo>
                  <a:pt x="1650999" y="0"/>
                </a:lnTo>
                <a:cubicBezTo>
                  <a:pt x="1674380" y="0"/>
                  <a:pt x="1693333" y="18954"/>
                  <a:pt x="1693333" y="42334"/>
                </a:cubicBezTo>
                <a:lnTo>
                  <a:pt x="1693333" y="253999"/>
                </a:lnTo>
                <a:cubicBezTo>
                  <a:pt x="1693333" y="277380"/>
                  <a:pt x="1674380" y="296333"/>
                  <a:pt x="1650999" y="296333"/>
                </a:cubicBezTo>
                <a:lnTo>
                  <a:pt x="42334" y="296333"/>
                </a:lnTo>
                <a:cubicBezTo>
                  <a:pt x="18954" y="296333"/>
                  <a:pt x="0" y="277380"/>
                  <a:pt x="0" y="2539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65" y="7894278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坡度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494851" y="7894278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94834" y="7505044"/>
            <a:ext cx="1693333" cy="296333"/>
          </a:xfrm>
          <a:custGeom>
            <a:avLst/>
            <a:gdLst/>
            <a:ahLst/>
            <a:cxnLst/>
            <a:rect l="l" t="t" r="r" b="b"/>
            <a:pathLst>
              <a:path w="1693333" h="296333">
                <a:moveTo>
                  <a:pt x="42334" y="0"/>
                </a:moveTo>
                <a:lnTo>
                  <a:pt x="1650999" y="0"/>
                </a:lnTo>
                <a:cubicBezTo>
                  <a:pt x="1674380" y="0"/>
                  <a:pt x="1693333" y="18954"/>
                  <a:pt x="1693333" y="42334"/>
                </a:cubicBezTo>
                <a:lnTo>
                  <a:pt x="1693333" y="253999"/>
                </a:lnTo>
                <a:cubicBezTo>
                  <a:pt x="1693333" y="277380"/>
                  <a:pt x="1674380" y="296333"/>
                  <a:pt x="1650999" y="296333"/>
                </a:cubicBezTo>
                <a:lnTo>
                  <a:pt x="42334" y="296333"/>
                </a:lnTo>
                <a:cubicBezTo>
                  <a:pt x="18954" y="296333"/>
                  <a:pt x="0" y="277380"/>
                  <a:pt x="0" y="2539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507930" y="7513066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海拔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82014" y="7894278"/>
            <a:ext cx="1693333" cy="296333"/>
          </a:xfrm>
          <a:custGeom>
            <a:avLst/>
            <a:gdLst/>
            <a:ahLst/>
            <a:cxnLst/>
            <a:rect l="l" t="t" r="r" b="b"/>
            <a:pathLst>
              <a:path w="1693333" h="296333">
                <a:moveTo>
                  <a:pt x="42334" y="0"/>
                </a:moveTo>
                <a:lnTo>
                  <a:pt x="1650999" y="0"/>
                </a:lnTo>
                <a:cubicBezTo>
                  <a:pt x="1674380" y="0"/>
                  <a:pt x="1693333" y="18954"/>
                  <a:pt x="1693333" y="42334"/>
                </a:cubicBezTo>
                <a:lnTo>
                  <a:pt x="1693333" y="253999"/>
                </a:lnTo>
                <a:cubicBezTo>
                  <a:pt x="1693333" y="277380"/>
                  <a:pt x="1674380" y="296333"/>
                  <a:pt x="1650999" y="296333"/>
                </a:cubicBezTo>
                <a:lnTo>
                  <a:pt x="42334" y="296333"/>
                </a:lnTo>
                <a:cubicBezTo>
                  <a:pt x="18954" y="296333"/>
                  <a:pt x="0" y="277380"/>
                  <a:pt x="0" y="2539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528549" y="7894278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有机质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0607" y="8232738"/>
            <a:ext cx="1693333" cy="296333"/>
          </a:xfrm>
          <a:custGeom>
            <a:avLst/>
            <a:gdLst/>
            <a:ahLst/>
            <a:cxnLst/>
            <a:rect l="l" t="t" r="r" b="b"/>
            <a:pathLst>
              <a:path w="1693333" h="296333">
                <a:moveTo>
                  <a:pt x="42334" y="0"/>
                </a:moveTo>
                <a:lnTo>
                  <a:pt x="1650999" y="0"/>
                </a:lnTo>
                <a:cubicBezTo>
                  <a:pt x="1674380" y="0"/>
                  <a:pt x="1693333" y="18954"/>
                  <a:pt x="1693333" y="42334"/>
                </a:cubicBezTo>
                <a:lnTo>
                  <a:pt x="1693333" y="253999"/>
                </a:lnTo>
                <a:cubicBezTo>
                  <a:pt x="1693333" y="277380"/>
                  <a:pt x="1674380" y="296333"/>
                  <a:pt x="1650999" y="296333"/>
                </a:cubicBezTo>
                <a:lnTo>
                  <a:pt x="42334" y="296333"/>
                </a:lnTo>
                <a:cubicBezTo>
                  <a:pt x="18954" y="296333"/>
                  <a:pt x="0" y="277380"/>
                  <a:pt x="0" y="2539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63565" y="8232738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质地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494851" y="8232738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226138" y="8232738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565591" y="8232738"/>
            <a:ext cx="1693333" cy="296333"/>
          </a:xfrm>
          <a:custGeom>
            <a:avLst/>
            <a:gdLst/>
            <a:ahLst/>
            <a:cxnLst/>
            <a:rect l="l" t="t" r="r" b="b"/>
            <a:pathLst>
              <a:path w="1693333" h="296333">
                <a:moveTo>
                  <a:pt x="42334" y="0"/>
                </a:moveTo>
                <a:lnTo>
                  <a:pt x="1650999" y="0"/>
                </a:lnTo>
                <a:cubicBezTo>
                  <a:pt x="1674380" y="0"/>
                  <a:pt x="1693333" y="18954"/>
                  <a:pt x="1693333" y="42334"/>
                </a:cubicBezTo>
                <a:lnTo>
                  <a:pt x="1693333" y="253999"/>
                </a:lnTo>
                <a:cubicBezTo>
                  <a:pt x="1693333" y="277380"/>
                  <a:pt x="1674380" y="296333"/>
                  <a:pt x="1650999" y="296333"/>
                </a:cubicBezTo>
                <a:lnTo>
                  <a:pt x="42334" y="296333"/>
                </a:lnTo>
                <a:cubicBezTo>
                  <a:pt x="18954" y="296333"/>
                  <a:pt x="0" y="277380"/>
                  <a:pt x="0" y="2539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491507" y="8219139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降雨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3565" y="8571198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98203" y="8592702"/>
            <a:ext cx="1693333" cy="296333"/>
          </a:xfrm>
          <a:custGeom>
            <a:avLst/>
            <a:gdLst/>
            <a:ahLst/>
            <a:cxnLst/>
            <a:rect l="l" t="t" r="r" b="b"/>
            <a:pathLst>
              <a:path w="1693333" h="296333">
                <a:moveTo>
                  <a:pt x="42334" y="0"/>
                </a:moveTo>
                <a:lnTo>
                  <a:pt x="1650999" y="0"/>
                </a:lnTo>
                <a:cubicBezTo>
                  <a:pt x="1674380" y="0"/>
                  <a:pt x="1693333" y="18954"/>
                  <a:pt x="1693333" y="42334"/>
                </a:cubicBezTo>
                <a:lnTo>
                  <a:pt x="1693333" y="253999"/>
                </a:lnTo>
                <a:cubicBezTo>
                  <a:pt x="1693333" y="277380"/>
                  <a:pt x="1674380" y="296333"/>
                  <a:pt x="1650999" y="296333"/>
                </a:cubicBezTo>
                <a:lnTo>
                  <a:pt x="42334" y="296333"/>
                </a:lnTo>
                <a:cubicBezTo>
                  <a:pt x="18954" y="296333"/>
                  <a:pt x="0" y="277380"/>
                  <a:pt x="0" y="2539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761162" y="8621254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pH值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1518" y="7496114"/>
            <a:ext cx="1693333" cy="296333"/>
          </a:xfrm>
          <a:custGeom>
            <a:avLst/>
            <a:gdLst/>
            <a:ahLst/>
            <a:cxnLst/>
            <a:rect l="l" t="t" r="r" b="b"/>
            <a:pathLst>
              <a:path w="1693333" h="296333">
                <a:moveTo>
                  <a:pt x="42334" y="0"/>
                </a:moveTo>
                <a:lnTo>
                  <a:pt x="1650999" y="0"/>
                </a:lnTo>
                <a:cubicBezTo>
                  <a:pt x="1674380" y="0"/>
                  <a:pt x="1693333" y="18954"/>
                  <a:pt x="1693333" y="42334"/>
                </a:cubicBezTo>
                <a:lnTo>
                  <a:pt x="1693333" y="253999"/>
                </a:lnTo>
                <a:cubicBezTo>
                  <a:pt x="1693333" y="277380"/>
                  <a:pt x="1674380" y="296333"/>
                  <a:pt x="1650999" y="296333"/>
                </a:cubicBezTo>
                <a:lnTo>
                  <a:pt x="42334" y="296333"/>
                </a:lnTo>
                <a:cubicBezTo>
                  <a:pt x="18954" y="296333"/>
                  <a:pt x="0" y="277380"/>
                  <a:pt x="0" y="2539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59949" y="7513066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排水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565591" y="8571198"/>
            <a:ext cx="1693333" cy="296333"/>
          </a:xfrm>
          <a:custGeom>
            <a:avLst/>
            <a:gdLst/>
            <a:ahLst/>
            <a:cxnLst/>
            <a:rect l="l" t="t" r="r" b="b"/>
            <a:pathLst>
              <a:path w="1693333" h="296333">
                <a:moveTo>
                  <a:pt x="42334" y="0"/>
                </a:moveTo>
                <a:lnTo>
                  <a:pt x="1650999" y="0"/>
                </a:lnTo>
                <a:cubicBezTo>
                  <a:pt x="1674380" y="0"/>
                  <a:pt x="1693333" y="18954"/>
                  <a:pt x="1693333" y="42334"/>
                </a:cubicBezTo>
                <a:lnTo>
                  <a:pt x="1693333" y="253999"/>
                </a:lnTo>
                <a:cubicBezTo>
                  <a:pt x="1693333" y="277380"/>
                  <a:pt x="1674380" y="296333"/>
                  <a:pt x="1650999" y="296333"/>
                </a:cubicBezTo>
                <a:lnTo>
                  <a:pt x="42334" y="296333"/>
                </a:lnTo>
                <a:cubicBezTo>
                  <a:pt x="18954" y="296333"/>
                  <a:pt x="0" y="277380"/>
                  <a:pt x="0" y="253999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454630" y="8571198"/>
            <a:ext cx="1767417" cy="296333"/>
          </a:xfrm>
          <a:prstGeom prst="rect">
            <a:avLst/>
          </a:prstGeom>
          <a:noFill/>
          <a:ln/>
        </p:spPr>
        <p:txBody>
          <a:bodyPr wrap="square" lIns="42333" tIns="42333" rIns="42333" bIns="42333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dirty="0"/>
              <a:t>气温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42815" y="5629589"/>
            <a:ext cx="9489763" cy="3005667"/>
          </a:xfrm>
          <a:custGeom>
            <a:avLst/>
            <a:gdLst/>
            <a:ahLst/>
            <a:cxnLst/>
            <a:rect l="l" t="t" r="r" b="b"/>
            <a:pathLst>
              <a:path w="7598833" h="3005667">
                <a:moveTo>
                  <a:pt x="126989" y="0"/>
                </a:moveTo>
                <a:lnTo>
                  <a:pt x="7471844" y="0"/>
                </a:lnTo>
                <a:cubicBezTo>
                  <a:pt x="7541978" y="0"/>
                  <a:pt x="7598833" y="56855"/>
                  <a:pt x="7598833" y="126989"/>
                </a:cubicBezTo>
                <a:lnTo>
                  <a:pt x="7598833" y="2878677"/>
                </a:lnTo>
                <a:cubicBezTo>
                  <a:pt x="7598833" y="2948812"/>
                  <a:pt x="7541978" y="3005667"/>
                  <a:pt x="7471844" y="3005667"/>
                </a:cubicBezTo>
                <a:lnTo>
                  <a:pt x="126989" y="3005667"/>
                </a:lnTo>
                <a:cubicBezTo>
                  <a:pt x="56855" y="3005667"/>
                  <a:pt x="0" y="2948812"/>
                  <a:pt x="0" y="2878677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477107" y="588348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8" name="Text 66"/>
          <p:cNvSpPr/>
          <p:nvPr/>
        </p:nvSpPr>
        <p:spPr>
          <a:xfrm>
            <a:off x="8889825" y="5841204"/>
            <a:ext cx="190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适宜性分级标准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743700" y="6306845"/>
            <a:ext cx="8877157" cy="465667"/>
          </a:xfrm>
          <a:custGeom>
            <a:avLst/>
            <a:gdLst/>
            <a:ahLst/>
            <a:cxnLst/>
            <a:rect l="l" t="t" r="r" b="b"/>
            <a:pathLst>
              <a:path w="7175500" h="465667">
                <a:moveTo>
                  <a:pt x="42334" y="0"/>
                </a:moveTo>
                <a:lnTo>
                  <a:pt x="7133166" y="0"/>
                </a:lnTo>
                <a:cubicBezTo>
                  <a:pt x="7156547" y="0"/>
                  <a:pt x="7175500" y="18953"/>
                  <a:pt x="7175500" y="42334"/>
                </a:cubicBezTo>
                <a:lnTo>
                  <a:pt x="7175500" y="423333"/>
                </a:lnTo>
                <a:cubicBezTo>
                  <a:pt x="7175500" y="446713"/>
                  <a:pt x="7156547" y="465667"/>
                  <a:pt x="71331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C3A170">
              <a:alpha val="3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872639" y="6412653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非常适宜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4507246" y="6391476"/>
            <a:ext cx="1121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C3A17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CEI ≥ 0.75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743700" y="6857049"/>
            <a:ext cx="8877157" cy="465667"/>
          </a:xfrm>
          <a:custGeom>
            <a:avLst/>
            <a:gdLst/>
            <a:ahLst/>
            <a:cxnLst/>
            <a:rect l="l" t="t" r="r" b="b"/>
            <a:pathLst>
              <a:path w="7175500" h="465667">
                <a:moveTo>
                  <a:pt x="42334" y="0"/>
                </a:moveTo>
                <a:lnTo>
                  <a:pt x="7133166" y="0"/>
                </a:lnTo>
                <a:cubicBezTo>
                  <a:pt x="7156547" y="0"/>
                  <a:pt x="7175500" y="18953"/>
                  <a:pt x="7175500" y="42334"/>
                </a:cubicBezTo>
                <a:lnTo>
                  <a:pt x="7175500" y="423333"/>
                </a:lnTo>
                <a:cubicBezTo>
                  <a:pt x="7175500" y="446713"/>
                  <a:pt x="7156547" y="465667"/>
                  <a:pt x="71331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872639" y="6962857"/>
            <a:ext cx="42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适宜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3894255" y="6941685"/>
            <a:ext cx="1735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0.55 ≤ CEI &lt; 0.75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743700" y="7407258"/>
            <a:ext cx="8877157" cy="465667"/>
          </a:xfrm>
          <a:custGeom>
            <a:avLst/>
            <a:gdLst/>
            <a:ahLst/>
            <a:cxnLst/>
            <a:rect l="l" t="t" r="r" b="b"/>
            <a:pathLst>
              <a:path w="7175500" h="465667">
                <a:moveTo>
                  <a:pt x="42334" y="0"/>
                </a:moveTo>
                <a:lnTo>
                  <a:pt x="7133166" y="0"/>
                </a:lnTo>
                <a:cubicBezTo>
                  <a:pt x="7156547" y="0"/>
                  <a:pt x="7175500" y="18953"/>
                  <a:pt x="7175500" y="42334"/>
                </a:cubicBezTo>
                <a:lnTo>
                  <a:pt x="7175500" y="423333"/>
                </a:lnTo>
                <a:cubicBezTo>
                  <a:pt x="7175500" y="446713"/>
                  <a:pt x="7156547" y="465667"/>
                  <a:pt x="71331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6872639" y="7513066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勉强适宜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3893448" y="7491889"/>
            <a:ext cx="1735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0.40 ≤ CEI &lt; 0.55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743700" y="7957468"/>
            <a:ext cx="8877157" cy="465667"/>
          </a:xfrm>
          <a:custGeom>
            <a:avLst/>
            <a:gdLst/>
            <a:ahLst/>
            <a:cxnLst/>
            <a:rect l="l" t="t" r="r" b="b"/>
            <a:pathLst>
              <a:path w="7175500" h="465667">
                <a:moveTo>
                  <a:pt x="42334" y="0"/>
                </a:moveTo>
                <a:lnTo>
                  <a:pt x="7133166" y="0"/>
                </a:lnTo>
                <a:cubicBezTo>
                  <a:pt x="7156547" y="0"/>
                  <a:pt x="7175500" y="18953"/>
                  <a:pt x="7175500" y="42334"/>
                </a:cubicBezTo>
                <a:lnTo>
                  <a:pt x="7175500" y="423333"/>
                </a:lnTo>
                <a:cubicBezTo>
                  <a:pt x="7175500" y="446713"/>
                  <a:pt x="7156547" y="465667"/>
                  <a:pt x="71331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C3A170">
              <a:alpha val="5098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6872639" y="8063270"/>
            <a:ext cx="59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不适宜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4582063" y="8042098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CEI &lt; 0.40</a:t>
            </a:r>
            <a:endParaRPr lang="en-US" sz="1600" dirty="0"/>
          </a:p>
        </p:txBody>
      </p:sp>
      <p:pic>
        <p:nvPicPr>
          <p:cNvPr id="82" name="图片 81" descr="图片包含 应用程序&#10;&#10;AI 生成的内容可能不正确。">
            <a:extLst>
              <a:ext uri="{FF2B5EF4-FFF2-40B4-BE49-F238E27FC236}">
                <a16:creationId xmlns:a16="http://schemas.microsoft.com/office/drawing/2014/main" id="{59095F09-88B0-5CE3-4520-D1730EE0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557" y="1712702"/>
            <a:ext cx="9835915" cy="328153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50" grpId="0" animBg="1"/>
      <p:bldP spid="52" grpId="0" animBg="1"/>
      <p:bldP spid="68" grpId="0" animBg="1"/>
      <p:bldP spid="70" grpId="0" animBg="1"/>
      <p:bldP spid="71" grpId="0" animBg="1"/>
      <p:bldP spid="73" grpId="0" animBg="1"/>
      <p:bldP spid="74" grpId="0" animBg="1"/>
      <p:bldP spid="76" grpId="0" animBg="1"/>
      <p:bldP spid="77" grpId="0" animBg="1"/>
      <p:bldP spid="79" grpId="0" animBg="1"/>
      <p:bldP spid="8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0"/>
          <p:cNvSpPr/>
          <p:nvPr/>
        </p:nvSpPr>
        <p:spPr>
          <a:xfrm>
            <a:off x="6482983" y="1451287"/>
            <a:ext cx="9289143" cy="4898571"/>
          </a:xfrm>
          <a:custGeom>
            <a:avLst/>
            <a:gdLst/>
            <a:ahLst/>
            <a:cxnLst/>
            <a:rect l="l" t="t" r="r" b="b"/>
            <a:pathLst>
              <a:path w="9289143" h="4898571">
                <a:moveTo>
                  <a:pt x="145145" y="0"/>
                </a:moveTo>
                <a:lnTo>
                  <a:pt x="9143998" y="0"/>
                </a:lnTo>
                <a:cubicBezTo>
                  <a:pt x="9224159" y="0"/>
                  <a:pt x="9289143" y="64983"/>
                  <a:pt x="9289143" y="145145"/>
                </a:cubicBezTo>
                <a:lnTo>
                  <a:pt x="9289143" y="4753427"/>
                </a:lnTo>
                <a:cubicBezTo>
                  <a:pt x="9289143" y="4833588"/>
                  <a:pt x="9224159" y="4898571"/>
                  <a:pt x="9143998" y="4898571"/>
                </a:cubicBezTo>
                <a:lnTo>
                  <a:pt x="145145" y="4898571"/>
                </a:lnTo>
                <a:cubicBezTo>
                  <a:pt x="64983" y="4898571"/>
                  <a:pt x="0" y="4833588"/>
                  <a:pt x="0" y="4753427"/>
                </a:cubicBezTo>
                <a:lnTo>
                  <a:pt x="0" y="145145"/>
                </a:lnTo>
                <a:cubicBezTo>
                  <a:pt x="0" y="64983"/>
                  <a:pt x="64983" y="0"/>
                  <a:pt x="14514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81429" dist="12095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0F12ADB-B9A2-0B3F-F286-3869315BC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626" y="1850441"/>
            <a:ext cx="8077268" cy="4499417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112648" y="483762"/>
            <a:ext cx="6676571" cy="58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71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评价指标体系与权重分布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12648" y="1209447"/>
            <a:ext cx="1161143" cy="48381"/>
          </a:xfrm>
          <a:custGeom>
            <a:avLst/>
            <a:gdLst/>
            <a:ahLst/>
            <a:cxnLst/>
            <a:rect l="l" t="t" r="r" b="b"/>
            <a:pathLst>
              <a:path w="1161143" h="48381">
                <a:moveTo>
                  <a:pt x="0" y="0"/>
                </a:moveTo>
                <a:lnTo>
                  <a:pt x="1161143" y="0"/>
                </a:lnTo>
                <a:lnTo>
                  <a:pt x="1161143" y="48381"/>
                </a:lnTo>
                <a:lnTo>
                  <a:pt x="0" y="48381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483763" y="1451287"/>
            <a:ext cx="5805714" cy="7692571"/>
          </a:xfrm>
          <a:custGeom>
            <a:avLst/>
            <a:gdLst/>
            <a:ahLst/>
            <a:cxnLst/>
            <a:rect l="l" t="t" r="r" b="b"/>
            <a:pathLst>
              <a:path w="5805714" h="7692571">
                <a:moveTo>
                  <a:pt x="145143" y="0"/>
                </a:moveTo>
                <a:lnTo>
                  <a:pt x="5660571" y="0"/>
                </a:lnTo>
                <a:cubicBezTo>
                  <a:pt x="5740732" y="0"/>
                  <a:pt x="5805714" y="64983"/>
                  <a:pt x="5805714" y="145143"/>
                </a:cubicBezTo>
                <a:lnTo>
                  <a:pt x="5805714" y="7547429"/>
                </a:lnTo>
                <a:cubicBezTo>
                  <a:pt x="5805714" y="7627589"/>
                  <a:pt x="5740732" y="7692571"/>
                  <a:pt x="5660571" y="7692571"/>
                </a:cubicBezTo>
                <a:lnTo>
                  <a:pt x="145143" y="7692571"/>
                </a:lnTo>
                <a:cubicBezTo>
                  <a:pt x="64983" y="7692571"/>
                  <a:pt x="0" y="7627589"/>
                  <a:pt x="0" y="7547429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81429" dist="12095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713" y="1693133"/>
            <a:ext cx="254000" cy="290286"/>
          </a:xfrm>
          <a:custGeom>
            <a:avLst/>
            <a:gdLst/>
            <a:ahLst/>
            <a:cxnLst/>
            <a:rect l="l" t="t" r="r" b="b"/>
            <a:pathLst>
              <a:path w="254000" h="290286">
                <a:moveTo>
                  <a:pt x="145143" y="90714"/>
                </a:moveTo>
                <a:lnTo>
                  <a:pt x="145143" y="145143"/>
                </a:lnTo>
                <a:lnTo>
                  <a:pt x="217714" y="145143"/>
                </a:lnTo>
                <a:lnTo>
                  <a:pt x="217714" y="90714"/>
                </a:lnTo>
                <a:lnTo>
                  <a:pt x="145143" y="90714"/>
                </a:lnTo>
                <a:close/>
                <a:moveTo>
                  <a:pt x="108857" y="90714"/>
                </a:moveTo>
                <a:lnTo>
                  <a:pt x="36286" y="90714"/>
                </a:lnTo>
                <a:lnTo>
                  <a:pt x="36286" y="145143"/>
                </a:lnTo>
                <a:lnTo>
                  <a:pt x="108857" y="145143"/>
                </a:lnTo>
                <a:lnTo>
                  <a:pt x="108857" y="90714"/>
                </a:lnTo>
                <a:close/>
                <a:moveTo>
                  <a:pt x="0" y="181429"/>
                </a:moveTo>
                <a:lnTo>
                  <a:pt x="0" y="54429"/>
                </a:lnTo>
                <a:cubicBezTo>
                  <a:pt x="0" y="34415"/>
                  <a:pt x="16272" y="18143"/>
                  <a:pt x="36286" y="18143"/>
                </a:cubicBezTo>
                <a:lnTo>
                  <a:pt x="217714" y="18143"/>
                </a:lnTo>
                <a:cubicBezTo>
                  <a:pt x="237728" y="18143"/>
                  <a:pt x="254000" y="34415"/>
                  <a:pt x="254000" y="54429"/>
                </a:cubicBezTo>
                <a:lnTo>
                  <a:pt x="254000" y="235857"/>
                </a:lnTo>
                <a:cubicBezTo>
                  <a:pt x="254000" y="255871"/>
                  <a:pt x="237728" y="272143"/>
                  <a:pt x="217714" y="272143"/>
                </a:cubicBezTo>
                <a:lnTo>
                  <a:pt x="36286" y="272143"/>
                </a:lnTo>
                <a:cubicBezTo>
                  <a:pt x="16272" y="272143"/>
                  <a:pt x="0" y="255871"/>
                  <a:pt x="0" y="235857"/>
                </a:cubicBezTo>
                <a:lnTo>
                  <a:pt x="0" y="181429"/>
                </a:lnTo>
                <a:close/>
                <a:moveTo>
                  <a:pt x="217714" y="181429"/>
                </a:moveTo>
                <a:lnTo>
                  <a:pt x="145143" y="181429"/>
                </a:lnTo>
                <a:lnTo>
                  <a:pt x="145143" y="235857"/>
                </a:lnTo>
                <a:lnTo>
                  <a:pt x="217714" y="235857"/>
                </a:lnTo>
                <a:lnTo>
                  <a:pt x="217714" y="181429"/>
                </a:lnTo>
                <a:close/>
                <a:moveTo>
                  <a:pt x="108857" y="235857"/>
                </a:moveTo>
                <a:lnTo>
                  <a:pt x="108857" y="181429"/>
                </a:lnTo>
                <a:lnTo>
                  <a:pt x="36286" y="181429"/>
                </a:lnTo>
                <a:lnTo>
                  <a:pt x="36286" y="235857"/>
                </a:lnTo>
                <a:lnTo>
                  <a:pt x="108857" y="235857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8" name="Text 6"/>
          <p:cNvSpPr/>
          <p:nvPr/>
        </p:nvSpPr>
        <p:spPr>
          <a:xfrm>
            <a:off x="1040141" y="1644811"/>
            <a:ext cx="5200952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86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评价指标体系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7284" y="2128573"/>
          <a:ext cx="5418666" cy="5757336"/>
        </p:xfrm>
        <a:graphic>
          <a:graphicData uri="http://schemas.openxmlformats.org/drawingml/2006/table">
            <a:tbl>
              <a:tblPr/>
              <a:tblGrid>
                <a:gridCol w="126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872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6F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准则层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8F6F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6F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8F6F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综合权重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72">
                <a:tc rowSpan="3"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气候条件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C3A17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温度适宜度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0.3573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72">
                <a:tc rowSpan="4"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土壤环境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C3A17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土壤质地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0.1608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8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872">
                <a:tc rowSpan="3"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地形地貌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C3A17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坡度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8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8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2872">
                <a:tc rowSpan="2"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水文状况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C3A17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3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灌溉条件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D3A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28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77284" y="8030766"/>
            <a:ext cx="5418667" cy="919238"/>
          </a:xfrm>
          <a:custGeom>
            <a:avLst/>
            <a:gdLst/>
            <a:ahLst/>
            <a:cxnLst/>
            <a:rect l="l" t="t" r="r" b="b"/>
            <a:pathLst>
              <a:path w="5418667" h="919238">
                <a:moveTo>
                  <a:pt x="96759" y="0"/>
                </a:moveTo>
                <a:lnTo>
                  <a:pt x="5321908" y="0"/>
                </a:lnTo>
                <a:cubicBezTo>
                  <a:pt x="5375346" y="0"/>
                  <a:pt x="5418667" y="43320"/>
                  <a:pt x="5418667" y="96759"/>
                </a:cubicBezTo>
                <a:lnTo>
                  <a:pt x="5418667" y="822479"/>
                </a:lnTo>
                <a:cubicBezTo>
                  <a:pt x="5418667" y="875918"/>
                  <a:pt x="5375346" y="919238"/>
                  <a:pt x="5321908" y="919238"/>
                </a:cubicBezTo>
                <a:lnTo>
                  <a:pt x="96759" y="919238"/>
                </a:lnTo>
                <a:cubicBezTo>
                  <a:pt x="43320" y="919238"/>
                  <a:pt x="0" y="875918"/>
                  <a:pt x="0" y="822479"/>
                </a:cubicBezTo>
                <a:lnTo>
                  <a:pt x="0" y="96759"/>
                </a:lnTo>
                <a:cubicBezTo>
                  <a:pt x="0" y="43320"/>
                  <a:pt x="43320" y="0"/>
                  <a:pt x="96759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46596" y="8229971"/>
            <a:ext cx="193524" cy="193524"/>
          </a:xfrm>
          <a:custGeom>
            <a:avLst/>
            <a:gdLst/>
            <a:ahLst/>
            <a:cxnLst/>
            <a:rect l="l" t="t" r="r" b="b"/>
            <a:pathLst>
              <a:path w="193524" h="193524">
                <a:moveTo>
                  <a:pt x="96762" y="193524"/>
                </a:moveTo>
                <a:cubicBezTo>
                  <a:pt x="150166" y="193524"/>
                  <a:pt x="193524" y="150166"/>
                  <a:pt x="193524" y="96762"/>
                </a:cubicBezTo>
                <a:cubicBezTo>
                  <a:pt x="193524" y="43358"/>
                  <a:pt x="150166" y="0"/>
                  <a:pt x="96762" y="0"/>
                </a:cubicBezTo>
                <a:cubicBezTo>
                  <a:pt x="43358" y="0"/>
                  <a:pt x="0" y="43358"/>
                  <a:pt x="0" y="96762"/>
                </a:cubicBezTo>
                <a:cubicBezTo>
                  <a:pt x="0" y="150166"/>
                  <a:pt x="43358" y="193524"/>
                  <a:pt x="96762" y="193524"/>
                </a:cubicBezTo>
                <a:close/>
                <a:moveTo>
                  <a:pt x="84667" y="60476"/>
                </a:moveTo>
                <a:cubicBezTo>
                  <a:pt x="84667" y="53801"/>
                  <a:pt x="90086" y="48381"/>
                  <a:pt x="96762" y="48381"/>
                </a:cubicBezTo>
                <a:cubicBezTo>
                  <a:pt x="103437" y="48381"/>
                  <a:pt x="108857" y="53801"/>
                  <a:pt x="108857" y="60476"/>
                </a:cubicBezTo>
                <a:cubicBezTo>
                  <a:pt x="108857" y="67152"/>
                  <a:pt x="103437" y="72571"/>
                  <a:pt x="96762" y="72571"/>
                </a:cubicBezTo>
                <a:cubicBezTo>
                  <a:pt x="90086" y="72571"/>
                  <a:pt x="84667" y="67152"/>
                  <a:pt x="84667" y="60476"/>
                </a:cubicBezTo>
                <a:close/>
                <a:moveTo>
                  <a:pt x="81643" y="84667"/>
                </a:moveTo>
                <a:lnTo>
                  <a:pt x="99786" y="84667"/>
                </a:lnTo>
                <a:cubicBezTo>
                  <a:pt x="104813" y="84667"/>
                  <a:pt x="108857" y="88711"/>
                  <a:pt x="108857" y="93738"/>
                </a:cubicBezTo>
                <a:lnTo>
                  <a:pt x="108857" y="127000"/>
                </a:lnTo>
                <a:lnTo>
                  <a:pt x="111881" y="127000"/>
                </a:lnTo>
                <a:cubicBezTo>
                  <a:pt x="116908" y="127000"/>
                  <a:pt x="120952" y="131044"/>
                  <a:pt x="120952" y="136071"/>
                </a:cubicBezTo>
                <a:cubicBezTo>
                  <a:pt x="120952" y="141099"/>
                  <a:pt x="116908" y="145143"/>
                  <a:pt x="111881" y="145143"/>
                </a:cubicBezTo>
                <a:lnTo>
                  <a:pt x="81643" y="145143"/>
                </a:lnTo>
                <a:cubicBezTo>
                  <a:pt x="76616" y="145143"/>
                  <a:pt x="72571" y="141099"/>
                  <a:pt x="72571" y="136071"/>
                </a:cubicBezTo>
                <a:cubicBezTo>
                  <a:pt x="72571" y="131044"/>
                  <a:pt x="76616" y="127000"/>
                  <a:pt x="81643" y="127000"/>
                </a:cubicBezTo>
                <a:lnTo>
                  <a:pt x="90714" y="127000"/>
                </a:lnTo>
                <a:lnTo>
                  <a:pt x="90714" y="102810"/>
                </a:lnTo>
                <a:lnTo>
                  <a:pt x="81643" y="102810"/>
                </a:lnTo>
                <a:cubicBezTo>
                  <a:pt x="76616" y="102810"/>
                  <a:pt x="72571" y="98765"/>
                  <a:pt x="72571" y="93738"/>
                </a:cubicBezTo>
                <a:cubicBezTo>
                  <a:pt x="72571" y="88711"/>
                  <a:pt x="76616" y="84667"/>
                  <a:pt x="81643" y="84667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12" name="Text 9"/>
          <p:cNvSpPr/>
          <p:nvPr/>
        </p:nvSpPr>
        <p:spPr>
          <a:xfrm>
            <a:off x="1156464" y="8175885"/>
            <a:ext cx="4891084" cy="62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24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一致性检验</a:t>
            </a:r>
            <a:r>
              <a:rPr lang="en-US" sz="1524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: CR = 0.052 &lt; 0.1, 通过一致性检验,权重分配科学合理。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94646" y="1693133"/>
            <a:ext cx="326571" cy="290286"/>
          </a:xfrm>
          <a:custGeom>
            <a:avLst/>
            <a:gdLst/>
            <a:ahLst/>
            <a:cxnLst/>
            <a:rect l="l" t="t" r="r" b="b"/>
            <a:pathLst>
              <a:path w="326571" h="290286">
                <a:moveTo>
                  <a:pt x="290513" y="136071"/>
                </a:moveTo>
                <a:lnTo>
                  <a:pt x="190727" y="136071"/>
                </a:lnTo>
                <a:cubicBezTo>
                  <a:pt x="180692" y="136071"/>
                  <a:pt x="172584" y="127964"/>
                  <a:pt x="172584" y="117929"/>
                </a:cubicBezTo>
                <a:lnTo>
                  <a:pt x="172584" y="18143"/>
                </a:lnTo>
                <a:cubicBezTo>
                  <a:pt x="172584" y="8108"/>
                  <a:pt x="180748" y="-113"/>
                  <a:pt x="190670" y="1191"/>
                </a:cubicBezTo>
                <a:cubicBezTo>
                  <a:pt x="251335" y="9242"/>
                  <a:pt x="299414" y="57320"/>
                  <a:pt x="307465" y="117985"/>
                </a:cubicBezTo>
                <a:cubicBezTo>
                  <a:pt x="308769" y="127907"/>
                  <a:pt x="300548" y="136071"/>
                  <a:pt x="290513" y="136071"/>
                </a:cubicBezTo>
                <a:close/>
                <a:moveTo>
                  <a:pt x="126206" y="21091"/>
                </a:moveTo>
                <a:cubicBezTo>
                  <a:pt x="136468" y="18937"/>
                  <a:pt x="145370" y="27328"/>
                  <a:pt x="145370" y="37817"/>
                </a:cubicBezTo>
                <a:lnTo>
                  <a:pt x="145370" y="149679"/>
                </a:lnTo>
                <a:cubicBezTo>
                  <a:pt x="145370" y="152854"/>
                  <a:pt x="146504" y="155915"/>
                  <a:pt x="148488" y="158353"/>
                </a:cubicBezTo>
                <a:lnTo>
                  <a:pt x="223384" y="248727"/>
                </a:lnTo>
                <a:cubicBezTo>
                  <a:pt x="230017" y="256721"/>
                  <a:pt x="228600" y="268798"/>
                  <a:pt x="219472" y="273730"/>
                </a:cubicBezTo>
                <a:cubicBezTo>
                  <a:pt x="200138" y="284276"/>
                  <a:pt x="177970" y="290286"/>
                  <a:pt x="154441" y="290286"/>
                </a:cubicBezTo>
                <a:cubicBezTo>
                  <a:pt x="79318" y="290286"/>
                  <a:pt x="18370" y="229337"/>
                  <a:pt x="18370" y="154214"/>
                </a:cubicBezTo>
                <a:cubicBezTo>
                  <a:pt x="18370" y="88730"/>
                  <a:pt x="64577" y="34075"/>
                  <a:pt x="126206" y="21091"/>
                </a:cubicBezTo>
                <a:close/>
                <a:moveTo>
                  <a:pt x="270896" y="163286"/>
                </a:moveTo>
                <a:lnTo>
                  <a:pt x="307181" y="163286"/>
                </a:lnTo>
                <a:cubicBezTo>
                  <a:pt x="317670" y="163286"/>
                  <a:pt x="326061" y="172187"/>
                  <a:pt x="323907" y="182449"/>
                </a:cubicBezTo>
                <a:cubicBezTo>
                  <a:pt x="318124" y="209890"/>
                  <a:pt x="304063" y="234270"/>
                  <a:pt x="284446" y="252866"/>
                </a:cubicBezTo>
                <a:cubicBezTo>
                  <a:pt x="277472" y="259500"/>
                  <a:pt x="266530" y="258082"/>
                  <a:pt x="260407" y="250655"/>
                </a:cubicBezTo>
                <a:lnTo>
                  <a:pt x="212555" y="192995"/>
                </a:lnTo>
                <a:cubicBezTo>
                  <a:pt x="202746" y="181145"/>
                  <a:pt x="211194" y="163286"/>
                  <a:pt x="226502" y="163286"/>
                </a:cubicBezTo>
                <a:lnTo>
                  <a:pt x="270839" y="163286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5" name="Text 12"/>
          <p:cNvSpPr/>
          <p:nvPr/>
        </p:nvSpPr>
        <p:spPr>
          <a:xfrm>
            <a:off x="7039361" y="1644811"/>
            <a:ext cx="8684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86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准则层权重分布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82983" y="6500960"/>
            <a:ext cx="9289143" cy="2636762"/>
          </a:xfrm>
          <a:custGeom>
            <a:avLst/>
            <a:gdLst/>
            <a:ahLst/>
            <a:cxnLst/>
            <a:rect l="l" t="t" r="r" b="b"/>
            <a:pathLst>
              <a:path w="9289143" h="2636762">
                <a:moveTo>
                  <a:pt x="145154" y="0"/>
                </a:moveTo>
                <a:lnTo>
                  <a:pt x="9143989" y="0"/>
                </a:lnTo>
                <a:cubicBezTo>
                  <a:pt x="9224155" y="0"/>
                  <a:pt x="9289143" y="64988"/>
                  <a:pt x="9289143" y="145154"/>
                </a:cubicBezTo>
                <a:lnTo>
                  <a:pt x="9289143" y="2491608"/>
                </a:lnTo>
                <a:cubicBezTo>
                  <a:pt x="9289143" y="2571774"/>
                  <a:pt x="9224155" y="2636762"/>
                  <a:pt x="9143989" y="2636762"/>
                </a:cubicBezTo>
                <a:lnTo>
                  <a:pt x="145154" y="2636762"/>
                </a:lnTo>
                <a:cubicBezTo>
                  <a:pt x="64988" y="2636762"/>
                  <a:pt x="0" y="2571774"/>
                  <a:pt x="0" y="2491608"/>
                </a:cubicBezTo>
                <a:lnTo>
                  <a:pt x="0" y="145154"/>
                </a:lnTo>
                <a:cubicBezTo>
                  <a:pt x="0" y="64988"/>
                  <a:pt x="64988" y="0"/>
                  <a:pt x="14515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81429" dist="12095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12789" y="6742800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190500" y="199571"/>
                </a:moveTo>
                <a:cubicBezTo>
                  <a:pt x="245609" y="199571"/>
                  <a:pt x="290286" y="154895"/>
                  <a:pt x="290286" y="99786"/>
                </a:cubicBezTo>
                <a:cubicBezTo>
                  <a:pt x="290286" y="44677"/>
                  <a:pt x="245609" y="0"/>
                  <a:pt x="190500" y="0"/>
                </a:cubicBezTo>
                <a:cubicBezTo>
                  <a:pt x="135391" y="0"/>
                  <a:pt x="90714" y="44677"/>
                  <a:pt x="90714" y="99786"/>
                </a:cubicBezTo>
                <a:cubicBezTo>
                  <a:pt x="90714" y="110388"/>
                  <a:pt x="92358" y="120650"/>
                  <a:pt x="95420" y="130232"/>
                </a:cubicBezTo>
                <a:lnTo>
                  <a:pt x="3969" y="221683"/>
                </a:lnTo>
                <a:cubicBezTo>
                  <a:pt x="1417" y="224234"/>
                  <a:pt x="0" y="227693"/>
                  <a:pt x="0" y="231321"/>
                </a:cubicBezTo>
                <a:lnTo>
                  <a:pt x="0" y="276679"/>
                </a:lnTo>
                <a:cubicBezTo>
                  <a:pt x="0" y="284219"/>
                  <a:pt x="6067" y="290286"/>
                  <a:pt x="13607" y="290286"/>
                </a:cubicBezTo>
                <a:lnTo>
                  <a:pt x="58964" y="290286"/>
                </a:lnTo>
                <a:cubicBezTo>
                  <a:pt x="66505" y="290286"/>
                  <a:pt x="72571" y="284219"/>
                  <a:pt x="72571" y="276679"/>
                </a:cubicBezTo>
                <a:lnTo>
                  <a:pt x="72571" y="254000"/>
                </a:lnTo>
                <a:lnTo>
                  <a:pt x="95250" y="254000"/>
                </a:lnTo>
                <a:cubicBezTo>
                  <a:pt x="102791" y="254000"/>
                  <a:pt x="108857" y="247933"/>
                  <a:pt x="108857" y="240393"/>
                </a:cubicBezTo>
                <a:lnTo>
                  <a:pt x="108857" y="217714"/>
                </a:lnTo>
                <a:lnTo>
                  <a:pt x="131536" y="217714"/>
                </a:lnTo>
                <a:cubicBezTo>
                  <a:pt x="135164" y="217714"/>
                  <a:pt x="138623" y="216297"/>
                  <a:pt x="141174" y="213746"/>
                </a:cubicBezTo>
                <a:lnTo>
                  <a:pt x="160054" y="194866"/>
                </a:lnTo>
                <a:cubicBezTo>
                  <a:pt x="169636" y="197927"/>
                  <a:pt x="179898" y="199571"/>
                  <a:pt x="190500" y="199571"/>
                </a:cubicBezTo>
                <a:close/>
                <a:moveTo>
                  <a:pt x="213179" y="54429"/>
                </a:moveTo>
                <a:cubicBezTo>
                  <a:pt x="225695" y="54429"/>
                  <a:pt x="235857" y="64590"/>
                  <a:pt x="235857" y="77107"/>
                </a:cubicBezTo>
                <a:cubicBezTo>
                  <a:pt x="235857" y="89624"/>
                  <a:pt x="225695" y="99786"/>
                  <a:pt x="213179" y="99786"/>
                </a:cubicBezTo>
                <a:cubicBezTo>
                  <a:pt x="200662" y="99786"/>
                  <a:pt x="190500" y="89624"/>
                  <a:pt x="190500" y="77107"/>
                </a:cubicBezTo>
                <a:cubicBezTo>
                  <a:pt x="190500" y="64590"/>
                  <a:pt x="200662" y="54429"/>
                  <a:pt x="213179" y="54429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8" name="Text 15"/>
          <p:cNvSpPr/>
          <p:nvPr/>
        </p:nvSpPr>
        <p:spPr>
          <a:xfrm>
            <a:off x="7039361" y="6694478"/>
            <a:ext cx="8684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86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关键指标说明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676504" y="7226639"/>
            <a:ext cx="8902095" cy="810381"/>
          </a:xfrm>
          <a:custGeom>
            <a:avLst/>
            <a:gdLst/>
            <a:ahLst/>
            <a:cxnLst/>
            <a:rect l="l" t="t" r="r" b="b"/>
            <a:pathLst>
              <a:path w="8902095" h="810381">
                <a:moveTo>
                  <a:pt x="96759" y="0"/>
                </a:moveTo>
                <a:lnTo>
                  <a:pt x="8805336" y="0"/>
                </a:lnTo>
                <a:cubicBezTo>
                  <a:pt x="8858775" y="0"/>
                  <a:pt x="8902095" y="43321"/>
                  <a:pt x="8902095" y="96759"/>
                </a:cubicBezTo>
                <a:lnTo>
                  <a:pt x="8902095" y="713621"/>
                </a:lnTo>
                <a:cubicBezTo>
                  <a:pt x="8902095" y="767060"/>
                  <a:pt x="8858775" y="810381"/>
                  <a:pt x="8805336" y="810381"/>
                </a:cubicBezTo>
                <a:lnTo>
                  <a:pt x="96759" y="810381"/>
                </a:lnTo>
                <a:cubicBezTo>
                  <a:pt x="43321" y="810381"/>
                  <a:pt x="0" y="767060"/>
                  <a:pt x="0" y="713621"/>
                </a:cubicBezTo>
                <a:lnTo>
                  <a:pt x="0" y="96759"/>
                </a:lnTo>
                <a:cubicBezTo>
                  <a:pt x="0" y="43356"/>
                  <a:pt x="43356" y="0"/>
                  <a:pt x="96759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821625" y="7371764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1" name="Text 18"/>
          <p:cNvSpPr/>
          <p:nvPr/>
        </p:nvSpPr>
        <p:spPr>
          <a:xfrm>
            <a:off x="6951458" y="7420163"/>
            <a:ext cx="169333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05389" y="7371764"/>
            <a:ext cx="455990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温度适宜度 (0.3573)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05389" y="7662009"/>
            <a:ext cx="4547810" cy="22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影响作物生长发育的关键因子,决定种植适宜性的核心指标。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76504" y="8136628"/>
            <a:ext cx="8902095" cy="810381"/>
          </a:xfrm>
          <a:custGeom>
            <a:avLst/>
            <a:gdLst/>
            <a:ahLst/>
            <a:cxnLst/>
            <a:rect l="l" t="t" r="r" b="b"/>
            <a:pathLst>
              <a:path w="8902095" h="810381">
                <a:moveTo>
                  <a:pt x="96759" y="0"/>
                </a:moveTo>
                <a:lnTo>
                  <a:pt x="8805336" y="0"/>
                </a:lnTo>
                <a:cubicBezTo>
                  <a:pt x="8858775" y="0"/>
                  <a:pt x="8902095" y="43321"/>
                  <a:pt x="8902095" y="96759"/>
                </a:cubicBezTo>
                <a:lnTo>
                  <a:pt x="8902095" y="713621"/>
                </a:lnTo>
                <a:cubicBezTo>
                  <a:pt x="8902095" y="767060"/>
                  <a:pt x="8858775" y="810381"/>
                  <a:pt x="8805336" y="810381"/>
                </a:cubicBezTo>
                <a:lnTo>
                  <a:pt x="96759" y="810381"/>
                </a:lnTo>
                <a:cubicBezTo>
                  <a:pt x="43321" y="810381"/>
                  <a:pt x="0" y="767060"/>
                  <a:pt x="0" y="713621"/>
                </a:cubicBezTo>
                <a:lnTo>
                  <a:pt x="0" y="96759"/>
                </a:lnTo>
                <a:cubicBezTo>
                  <a:pt x="0" y="43356"/>
                  <a:pt x="43356" y="0"/>
                  <a:pt x="96759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821625" y="8281748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6" name="Text 23"/>
          <p:cNvSpPr/>
          <p:nvPr/>
        </p:nvSpPr>
        <p:spPr>
          <a:xfrm>
            <a:off x="6940626" y="8330146"/>
            <a:ext cx="181429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05389" y="8281748"/>
            <a:ext cx="455990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土壤质地 (0.1608)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305389" y="8571992"/>
            <a:ext cx="4547810" cy="22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反映土壤肥力和通气性,直接影响作物根系生长和养分吸收。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animBg="1"/>
      <p:bldP spid="12" grpId="0" animBg="1"/>
      <p:bldP spid="15" grpId="0" animBg="1"/>
      <p:bldP spid="18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3">
            <a:extLst>
              <a:ext uri="{FF2B5EF4-FFF2-40B4-BE49-F238E27FC236}">
                <a16:creationId xmlns:a16="http://schemas.microsoft.com/office/drawing/2014/main" id="{955AA172-7B79-FE55-5FAC-E47EE079A9C1}"/>
              </a:ext>
            </a:extLst>
          </p:cNvPr>
          <p:cNvSpPr/>
          <p:nvPr/>
        </p:nvSpPr>
        <p:spPr>
          <a:xfrm>
            <a:off x="677239" y="31043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9844" y="19844"/>
                </a:moveTo>
                <a:cubicBezTo>
                  <a:pt x="30820" y="19844"/>
                  <a:pt x="39688" y="28711"/>
                  <a:pt x="39688" y="39688"/>
                </a:cubicBezTo>
                <a:lnTo>
                  <a:pt x="39688" y="248047"/>
                </a:lnTo>
                <a:cubicBezTo>
                  <a:pt x="39688" y="253504"/>
                  <a:pt x="44152" y="257969"/>
                  <a:pt x="49609" y="257969"/>
                </a:cubicBezTo>
                <a:lnTo>
                  <a:pt x="297656" y="257969"/>
                </a:lnTo>
                <a:cubicBezTo>
                  <a:pt x="308632" y="257969"/>
                  <a:pt x="317500" y="266836"/>
                  <a:pt x="317500" y="277813"/>
                </a:cubicBezTo>
                <a:cubicBezTo>
                  <a:pt x="317500" y="288789"/>
                  <a:pt x="308632" y="297656"/>
                  <a:pt x="297656" y="297656"/>
                </a:cubicBezTo>
                <a:lnTo>
                  <a:pt x="49609" y="297656"/>
                </a:lnTo>
                <a:cubicBezTo>
                  <a:pt x="22200" y="297656"/>
                  <a:pt x="0" y="275456"/>
                  <a:pt x="0" y="248047"/>
                </a:cubicBezTo>
                <a:lnTo>
                  <a:pt x="0" y="39688"/>
                </a:lnTo>
                <a:cubicBezTo>
                  <a:pt x="0" y="28711"/>
                  <a:pt x="8868" y="19844"/>
                  <a:pt x="19844" y="19844"/>
                </a:cubicBezTo>
                <a:close/>
                <a:moveTo>
                  <a:pt x="79375" y="59531"/>
                </a:moveTo>
                <a:cubicBezTo>
                  <a:pt x="79375" y="48555"/>
                  <a:pt x="88243" y="39688"/>
                  <a:pt x="99219" y="39688"/>
                </a:cubicBezTo>
                <a:lnTo>
                  <a:pt x="218281" y="39688"/>
                </a:lnTo>
                <a:cubicBezTo>
                  <a:pt x="229257" y="39688"/>
                  <a:pt x="238125" y="48555"/>
                  <a:pt x="238125" y="59531"/>
                </a:cubicBezTo>
                <a:cubicBezTo>
                  <a:pt x="238125" y="70507"/>
                  <a:pt x="229257" y="79375"/>
                  <a:pt x="218281" y="79375"/>
                </a:cubicBezTo>
                <a:lnTo>
                  <a:pt x="99219" y="79375"/>
                </a:lnTo>
                <a:cubicBezTo>
                  <a:pt x="88243" y="79375"/>
                  <a:pt x="79375" y="70507"/>
                  <a:pt x="79375" y="59531"/>
                </a:cubicBezTo>
                <a:close/>
                <a:moveTo>
                  <a:pt x="99219" y="109141"/>
                </a:moveTo>
                <a:lnTo>
                  <a:pt x="178594" y="109141"/>
                </a:lnTo>
                <a:cubicBezTo>
                  <a:pt x="189570" y="109141"/>
                  <a:pt x="198438" y="118008"/>
                  <a:pt x="198438" y="128984"/>
                </a:cubicBezTo>
                <a:cubicBezTo>
                  <a:pt x="198438" y="139960"/>
                  <a:pt x="189570" y="148828"/>
                  <a:pt x="178594" y="148828"/>
                </a:cubicBezTo>
                <a:lnTo>
                  <a:pt x="99219" y="148828"/>
                </a:lnTo>
                <a:cubicBezTo>
                  <a:pt x="88243" y="148828"/>
                  <a:pt x="79375" y="139960"/>
                  <a:pt x="79375" y="128984"/>
                </a:cubicBezTo>
                <a:cubicBezTo>
                  <a:pt x="79375" y="118008"/>
                  <a:pt x="88243" y="109141"/>
                  <a:pt x="99219" y="109141"/>
                </a:cubicBezTo>
                <a:close/>
                <a:moveTo>
                  <a:pt x="99219" y="178594"/>
                </a:moveTo>
                <a:lnTo>
                  <a:pt x="257969" y="178594"/>
                </a:lnTo>
                <a:cubicBezTo>
                  <a:pt x="268945" y="178594"/>
                  <a:pt x="277813" y="187461"/>
                  <a:pt x="277813" y="198438"/>
                </a:cubicBezTo>
                <a:cubicBezTo>
                  <a:pt x="277813" y="209414"/>
                  <a:pt x="268945" y="218281"/>
                  <a:pt x="257969" y="218281"/>
                </a:cubicBezTo>
                <a:lnTo>
                  <a:pt x="99219" y="218281"/>
                </a:lnTo>
                <a:cubicBezTo>
                  <a:pt x="88243" y="218281"/>
                  <a:pt x="79375" y="209414"/>
                  <a:pt x="79375" y="198438"/>
                </a:cubicBezTo>
                <a:cubicBezTo>
                  <a:pt x="79375" y="187461"/>
                  <a:pt x="88243" y="178594"/>
                  <a:pt x="99219" y="178594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" name="Text 74">
            <a:extLst>
              <a:ext uri="{FF2B5EF4-FFF2-40B4-BE49-F238E27FC236}">
                <a16:creationId xmlns:a16="http://schemas.microsoft.com/office/drawing/2014/main" id="{F0515A2A-274F-4721-56C1-42449A83DE8F}"/>
              </a:ext>
            </a:extLst>
          </p:cNvPr>
          <p:cNvSpPr/>
          <p:nvPr/>
        </p:nvSpPr>
        <p:spPr>
          <a:xfrm>
            <a:off x="1158762" y="299878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数据分析模块</a:t>
            </a:r>
            <a:endParaRPr lang="en-US" sz="1600" dirty="0"/>
          </a:p>
        </p:txBody>
      </p:sp>
      <p:sp>
        <p:nvSpPr>
          <p:cNvPr id="4" name="Shape 75">
            <a:extLst>
              <a:ext uri="{FF2B5EF4-FFF2-40B4-BE49-F238E27FC236}">
                <a16:creationId xmlns:a16="http://schemas.microsoft.com/office/drawing/2014/main" id="{840CDC80-5005-18D3-6AA3-982ECF4191B8}"/>
              </a:ext>
            </a:extLst>
          </p:cNvPr>
          <p:cNvSpPr/>
          <p:nvPr/>
        </p:nvSpPr>
        <p:spPr>
          <a:xfrm>
            <a:off x="634906" y="903391"/>
            <a:ext cx="3534833" cy="952500"/>
          </a:xfrm>
          <a:custGeom>
            <a:avLst/>
            <a:gdLst/>
            <a:ahLst/>
            <a:cxnLst/>
            <a:rect l="l" t="t" r="r" b="b"/>
            <a:pathLst>
              <a:path w="3534833" h="952500">
                <a:moveTo>
                  <a:pt x="84668" y="0"/>
                </a:moveTo>
                <a:lnTo>
                  <a:pt x="3450166" y="0"/>
                </a:lnTo>
                <a:cubicBezTo>
                  <a:pt x="3496926" y="0"/>
                  <a:pt x="3534833" y="37907"/>
                  <a:pt x="3534833" y="84668"/>
                </a:cubicBezTo>
                <a:lnTo>
                  <a:pt x="3534833" y="867832"/>
                </a:lnTo>
                <a:cubicBezTo>
                  <a:pt x="3534833" y="914593"/>
                  <a:pt x="3496926" y="952500"/>
                  <a:pt x="3450166" y="952500"/>
                </a:cubicBezTo>
                <a:lnTo>
                  <a:pt x="84668" y="952500"/>
                </a:lnTo>
                <a:cubicBezTo>
                  <a:pt x="37907" y="952500"/>
                  <a:pt x="0" y="914593"/>
                  <a:pt x="0" y="867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5" name="Shape 76">
            <a:extLst>
              <a:ext uri="{FF2B5EF4-FFF2-40B4-BE49-F238E27FC236}">
                <a16:creationId xmlns:a16="http://schemas.microsoft.com/office/drawing/2014/main" id="{7A4C0B57-5E8A-D7C0-C8C7-23D3BEBD0779}"/>
              </a:ext>
            </a:extLst>
          </p:cNvPr>
          <p:cNvSpPr/>
          <p:nvPr/>
        </p:nvSpPr>
        <p:spPr>
          <a:xfrm>
            <a:off x="830695" y="1115001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39688" y="39688"/>
                </a:moveTo>
                <a:cubicBezTo>
                  <a:pt x="39688" y="17777"/>
                  <a:pt x="57464" y="0"/>
                  <a:pt x="79375" y="0"/>
                </a:cubicBezTo>
                <a:cubicBezTo>
                  <a:pt x="101286" y="0"/>
                  <a:pt x="119063" y="17777"/>
                  <a:pt x="119063" y="39688"/>
                </a:cubicBezTo>
                <a:lnTo>
                  <a:pt x="119063" y="107776"/>
                </a:lnTo>
                <a:cubicBezTo>
                  <a:pt x="131258" y="118690"/>
                  <a:pt x="138906" y="134524"/>
                  <a:pt x="138906" y="152135"/>
                </a:cubicBezTo>
                <a:cubicBezTo>
                  <a:pt x="138906" y="185002"/>
                  <a:pt x="112241" y="211667"/>
                  <a:pt x="79375" y="211667"/>
                </a:cubicBezTo>
                <a:cubicBezTo>
                  <a:pt x="46509" y="211667"/>
                  <a:pt x="19844" y="185002"/>
                  <a:pt x="19844" y="152135"/>
                </a:cubicBezTo>
                <a:cubicBezTo>
                  <a:pt x="19844" y="134524"/>
                  <a:pt x="27492" y="118649"/>
                  <a:pt x="39688" y="107776"/>
                </a:cubicBezTo>
                <a:lnTo>
                  <a:pt x="39688" y="39688"/>
                </a:lnTo>
                <a:close/>
                <a:moveTo>
                  <a:pt x="79375" y="178594"/>
                </a:moveTo>
                <a:cubicBezTo>
                  <a:pt x="93968" y="178594"/>
                  <a:pt x="105833" y="166729"/>
                  <a:pt x="105833" y="152135"/>
                </a:cubicBezTo>
                <a:cubicBezTo>
                  <a:pt x="105833" y="141015"/>
                  <a:pt x="99012" y="131506"/>
                  <a:pt x="89297" y="127620"/>
                </a:cubicBezTo>
                <a:lnTo>
                  <a:pt x="89297" y="39688"/>
                </a:lnTo>
                <a:cubicBezTo>
                  <a:pt x="89297" y="34189"/>
                  <a:pt x="84873" y="29766"/>
                  <a:pt x="79375" y="29766"/>
                </a:cubicBezTo>
                <a:cubicBezTo>
                  <a:pt x="73877" y="29766"/>
                  <a:pt x="69453" y="34189"/>
                  <a:pt x="69453" y="39688"/>
                </a:cubicBezTo>
                <a:lnTo>
                  <a:pt x="69453" y="127620"/>
                </a:lnTo>
                <a:cubicBezTo>
                  <a:pt x="59738" y="131548"/>
                  <a:pt x="52917" y="141056"/>
                  <a:pt x="52917" y="152135"/>
                </a:cubicBezTo>
                <a:cubicBezTo>
                  <a:pt x="52917" y="166729"/>
                  <a:pt x="64782" y="178594"/>
                  <a:pt x="79375" y="178594"/>
                </a:cubicBezTo>
                <a:close/>
                <a:moveTo>
                  <a:pt x="191823" y="33073"/>
                </a:moveTo>
                <a:cubicBezTo>
                  <a:pt x="191823" y="25772"/>
                  <a:pt x="185895" y="19844"/>
                  <a:pt x="178594" y="19844"/>
                </a:cubicBezTo>
                <a:cubicBezTo>
                  <a:pt x="171292" y="19844"/>
                  <a:pt x="165365" y="25772"/>
                  <a:pt x="165365" y="33073"/>
                </a:cubicBezTo>
                <a:cubicBezTo>
                  <a:pt x="165365" y="40374"/>
                  <a:pt x="171292" y="46302"/>
                  <a:pt x="178594" y="46302"/>
                </a:cubicBezTo>
                <a:cubicBezTo>
                  <a:pt x="185895" y="46302"/>
                  <a:pt x="191823" y="40374"/>
                  <a:pt x="191823" y="33073"/>
                </a:cubicBezTo>
                <a:close/>
                <a:moveTo>
                  <a:pt x="145521" y="33073"/>
                </a:moveTo>
                <a:cubicBezTo>
                  <a:pt x="145521" y="14819"/>
                  <a:pt x="160340" y="0"/>
                  <a:pt x="178594" y="0"/>
                </a:cubicBezTo>
                <a:cubicBezTo>
                  <a:pt x="196847" y="0"/>
                  <a:pt x="211667" y="14819"/>
                  <a:pt x="211667" y="33073"/>
                </a:cubicBezTo>
                <a:cubicBezTo>
                  <a:pt x="211667" y="51326"/>
                  <a:pt x="196847" y="66146"/>
                  <a:pt x="178594" y="66146"/>
                </a:cubicBezTo>
                <a:cubicBezTo>
                  <a:pt x="160340" y="66146"/>
                  <a:pt x="145521" y="51326"/>
                  <a:pt x="145521" y="33073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6" name="Text 77">
            <a:extLst>
              <a:ext uri="{FF2B5EF4-FFF2-40B4-BE49-F238E27FC236}">
                <a16:creationId xmlns:a16="http://schemas.microsoft.com/office/drawing/2014/main" id="{A159CA66-0B50-57A3-E56F-946752A4FDA9}"/>
              </a:ext>
            </a:extLst>
          </p:cNvPr>
          <p:cNvSpPr/>
          <p:nvPr/>
        </p:nvSpPr>
        <p:spPr>
          <a:xfrm>
            <a:off x="1153452" y="1072719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温度分析</a:t>
            </a:r>
            <a:endParaRPr lang="en-US" sz="1600" dirty="0"/>
          </a:p>
        </p:txBody>
      </p:sp>
      <p:sp>
        <p:nvSpPr>
          <p:cNvPr id="7" name="Text 78">
            <a:extLst>
              <a:ext uri="{FF2B5EF4-FFF2-40B4-BE49-F238E27FC236}">
                <a16:creationId xmlns:a16="http://schemas.microsoft.com/office/drawing/2014/main" id="{DDD384A6-40AA-5173-7450-B923FBAB6DD7}"/>
              </a:ext>
            </a:extLst>
          </p:cNvPr>
          <p:cNvSpPr/>
          <p:nvPr/>
        </p:nvSpPr>
        <p:spPr>
          <a:xfrm>
            <a:off x="804237" y="1453662"/>
            <a:ext cx="3280833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年度和月度温度趋势分析</a:t>
            </a:r>
            <a:endParaRPr lang="en-US" sz="1600" dirty="0"/>
          </a:p>
        </p:txBody>
      </p:sp>
      <p:pic>
        <p:nvPicPr>
          <p:cNvPr id="36" name="图片 35" descr="图表, 折线图&#10;&#10;AI 生成的内容可能不正确。">
            <a:extLst>
              <a:ext uri="{FF2B5EF4-FFF2-40B4-BE49-F238E27FC236}">
                <a16:creationId xmlns:a16="http://schemas.microsoft.com/office/drawing/2014/main" id="{4C84040B-6636-0897-6620-7A9105221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60" y="1940501"/>
            <a:ext cx="8473508" cy="2951261"/>
          </a:xfrm>
          <a:prstGeom prst="rect">
            <a:avLst/>
          </a:prstGeom>
        </p:spPr>
      </p:pic>
      <p:pic>
        <p:nvPicPr>
          <p:cNvPr id="38" name="图片 37" descr="手机屏幕截图&#10;&#10;AI 生成的内容可能不正确。">
            <a:extLst>
              <a:ext uri="{FF2B5EF4-FFF2-40B4-BE49-F238E27FC236}">
                <a16:creationId xmlns:a16="http://schemas.microsoft.com/office/drawing/2014/main" id="{C6AC2C1B-77B1-C813-3C6C-BEB58FCB9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0" y="4815351"/>
            <a:ext cx="9725096" cy="3338537"/>
          </a:xfrm>
          <a:prstGeom prst="rect">
            <a:avLst/>
          </a:prstGeom>
        </p:spPr>
      </p:pic>
      <p:pic>
        <p:nvPicPr>
          <p:cNvPr id="40" name="图片 39" descr="图表, 饼图&#10;&#10;AI 生成的内容可能不正确。">
            <a:extLst>
              <a:ext uri="{FF2B5EF4-FFF2-40B4-BE49-F238E27FC236}">
                <a16:creationId xmlns:a16="http://schemas.microsoft.com/office/drawing/2014/main" id="{A55968E8-4A54-E8EF-D9D2-2B35355A8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3887" y="1369052"/>
            <a:ext cx="6613135" cy="512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0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79">
            <a:extLst>
              <a:ext uri="{FF2B5EF4-FFF2-40B4-BE49-F238E27FC236}">
                <a16:creationId xmlns:a16="http://schemas.microsoft.com/office/drawing/2014/main" id="{057C8A0D-EB75-4F7E-A663-99DFE4894083}"/>
              </a:ext>
            </a:extLst>
          </p:cNvPr>
          <p:cNvSpPr/>
          <p:nvPr/>
        </p:nvSpPr>
        <p:spPr>
          <a:xfrm>
            <a:off x="578230" y="286171"/>
            <a:ext cx="3534833" cy="952500"/>
          </a:xfrm>
          <a:custGeom>
            <a:avLst/>
            <a:gdLst/>
            <a:ahLst/>
            <a:cxnLst/>
            <a:rect l="l" t="t" r="r" b="b"/>
            <a:pathLst>
              <a:path w="3534833" h="952500">
                <a:moveTo>
                  <a:pt x="84668" y="0"/>
                </a:moveTo>
                <a:lnTo>
                  <a:pt x="3450166" y="0"/>
                </a:lnTo>
                <a:cubicBezTo>
                  <a:pt x="3496926" y="0"/>
                  <a:pt x="3534833" y="37907"/>
                  <a:pt x="3534833" y="84668"/>
                </a:cubicBezTo>
                <a:lnTo>
                  <a:pt x="3534833" y="867832"/>
                </a:lnTo>
                <a:cubicBezTo>
                  <a:pt x="3534833" y="914593"/>
                  <a:pt x="3496926" y="952500"/>
                  <a:pt x="3450166" y="952500"/>
                </a:cubicBezTo>
                <a:lnTo>
                  <a:pt x="84668" y="952500"/>
                </a:lnTo>
                <a:cubicBezTo>
                  <a:pt x="37907" y="952500"/>
                  <a:pt x="0" y="914593"/>
                  <a:pt x="0" y="867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7" name="Shape 80">
            <a:extLst>
              <a:ext uri="{FF2B5EF4-FFF2-40B4-BE49-F238E27FC236}">
                <a16:creationId xmlns:a16="http://schemas.microsoft.com/office/drawing/2014/main" id="{2BF23C6F-AE44-3306-F204-D7FDF1BD096E}"/>
              </a:ext>
            </a:extLst>
          </p:cNvPr>
          <p:cNvSpPr/>
          <p:nvPr/>
        </p:nvSpPr>
        <p:spPr>
          <a:xfrm>
            <a:off x="774019" y="497781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96118" y="2150"/>
                </a:moveTo>
                <a:cubicBezTo>
                  <a:pt x="102278" y="-703"/>
                  <a:pt x="109389" y="-703"/>
                  <a:pt x="115549" y="2150"/>
                </a:cubicBezTo>
                <a:lnTo>
                  <a:pt x="205920" y="43904"/>
                </a:lnTo>
                <a:cubicBezTo>
                  <a:pt x="209434" y="45517"/>
                  <a:pt x="211667" y="49031"/>
                  <a:pt x="211667" y="52917"/>
                </a:cubicBezTo>
                <a:cubicBezTo>
                  <a:pt x="211667" y="56803"/>
                  <a:pt x="209434" y="60317"/>
                  <a:pt x="205920" y="61929"/>
                </a:cubicBezTo>
                <a:lnTo>
                  <a:pt x="115549" y="103684"/>
                </a:lnTo>
                <a:cubicBezTo>
                  <a:pt x="109389" y="106536"/>
                  <a:pt x="102278" y="106536"/>
                  <a:pt x="96118" y="103684"/>
                </a:cubicBezTo>
                <a:lnTo>
                  <a:pt x="5746" y="61929"/>
                </a:lnTo>
                <a:cubicBezTo>
                  <a:pt x="2232" y="60275"/>
                  <a:pt x="0" y="56761"/>
                  <a:pt x="0" y="52917"/>
                </a:cubicBezTo>
                <a:cubicBezTo>
                  <a:pt x="0" y="49072"/>
                  <a:pt x="2232" y="45517"/>
                  <a:pt x="5746" y="43904"/>
                </a:cubicBezTo>
                <a:lnTo>
                  <a:pt x="96118" y="2150"/>
                </a:lnTo>
                <a:close/>
                <a:moveTo>
                  <a:pt x="19885" y="90289"/>
                </a:moveTo>
                <a:lnTo>
                  <a:pt x="87809" y="121667"/>
                </a:lnTo>
                <a:cubicBezTo>
                  <a:pt x="99260" y="126959"/>
                  <a:pt x="112448" y="126959"/>
                  <a:pt x="123899" y="121667"/>
                </a:cubicBezTo>
                <a:lnTo>
                  <a:pt x="191823" y="90289"/>
                </a:lnTo>
                <a:lnTo>
                  <a:pt x="205920" y="96821"/>
                </a:lnTo>
                <a:cubicBezTo>
                  <a:pt x="209434" y="98433"/>
                  <a:pt x="211667" y="101947"/>
                  <a:pt x="211667" y="105833"/>
                </a:cubicBezTo>
                <a:cubicBezTo>
                  <a:pt x="211667" y="109719"/>
                  <a:pt x="209434" y="113233"/>
                  <a:pt x="205920" y="114846"/>
                </a:cubicBezTo>
                <a:lnTo>
                  <a:pt x="115549" y="156600"/>
                </a:lnTo>
                <a:cubicBezTo>
                  <a:pt x="109389" y="159453"/>
                  <a:pt x="102278" y="159453"/>
                  <a:pt x="96118" y="156600"/>
                </a:cubicBezTo>
                <a:lnTo>
                  <a:pt x="5746" y="114846"/>
                </a:lnTo>
                <a:cubicBezTo>
                  <a:pt x="2232" y="113192"/>
                  <a:pt x="0" y="109678"/>
                  <a:pt x="0" y="105833"/>
                </a:cubicBezTo>
                <a:cubicBezTo>
                  <a:pt x="0" y="101989"/>
                  <a:pt x="2232" y="98433"/>
                  <a:pt x="5746" y="96821"/>
                </a:cubicBezTo>
                <a:lnTo>
                  <a:pt x="19844" y="90289"/>
                </a:lnTo>
                <a:close/>
                <a:moveTo>
                  <a:pt x="5746" y="149738"/>
                </a:moveTo>
                <a:lnTo>
                  <a:pt x="19844" y="143206"/>
                </a:lnTo>
                <a:lnTo>
                  <a:pt x="87767" y="174584"/>
                </a:lnTo>
                <a:cubicBezTo>
                  <a:pt x="99219" y="179875"/>
                  <a:pt x="112407" y="179875"/>
                  <a:pt x="123858" y="174584"/>
                </a:cubicBezTo>
                <a:lnTo>
                  <a:pt x="191782" y="143206"/>
                </a:lnTo>
                <a:lnTo>
                  <a:pt x="205879" y="149738"/>
                </a:lnTo>
                <a:cubicBezTo>
                  <a:pt x="209393" y="151350"/>
                  <a:pt x="211625" y="154864"/>
                  <a:pt x="211625" y="158750"/>
                </a:cubicBezTo>
                <a:cubicBezTo>
                  <a:pt x="211625" y="162636"/>
                  <a:pt x="209393" y="166150"/>
                  <a:pt x="205879" y="167762"/>
                </a:cubicBezTo>
                <a:lnTo>
                  <a:pt x="115507" y="209517"/>
                </a:lnTo>
                <a:cubicBezTo>
                  <a:pt x="109347" y="212369"/>
                  <a:pt x="102237" y="212369"/>
                  <a:pt x="96077" y="209517"/>
                </a:cubicBezTo>
                <a:lnTo>
                  <a:pt x="5746" y="167762"/>
                </a:lnTo>
                <a:cubicBezTo>
                  <a:pt x="2232" y="166109"/>
                  <a:pt x="0" y="162595"/>
                  <a:pt x="0" y="158750"/>
                </a:cubicBezTo>
                <a:cubicBezTo>
                  <a:pt x="0" y="154905"/>
                  <a:pt x="2232" y="151350"/>
                  <a:pt x="5746" y="14973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8" name="Text 81">
            <a:extLst>
              <a:ext uri="{FF2B5EF4-FFF2-40B4-BE49-F238E27FC236}">
                <a16:creationId xmlns:a16="http://schemas.microsoft.com/office/drawing/2014/main" id="{CA8C27D8-27D9-C7A3-C534-F55EB7305512}"/>
              </a:ext>
            </a:extLst>
          </p:cNvPr>
          <p:cNvSpPr/>
          <p:nvPr/>
        </p:nvSpPr>
        <p:spPr>
          <a:xfrm>
            <a:off x="1096776" y="455499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土壤分析</a:t>
            </a:r>
            <a:endParaRPr lang="en-US" sz="1600" dirty="0"/>
          </a:p>
        </p:txBody>
      </p:sp>
      <p:sp>
        <p:nvSpPr>
          <p:cNvPr id="9" name="Text 82">
            <a:extLst>
              <a:ext uri="{FF2B5EF4-FFF2-40B4-BE49-F238E27FC236}">
                <a16:creationId xmlns:a16="http://schemas.microsoft.com/office/drawing/2014/main" id="{611DCF43-2E75-1B9F-7076-F307854AF7AC}"/>
              </a:ext>
            </a:extLst>
          </p:cNvPr>
          <p:cNvSpPr/>
          <p:nvPr/>
        </p:nvSpPr>
        <p:spPr>
          <a:xfrm>
            <a:off x="747561" y="836442"/>
            <a:ext cx="3280833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土壤类型分布和肥力评价</a:t>
            </a:r>
            <a:endParaRPr lang="en-US" sz="1600" dirty="0"/>
          </a:p>
        </p:txBody>
      </p:sp>
      <p:pic>
        <p:nvPicPr>
          <p:cNvPr id="11" name="图片 10" descr="图表, 条形图&#10;&#10;AI 生成的内容可能不正确。">
            <a:extLst>
              <a:ext uri="{FF2B5EF4-FFF2-40B4-BE49-F238E27FC236}">
                <a16:creationId xmlns:a16="http://schemas.microsoft.com/office/drawing/2014/main" id="{F8AE0F92-C0C9-C7AA-249A-36E00A9C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7999"/>
            <a:ext cx="9720334" cy="3414737"/>
          </a:xfrm>
          <a:prstGeom prst="rect">
            <a:avLst/>
          </a:prstGeom>
        </p:spPr>
      </p:pic>
      <p:pic>
        <p:nvPicPr>
          <p:cNvPr id="13" name="图片 12" descr="图表, 条形图&#10;&#10;AI 生成的内容可能不正确。">
            <a:extLst>
              <a:ext uri="{FF2B5EF4-FFF2-40B4-BE49-F238E27FC236}">
                <a16:creationId xmlns:a16="http://schemas.microsoft.com/office/drawing/2014/main" id="{0795A2B5-D340-929B-3CF9-B428EAE26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9" y="4992064"/>
            <a:ext cx="9591745" cy="3376637"/>
          </a:xfrm>
          <a:prstGeom prst="rect">
            <a:avLst/>
          </a:prstGeom>
        </p:spPr>
      </p:pic>
      <p:pic>
        <p:nvPicPr>
          <p:cNvPr id="15" name="图片 14" descr="图片包含 表格&#10;&#10;AI 生成的内容可能不正确。">
            <a:extLst>
              <a:ext uri="{FF2B5EF4-FFF2-40B4-BE49-F238E27FC236}">
                <a16:creationId xmlns:a16="http://schemas.microsoft.com/office/drawing/2014/main" id="{3BD6C8A6-410A-5DC0-4178-DB1E51D08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665" y="952858"/>
            <a:ext cx="5356553" cy="678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3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3">
            <a:extLst>
              <a:ext uri="{FF2B5EF4-FFF2-40B4-BE49-F238E27FC236}">
                <a16:creationId xmlns:a16="http://schemas.microsoft.com/office/drawing/2014/main" id="{634AA0D2-41BE-156E-0BE2-085B1D5B1194}"/>
              </a:ext>
            </a:extLst>
          </p:cNvPr>
          <p:cNvSpPr/>
          <p:nvPr/>
        </p:nvSpPr>
        <p:spPr>
          <a:xfrm>
            <a:off x="322486" y="201174"/>
            <a:ext cx="7196667" cy="952500"/>
          </a:xfrm>
          <a:custGeom>
            <a:avLst/>
            <a:gdLst/>
            <a:ahLst/>
            <a:cxnLst/>
            <a:rect l="l" t="t" r="r" b="b"/>
            <a:pathLst>
              <a:path w="7196667" h="952500">
                <a:moveTo>
                  <a:pt x="84668" y="0"/>
                </a:moveTo>
                <a:lnTo>
                  <a:pt x="7111999" y="0"/>
                </a:lnTo>
                <a:cubicBezTo>
                  <a:pt x="7158760" y="0"/>
                  <a:pt x="7196667" y="37907"/>
                  <a:pt x="7196667" y="84668"/>
                </a:cubicBezTo>
                <a:lnTo>
                  <a:pt x="7196667" y="867832"/>
                </a:lnTo>
                <a:cubicBezTo>
                  <a:pt x="7196667" y="914593"/>
                  <a:pt x="7158760" y="952500"/>
                  <a:pt x="7111999" y="952500"/>
                </a:cubicBezTo>
                <a:lnTo>
                  <a:pt x="84668" y="952500"/>
                </a:lnTo>
                <a:cubicBezTo>
                  <a:pt x="37907" y="952500"/>
                  <a:pt x="0" y="914593"/>
                  <a:pt x="0" y="867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3" name="Shape 84">
            <a:extLst>
              <a:ext uri="{FF2B5EF4-FFF2-40B4-BE49-F238E27FC236}">
                <a16:creationId xmlns:a16="http://schemas.microsoft.com/office/drawing/2014/main" id="{9F662841-0B27-E1EE-4B8F-6B908D26DD2E}"/>
              </a:ext>
            </a:extLst>
          </p:cNvPr>
          <p:cNvSpPr/>
          <p:nvPr/>
        </p:nvSpPr>
        <p:spPr>
          <a:xfrm>
            <a:off x="518275" y="412784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11667" y="13229"/>
                </a:moveTo>
                <a:cubicBezTo>
                  <a:pt x="211667" y="57919"/>
                  <a:pt x="179999" y="95209"/>
                  <a:pt x="137914" y="103932"/>
                </a:cubicBezTo>
                <a:cubicBezTo>
                  <a:pt x="134648" y="79912"/>
                  <a:pt x="123858" y="58291"/>
                  <a:pt x="107942" y="41548"/>
                </a:cubicBezTo>
                <a:cubicBezTo>
                  <a:pt x="124520" y="16536"/>
                  <a:pt x="152921" y="0"/>
                  <a:pt x="185208" y="0"/>
                </a:cubicBezTo>
                <a:lnTo>
                  <a:pt x="198438" y="0"/>
                </a:lnTo>
                <a:cubicBezTo>
                  <a:pt x="205755" y="0"/>
                  <a:pt x="211667" y="5912"/>
                  <a:pt x="211667" y="13229"/>
                </a:cubicBezTo>
                <a:close/>
                <a:moveTo>
                  <a:pt x="0" y="39688"/>
                </a:moveTo>
                <a:cubicBezTo>
                  <a:pt x="0" y="32370"/>
                  <a:pt x="5912" y="26458"/>
                  <a:pt x="13229" y="26458"/>
                </a:cubicBezTo>
                <a:lnTo>
                  <a:pt x="26458" y="26458"/>
                </a:lnTo>
                <a:cubicBezTo>
                  <a:pt x="77597" y="26458"/>
                  <a:pt x="119063" y="67924"/>
                  <a:pt x="119063" y="119063"/>
                </a:cubicBezTo>
                <a:lnTo>
                  <a:pt x="119063" y="198438"/>
                </a:lnTo>
                <a:cubicBezTo>
                  <a:pt x="119063" y="205755"/>
                  <a:pt x="113151" y="211667"/>
                  <a:pt x="105833" y="211667"/>
                </a:cubicBezTo>
                <a:cubicBezTo>
                  <a:pt x="98516" y="211667"/>
                  <a:pt x="92604" y="205755"/>
                  <a:pt x="92604" y="198438"/>
                </a:cubicBezTo>
                <a:lnTo>
                  <a:pt x="92604" y="132292"/>
                </a:lnTo>
                <a:cubicBezTo>
                  <a:pt x="41465" y="132292"/>
                  <a:pt x="0" y="90826"/>
                  <a:pt x="0" y="3968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" name="Text 85">
            <a:extLst>
              <a:ext uri="{FF2B5EF4-FFF2-40B4-BE49-F238E27FC236}">
                <a16:creationId xmlns:a16="http://schemas.microsoft.com/office/drawing/2014/main" id="{32A0EFFA-52CB-74B8-7150-B13AEC4E822C}"/>
              </a:ext>
            </a:extLst>
          </p:cNvPr>
          <p:cNvSpPr/>
          <p:nvPr/>
        </p:nvSpPr>
        <p:spPr>
          <a:xfrm>
            <a:off x="841032" y="370503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作物分析</a:t>
            </a:r>
            <a:endParaRPr lang="en-US" sz="1600" dirty="0"/>
          </a:p>
        </p:txBody>
      </p:sp>
      <p:sp>
        <p:nvSpPr>
          <p:cNvPr id="5" name="Text 86">
            <a:extLst>
              <a:ext uri="{FF2B5EF4-FFF2-40B4-BE49-F238E27FC236}">
                <a16:creationId xmlns:a16="http://schemas.microsoft.com/office/drawing/2014/main" id="{3245C5AD-39D4-2C16-DC1A-C4F6FD76A0D1}"/>
              </a:ext>
            </a:extLst>
          </p:cNvPr>
          <p:cNvSpPr/>
          <p:nvPr/>
        </p:nvSpPr>
        <p:spPr>
          <a:xfrm>
            <a:off x="491817" y="751446"/>
            <a:ext cx="6942667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多作物适宜性对比评价,支持同一地区不同作物或不同地区同一作物的适宜性对比分析。</a:t>
            </a:r>
            <a:endParaRPr lang="en-US" sz="1600" dirty="0"/>
          </a:p>
        </p:txBody>
      </p:sp>
      <p:pic>
        <p:nvPicPr>
          <p:cNvPr id="7" name="图片 6" descr="图表, 饼图&#10;&#10;AI 生成的内容可能不正确。">
            <a:extLst>
              <a:ext uri="{FF2B5EF4-FFF2-40B4-BE49-F238E27FC236}">
                <a16:creationId xmlns:a16="http://schemas.microsoft.com/office/drawing/2014/main" id="{8FA447D4-0724-E526-057D-12E05EA63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691" y="2039272"/>
            <a:ext cx="6252378" cy="5458807"/>
          </a:xfrm>
          <a:prstGeom prst="rect">
            <a:avLst/>
          </a:prstGeom>
        </p:spPr>
      </p:pic>
      <p:pic>
        <p:nvPicPr>
          <p:cNvPr id="9" name="图片 8" descr="图表, 条形图&#10;&#10;AI 生成的内容可能不正确。">
            <a:extLst>
              <a:ext uri="{FF2B5EF4-FFF2-40B4-BE49-F238E27FC236}">
                <a16:creationId xmlns:a16="http://schemas.microsoft.com/office/drawing/2014/main" id="{6AEDEAE9-73F9-A5FB-51B1-7B561461E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034" y="2157878"/>
            <a:ext cx="8777352" cy="2786083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7E6964-F972-ED93-2CBA-6D4209863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089435"/>
              </p:ext>
            </p:extLst>
          </p:nvPr>
        </p:nvGraphicFramePr>
        <p:xfrm>
          <a:off x="299523" y="1280669"/>
          <a:ext cx="7196667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6667">
                  <a:extLst>
                    <a:ext uri="{9D8B030D-6E8A-4147-A177-3AD203B41FA5}">
                      <a16:colId xmlns:a16="http://schemas.microsoft.com/office/drawing/2014/main" val="4011336122"/>
                    </a:ext>
                  </a:extLst>
                </a:gridCol>
              </a:tblGrid>
              <a:tr h="540511">
                <a:tc>
                  <a:txBody>
                    <a:bodyPr/>
                    <a:lstStyle/>
                    <a:p>
                      <a:r>
                        <a:rPr lang="zh-CN" altLang="en-US" sz="3200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作物温度需求范围：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2756"/>
                  </a:ext>
                </a:extLst>
              </a:tr>
            </a:tbl>
          </a:graphicData>
        </a:graphic>
      </p:graphicFrame>
      <p:pic>
        <p:nvPicPr>
          <p:cNvPr id="12" name="图片 11" descr="图表, 饼图&#10;&#10;AI 生成的内容可能不正确。">
            <a:extLst>
              <a:ext uri="{FF2B5EF4-FFF2-40B4-BE49-F238E27FC236}">
                <a16:creationId xmlns:a16="http://schemas.microsoft.com/office/drawing/2014/main" id="{4B031648-087F-03BF-50E9-3E184DB0E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75" y="5282559"/>
            <a:ext cx="8753539" cy="34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8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321" y="523974"/>
            <a:ext cx="476366" cy="476366"/>
          </a:xfrm>
          <a:custGeom>
            <a:avLst/>
            <a:gdLst/>
            <a:ahLst/>
            <a:cxnLst/>
            <a:rect l="l" t="t" r="r" b="b"/>
            <a:pathLst>
              <a:path w="476366" h="476366">
                <a:moveTo>
                  <a:pt x="238183" y="0"/>
                </a:moveTo>
                <a:lnTo>
                  <a:pt x="238183" y="0"/>
                </a:lnTo>
                <a:cubicBezTo>
                  <a:pt x="369640" y="0"/>
                  <a:pt x="476366" y="106726"/>
                  <a:pt x="476366" y="238183"/>
                </a:cubicBezTo>
                <a:lnTo>
                  <a:pt x="476366" y="238183"/>
                </a:lnTo>
                <a:cubicBezTo>
                  <a:pt x="476366" y="369640"/>
                  <a:pt x="369640" y="476366"/>
                  <a:pt x="238183" y="476366"/>
                </a:cubicBezTo>
                <a:lnTo>
                  <a:pt x="238183" y="476366"/>
                </a:lnTo>
                <a:cubicBezTo>
                  <a:pt x="106726" y="476366"/>
                  <a:pt x="0" y="369640"/>
                  <a:pt x="0" y="238183"/>
                </a:cubicBezTo>
                <a:lnTo>
                  <a:pt x="0" y="238183"/>
                </a:lnTo>
                <a:cubicBezTo>
                  <a:pt x="0" y="106726"/>
                  <a:pt x="106726" y="0"/>
                  <a:pt x="238183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3" name="Text 1"/>
          <p:cNvSpPr/>
          <p:nvPr/>
        </p:nvSpPr>
        <p:spPr>
          <a:xfrm>
            <a:off x="587894" y="595382"/>
            <a:ext cx="357275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8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5531" y="476320"/>
            <a:ext cx="6002215" cy="57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1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数据可视化与分析结果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5531" y="1190840"/>
            <a:ext cx="1143279" cy="47637"/>
          </a:xfrm>
          <a:custGeom>
            <a:avLst/>
            <a:gdLst/>
            <a:ahLst/>
            <a:cxnLst/>
            <a:rect l="l" t="t" r="r" b="b"/>
            <a:pathLst>
              <a:path w="1143279" h="47637">
                <a:moveTo>
                  <a:pt x="0" y="0"/>
                </a:moveTo>
                <a:lnTo>
                  <a:pt x="1143279" y="0"/>
                </a:lnTo>
                <a:lnTo>
                  <a:pt x="1143279" y="47637"/>
                </a:lnTo>
                <a:lnTo>
                  <a:pt x="0" y="47637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476321" y="1428959"/>
            <a:ext cx="10146602" cy="7848135"/>
          </a:xfrm>
          <a:custGeom>
            <a:avLst/>
            <a:gdLst/>
            <a:ahLst/>
            <a:cxnLst/>
            <a:rect l="l" t="t" r="r" b="b"/>
            <a:pathLst>
              <a:path w="10146602" h="7848135">
                <a:moveTo>
                  <a:pt x="142915" y="0"/>
                </a:moveTo>
                <a:lnTo>
                  <a:pt x="10003688" y="0"/>
                </a:lnTo>
                <a:cubicBezTo>
                  <a:pt x="10082617" y="0"/>
                  <a:pt x="10146602" y="63985"/>
                  <a:pt x="10146602" y="142915"/>
                </a:cubicBezTo>
                <a:lnTo>
                  <a:pt x="10146602" y="7705220"/>
                </a:lnTo>
                <a:cubicBezTo>
                  <a:pt x="10146602" y="7784150"/>
                  <a:pt x="10082617" y="7848135"/>
                  <a:pt x="10003688" y="7848135"/>
                </a:cubicBezTo>
                <a:lnTo>
                  <a:pt x="142915" y="7848135"/>
                </a:lnTo>
                <a:cubicBezTo>
                  <a:pt x="63985" y="7848135"/>
                  <a:pt x="0" y="7784150"/>
                  <a:pt x="0" y="7705220"/>
                </a:cubicBezTo>
                <a:lnTo>
                  <a:pt x="0" y="142915"/>
                </a:lnTo>
                <a:cubicBezTo>
                  <a:pt x="0" y="64038"/>
                  <a:pt x="64038" y="0"/>
                  <a:pt x="1429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78637" dist="11909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2592" y="1667084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285820" y="26796"/>
                </a:moveTo>
                <a:cubicBezTo>
                  <a:pt x="285820" y="20599"/>
                  <a:pt x="282638" y="14849"/>
                  <a:pt x="277335" y="11611"/>
                </a:cubicBezTo>
                <a:cubicBezTo>
                  <a:pt x="272031" y="8374"/>
                  <a:pt x="265500" y="8039"/>
                  <a:pt x="259973" y="10830"/>
                </a:cubicBezTo>
                <a:lnTo>
                  <a:pt x="195105" y="43264"/>
                </a:lnTo>
                <a:lnTo>
                  <a:pt x="94957" y="9825"/>
                </a:lnTo>
                <a:cubicBezTo>
                  <a:pt x="90435" y="8318"/>
                  <a:pt x="85578" y="8653"/>
                  <a:pt x="81336" y="10774"/>
                </a:cubicBezTo>
                <a:lnTo>
                  <a:pt x="9881" y="46502"/>
                </a:lnTo>
                <a:cubicBezTo>
                  <a:pt x="3796" y="49572"/>
                  <a:pt x="0" y="55768"/>
                  <a:pt x="0" y="62523"/>
                </a:cubicBezTo>
                <a:lnTo>
                  <a:pt x="0" y="259024"/>
                </a:lnTo>
                <a:cubicBezTo>
                  <a:pt x="0" y="265221"/>
                  <a:pt x="3182" y="270971"/>
                  <a:pt x="8485" y="274208"/>
                </a:cubicBezTo>
                <a:cubicBezTo>
                  <a:pt x="13789" y="277446"/>
                  <a:pt x="20320" y="277781"/>
                  <a:pt x="25847" y="274990"/>
                </a:cubicBezTo>
                <a:lnTo>
                  <a:pt x="90658" y="242556"/>
                </a:lnTo>
                <a:lnTo>
                  <a:pt x="190807" y="275939"/>
                </a:lnTo>
                <a:cubicBezTo>
                  <a:pt x="195329" y="277446"/>
                  <a:pt x="200185" y="277111"/>
                  <a:pt x="204428" y="274990"/>
                </a:cubicBezTo>
                <a:lnTo>
                  <a:pt x="275883" y="239262"/>
                </a:lnTo>
                <a:cubicBezTo>
                  <a:pt x="281912" y="236248"/>
                  <a:pt x="285764" y="230051"/>
                  <a:pt x="285764" y="223297"/>
                </a:cubicBezTo>
                <a:lnTo>
                  <a:pt x="285764" y="26796"/>
                </a:lnTo>
                <a:close/>
                <a:moveTo>
                  <a:pt x="107182" y="210401"/>
                </a:moveTo>
                <a:lnTo>
                  <a:pt x="107182" y="51582"/>
                </a:lnTo>
                <a:lnTo>
                  <a:pt x="178637" y="75418"/>
                </a:lnTo>
                <a:lnTo>
                  <a:pt x="178637" y="234238"/>
                </a:lnTo>
                <a:lnTo>
                  <a:pt x="107182" y="210401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8" name="Text 6"/>
          <p:cNvSpPr/>
          <p:nvPr/>
        </p:nvSpPr>
        <p:spPr>
          <a:xfrm>
            <a:off x="1024139" y="1619506"/>
            <a:ext cx="9551144" cy="381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1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湖南省农业种植适宜性区划地图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738419" y="1465454"/>
            <a:ext cx="4978028" cy="7535316"/>
          </a:xfrm>
          <a:custGeom>
            <a:avLst/>
            <a:gdLst/>
            <a:ahLst/>
            <a:cxnLst/>
            <a:rect l="l" t="t" r="r" b="b"/>
            <a:pathLst>
              <a:path w="4978028" h="4382570">
                <a:moveTo>
                  <a:pt x="142916" y="0"/>
                </a:moveTo>
                <a:lnTo>
                  <a:pt x="4835112" y="0"/>
                </a:lnTo>
                <a:cubicBezTo>
                  <a:pt x="4914042" y="0"/>
                  <a:pt x="4978028" y="63985"/>
                  <a:pt x="4978028" y="142916"/>
                </a:cubicBezTo>
                <a:lnTo>
                  <a:pt x="4978028" y="4239654"/>
                </a:lnTo>
                <a:cubicBezTo>
                  <a:pt x="4978028" y="4318584"/>
                  <a:pt x="4914042" y="4382570"/>
                  <a:pt x="4835112" y="4382570"/>
                </a:cubicBezTo>
                <a:lnTo>
                  <a:pt x="142916" y="4382570"/>
                </a:lnTo>
                <a:cubicBezTo>
                  <a:pt x="63985" y="4382570"/>
                  <a:pt x="0" y="4318584"/>
                  <a:pt x="0" y="4239654"/>
                </a:cubicBezTo>
                <a:lnTo>
                  <a:pt x="0" y="142916"/>
                </a:lnTo>
                <a:cubicBezTo>
                  <a:pt x="0" y="64038"/>
                  <a:pt x="64038" y="0"/>
                  <a:pt x="14291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  <a:effectLst>
            <a:outerShdw blurRad="178637" dist="11909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1028497" y="1831635"/>
            <a:ext cx="238183" cy="238183"/>
          </a:xfrm>
          <a:custGeom>
            <a:avLst/>
            <a:gdLst/>
            <a:ahLst/>
            <a:cxnLst/>
            <a:rect l="l" t="t" r="r" b="b"/>
            <a:pathLst>
              <a:path w="238183" h="238183">
                <a:moveTo>
                  <a:pt x="67129" y="0"/>
                </a:moveTo>
                <a:lnTo>
                  <a:pt x="171334" y="0"/>
                </a:lnTo>
                <a:cubicBezTo>
                  <a:pt x="183662" y="0"/>
                  <a:pt x="193710" y="10141"/>
                  <a:pt x="193245" y="22423"/>
                </a:cubicBezTo>
                <a:cubicBezTo>
                  <a:pt x="193152" y="24888"/>
                  <a:pt x="193059" y="27354"/>
                  <a:pt x="192919" y="29773"/>
                </a:cubicBezTo>
                <a:lnTo>
                  <a:pt x="215993" y="29773"/>
                </a:lnTo>
                <a:cubicBezTo>
                  <a:pt x="228135" y="29773"/>
                  <a:pt x="238834" y="39821"/>
                  <a:pt x="237904" y="52940"/>
                </a:cubicBezTo>
                <a:cubicBezTo>
                  <a:pt x="234415" y="101181"/>
                  <a:pt x="209759" y="127698"/>
                  <a:pt x="183010" y="141561"/>
                </a:cubicBezTo>
                <a:cubicBezTo>
                  <a:pt x="175660" y="145375"/>
                  <a:pt x="168170" y="148213"/>
                  <a:pt x="161053" y="150307"/>
                </a:cubicBezTo>
                <a:cubicBezTo>
                  <a:pt x="151656" y="163611"/>
                  <a:pt x="141886" y="170636"/>
                  <a:pt x="134118" y="174404"/>
                </a:cubicBezTo>
                <a:lnTo>
                  <a:pt x="134118" y="208410"/>
                </a:lnTo>
                <a:lnTo>
                  <a:pt x="163890" y="208410"/>
                </a:lnTo>
                <a:cubicBezTo>
                  <a:pt x="172125" y="208410"/>
                  <a:pt x="178777" y="215063"/>
                  <a:pt x="178777" y="223297"/>
                </a:cubicBezTo>
                <a:cubicBezTo>
                  <a:pt x="178777" y="231531"/>
                  <a:pt x="172125" y="238183"/>
                  <a:pt x="163890" y="238183"/>
                </a:cubicBezTo>
                <a:lnTo>
                  <a:pt x="74572" y="238183"/>
                </a:lnTo>
                <a:cubicBezTo>
                  <a:pt x="66338" y="238183"/>
                  <a:pt x="59685" y="231531"/>
                  <a:pt x="59685" y="223297"/>
                </a:cubicBezTo>
                <a:cubicBezTo>
                  <a:pt x="59685" y="215063"/>
                  <a:pt x="66338" y="208410"/>
                  <a:pt x="74572" y="208410"/>
                </a:cubicBezTo>
                <a:lnTo>
                  <a:pt x="104345" y="208410"/>
                </a:lnTo>
                <a:lnTo>
                  <a:pt x="104345" y="174404"/>
                </a:lnTo>
                <a:cubicBezTo>
                  <a:pt x="96901" y="170822"/>
                  <a:pt x="87644" y="164170"/>
                  <a:pt x="78619" y="151935"/>
                </a:cubicBezTo>
                <a:cubicBezTo>
                  <a:pt x="70059" y="149702"/>
                  <a:pt x="60755" y="146306"/>
                  <a:pt x="51684" y="141189"/>
                </a:cubicBezTo>
                <a:cubicBezTo>
                  <a:pt x="26516" y="127093"/>
                  <a:pt x="3815" y="100530"/>
                  <a:pt x="558" y="52847"/>
                </a:cubicBezTo>
                <a:cubicBezTo>
                  <a:pt x="-326" y="39775"/>
                  <a:pt x="10327" y="29726"/>
                  <a:pt x="22469" y="29726"/>
                </a:cubicBezTo>
                <a:lnTo>
                  <a:pt x="45543" y="29726"/>
                </a:lnTo>
                <a:cubicBezTo>
                  <a:pt x="45404" y="27307"/>
                  <a:pt x="45311" y="24888"/>
                  <a:pt x="45218" y="22376"/>
                </a:cubicBezTo>
                <a:cubicBezTo>
                  <a:pt x="44752" y="10048"/>
                  <a:pt x="54801" y="-47"/>
                  <a:pt x="67129" y="-47"/>
                </a:cubicBezTo>
                <a:close/>
                <a:moveTo>
                  <a:pt x="47218" y="52103"/>
                </a:moveTo>
                <a:lnTo>
                  <a:pt x="22841" y="52103"/>
                </a:lnTo>
                <a:cubicBezTo>
                  <a:pt x="25726" y="91505"/>
                  <a:pt x="43822" y="111230"/>
                  <a:pt x="62477" y="121697"/>
                </a:cubicBezTo>
                <a:cubicBezTo>
                  <a:pt x="55778" y="104345"/>
                  <a:pt x="50242" y="81689"/>
                  <a:pt x="47218" y="52103"/>
                </a:cubicBezTo>
                <a:close/>
                <a:moveTo>
                  <a:pt x="176777" y="119464"/>
                </a:moveTo>
                <a:cubicBezTo>
                  <a:pt x="195617" y="108392"/>
                  <a:pt x="212644" y="88714"/>
                  <a:pt x="215528" y="52103"/>
                </a:cubicBezTo>
                <a:lnTo>
                  <a:pt x="191198" y="52103"/>
                </a:lnTo>
                <a:cubicBezTo>
                  <a:pt x="188314" y="80433"/>
                  <a:pt x="183103" y="102437"/>
                  <a:pt x="176777" y="119464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8" name="Text 25"/>
          <p:cNvSpPr/>
          <p:nvPr/>
        </p:nvSpPr>
        <p:spPr>
          <a:xfrm>
            <a:off x="11296453" y="1784057"/>
            <a:ext cx="4418297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5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关键数据发现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998724" y="2260377"/>
            <a:ext cx="4596935" cy="1157310"/>
          </a:xfrm>
          <a:custGeom>
            <a:avLst/>
            <a:gdLst/>
            <a:ahLst/>
            <a:cxnLst/>
            <a:rect l="l" t="t" r="r" b="b"/>
            <a:pathLst>
              <a:path w="4596935" h="809823">
                <a:moveTo>
                  <a:pt x="47634" y="0"/>
                </a:moveTo>
                <a:lnTo>
                  <a:pt x="4549301" y="0"/>
                </a:lnTo>
                <a:cubicBezTo>
                  <a:pt x="4575608" y="0"/>
                  <a:pt x="4596935" y="21326"/>
                  <a:pt x="4596935" y="47634"/>
                </a:cubicBezTo>
                <a:lnTo>
                  <a:pt x="4596935" y="762189"/>
                </a:lnTo>
                <a:cubicBezTo>
                  <a:pt x="4596935" y="788496"/>
                  <a:pt x="4575608" y="809823"/>
                  <a:pt x="4549301" y="809823"/>
                </a:cubicBezTo>
                <a:lnTo>
                  <a:pt x="47634" y="809823"/>
                </a:lnTo>
                <a:cubicBezTo>
                  <a:pt x="21326" y="809823"/>
                  <a:pt x="0" y="788496"/>
                  <a:pt x="0" y="762189"/>
                </a:cubicBezTo>
                <a:lnTo>
                  <a:pt x="0" y="47634"/>
                </a:lnTo>
                <a:cubicBezTo>
                  <a:pt x="0" y="21344"/>
                  <a:pt x="21344" y="0"/>
                  <a:pt x="47634" y="0"/>
                </a:cubicBezTo>
                <a:close/>
              </a:path>
            </a:pathLst>
          </a:custGeom>
          <a:solidFill>
            <a:srgbClr val="C3A170">
              <a:alpha val="3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1046361" y="2499431"/>
            <a:ext cx="4549298" cy="381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1" b="1" dirty="0">
                <a:solidFill>
                  <a:srgbClr val="C3A17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24.80%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052315" y="3028008"/>
            <a:ext cx="4489752" cy="23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高度适宜面积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986775" y="3559470"/>
            <a:ext cx="4596935" cy="1157310"/>
          </a:xfrm>
          <a:custGeom>
            <a:avLst/>
            <a:gdLst/>
            <a:ahLst/>
            <a:cxnLst/>
            <a:rect l="l" t="t" r="r" b="b"/>
            <a:pathLst>
              <a:path w="4596935" h="809823">
                <a:moveTo>
                  <a:pt x="47634" y="0"/>
                </a:moveTo>
                <a:lnTo>
                  <a:pt x="4549301" y="0"/>
                </a:lnTo>
                <a:cubicBezTo>
                  <a:pt x="4575608" y="0"/>
                  <a:pt x="4596935" y="21326"/>
                  <a:pt x="4596935" y="47634"/>
                </a:cubicBezTo>
                <a:lnTo>
                  <a:pt x="4596935" y="762189"/>
                </a:lnTo>
                <a:cubicBezTo>
                  <a:pt x="4596935" y="788496"/>
                  <a:pt x="4575608" y="809823"/>
                  <a:pt x="4549301" y="809823"/>
                </a:cubicBezTo>
                <a:lnTo>
                  <a:pt x="47634" y="809823"/>
                </a:lnTo>
                <a:cubicBezTo>
                  <a:pt x="21326" y="809823"/>
                  <a:pt x="0" y="788496"/>
                  <a:pt x="0" y="762189"/>
                </a:cubicBezTo>
                <a:lnTo>
                  <a:pt x="0" y="47634"/>
                </a:lnTo>
                <a:cubicBezTo>
                  <a:pt x="0" y="21344"/>
                  <a:pt x="21344" y="0"/>
                  <a:pt x="47634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1064185" y="3649777"/>
            <a:ext cx="4549298" cy="51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1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53.34%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093958" y="4310209"/>
            <a:ext cx="4489752" cy="23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适宜面积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986774" y="4865837"/>
            <a:ext cx="4596935" cy="1274432"/>
          </a:xfrm>
          <a:custGeom>
            <a:avLst/>
            <a:gdLst/>
            <a:ahLst/>
            <a:cxnLst/>
            <a:rect l="l" t="t" r="r" b="b"/>
            <a:pathLst>
              <a:path w="4596935" h="809823">
                <a:moveTo>
                  <a:pt x="47634" y="0"/>
                </a:moveTo>
                <a:lnTo>
                  <a:pt x="4549301" y="0"/>
                </a:lnTo>
                <a:cubicBezTo>
                  <a:pt x="4575608" y="0"/>
                  <a:pt x="4596935" y="21326"/>
                  <a:pt x="4596935" y="47634"/>
                </a:cubicBezTo>
                <a:lnTo>
                  <a:pt x="4596935" y="762189"/>
                </a:lnTo>
                <a:cubicBezTo>
                  <a:pt x="4596935" y="788496"/>
                  <a:pt x="4575608" y="809823"/>
                  <a:pt x="4549301" y="809823"/>
                </a:cubicBezTo>
                <a:lnTo>
                  <a:pt x="47634" y="809823"/>
                </a:lnTo>
                <a:cubicBezTo>
                  <a:pt x="21326" y="809823"/>
                  <a:pt x="0" y="788496"/>
                  <a:pt x="0" y="762189"/>
                </a:cubicBezTo>
                <a:lnTo>
                  <a:pt x="0" y="47634"/>
                </a:lnTo>
                <a:cubicBezTo>
                  <a:pt x="0" y="21344"/>
                  <a:pt x="21344" y="0"/>
                  <a:pt x="47634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1093958" y="5102695"/>
            <a:ext cx="4549298" cy="381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1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21.26%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093958" y="5483782"/>
            <a:ext cx="4489752" cy="23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勉强适宜面积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998723" y="6521356"/>
            <a:ext cx="4596935" cy="1333397"/>
          </a:xfrm>
          <a:custGeom>
            <a:avLst/>
            <a:gdLst/>
            <a:ahLst/>
            <a:cxnLst/>
            <a:rect l="l" t="t" r="r" b="b"/>
            <a:pathLst>
              <a:path w="4596935" h="809823">
                <a:moveTo>
                  <a:pt x="47634" y="0"/>
                </a:moveTo>
                <a:lnTo>
                  <a:pt x="4549301" y="0"/>
                </a:lnTo>
                <a:cubicBezTo>
                  <a:pt x="4575608" y="0"/>
                  <a:pt x="4596935" y="21326"/>
                  <a:pt x="4596935" y="47634"/>
                </a:cubicBezTo>
                <a:lnTo>
                  <a:pt x="4596935" y="762189"/>
                </a:lnTo>
                <a:cubicBezTo>
                  <a:pt x="4596935" y="788496"/>
                  <a:pt x="4575608" y="809823"/>
                  <a:pt x="4549301" y="809823"/>
                </a:cubicBezTo>
                <a:lnTo>
                  <a:pt x="47634" y="809823"/>
                </a:lnTo>
                <a:cubicBezTo>
                  <a:pt x="21326" y="809823"/>
                  <a:pt x="0" y="788496"/>
                  <a:pt x="0" y="762189"/>
                </a:cubicBezTo>
                <a:lnTo>
                  <a:pt x="0" y="47634"/>
                </a:lnTo>
                <a:cubicBezTo>
                  <a:pt x="0" y="21344"/>
                  <a:pt x="21344" y="0"/>
                  <a:pt x="47634" y="0"/>
                </a:cubicBezTo>
                <a:close/>
              </a:path>
            </a:pathLst>
          </a:custGeom>
          <a:solidFill>
            <a:srgbClr val="C3A170">
              <a:alpha val="5098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11093958" y="6746745"/>
            <a:ext cx="4549298" cy="381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1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0.60%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093958" y="7127832"/>
            <a:ext cx="4489752" cy="23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不适宜面积</a:t>
            </a:r>
            <a:endParaRPr lang="en-US" sz="1600" dirty="0"/>
          </a:p>
        </p:txBody>
      </p:sp>
      <p:pic>
        <p:nvPicPr>
          <p:cNvPr id="10" name="图片 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C0A3FBB-35F6-4A40-BCA5-515276F46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30" y="2309707"/>
            <a:ext cx="10057718" cy="2262293"/>
          </a:xfrm>
          <a:prstGeom prst="rect">
            <a:avLst/>
          </a:prstGeom>
        </p:spPr>
      </p:pic>
      <p:pic>
        <p:nvPicPr>
          <p:cNvPr id="12" name="图片 11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6144D20B-2227-579E-CFB4-494A66F00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21" y="4928803"/>
            <a:ext cx="10091811" cy="407196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39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293" y="46564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" name="Text 1"/>
          <p:cNvSpPr/>
          <p:nvPr/>
        </p:nvSpPr>
        <p:spPr>
          <a:xfrm>
            <a:off x="521907" y="529099"/>
            <a:ext cx="31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3567" y="423292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系统特色与创新点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73567" y="1058266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423293" y="1053021"/>
            <a:ext cx="7620000" cy="3686799"/>
          </a:xfrm>
          <a:custGeom>
            <a:avLst/>
            <a:gdLst/>
            <a:ahLst/>
            <a:cxnLst/>
            <a:rect l="l" t="t" r="r" b="b"/>
            <a:pathLst>
              <a:path w="7620000" h="4961776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4834755"/>
                </a:lnTo>
                <a:cubicBezTo>
                  <a:pt x="7620000" y="4904907"/>
                  <a:pt x="7563131" y="4961776"/>
                  <a:pt x="7492979" y="4961776"/>
                </a:cubicBezTo>
                <a:lnTo>
                  <a:pt x="127021" y="4961776"/>
                </a:lnTo>
                <a:cubicBezTo>
                  <a:pt x="56869" y="4961776"/>
                  <a:pt x="0" y="4904907"/>
                  <a:pt x="0" y="4834755"/>
                </a:cubicBez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3293" y="1053021"/>
            <a:ext cx="7620000" cy="38720"/>
          </a:xfrm>
          <a:custGeom>
            <a:avLst/>
            <a:gdLst/>
            <a:ahLst/>
            <a:cxnLst/>
            <a:rect l="l" t="t" r="r" b="b"/>
            <a:pathLst>
              <a:path w="7620000" h="38720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38720"/>
                </a:lnTo>
                <a:lnTo>
                  <a:pt x="0" y="38720"/>
                </a:ln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8" name="Shape 6"/>
          <p:cNvSpPr/>
          <p:nvPr/>
        </p:nvSpPr>
        <p:spPr>
          <a:xfrm>
            <a:off x="637552" y="1294544"/>
            <a:ext cx="396875" cy="317500"/>
          </a:xfrm>
          <a:custGeom>
            <a:avLst/>
            <a:gdLst/>
            <a:ahLst/>
            <a:cxnLst/>
            <a:rect l="l" t="t" r="r" b="b"/>
            <a:pathLst>
              <a:path w="396875" h="317500">
                <a:moveTo>
                  <a:pt x="257907" y="130535"/>
                </a:moveTo>
                <a:cubicBezTo>
                  <a:pt x="265472" y="128488"/>
                  <a:pt x="273410" y="132085"/>
                  <a:pt x="276820" y="139092"/>
                </a:cubicBezTo>
                <a:lnTo>
                  <a:pt x="288354" y="162409"/>
                </a:lnTo>
                <a:cubicBezTo>
                  <a:pt x="294742" y="163277"/>
                  <a:pt x="301005" y="165013"/>
                  <a:pt x="306896" y="167432"/>
                </a:cubicBezTo>
                <a:lnTo>
                  <a:pt x="328600" y="152983"/>
                </a:lnTo>
                <a:cubicBezTo>
                  <a:pt x="335111" y="148642"/>
                  <a:pt x="343731" y="149510"/>
                  <a:pt x="349250" y="155029"/>
                </a:cubicBezTo>
                <a:lnTo>
                  <a:pt x="361156" y="166936"/>
                </a:lnTo>
                <a:cubicBezTo>
                  <a:pt x="366675" y="172455"/>
                  <a:pt x="367543" y="181136"/>
                  <a:pt x="363203" y="187585"/>
                </a:cubicBezTo>
                <a:lnTo>
                  <a:pt x="348754" y="209228"/>
                </a:lnTo>
                <a:cubicBezTo>
                  <a:pt x="349932" y="212142"/>
                  <a:pt x="350986" y="215181"/>
                  <a:pt x="351854" y="218343"/>
                </a:cubicBezTo>
                <a:cubicBezTo>
                  <a:pt x="352723" y="221506"/>
                  <a:pt x="353281" y="224606"/>
                  <a:pt x="353715" y="227769"/>
                </a:cubicBezTo>
                <a:lnTo>
                  <a:pt x="377093" y="239303"/>
                </a:lnTo>
                <a:cubicBezTo>
                  <a:pt x="384101" y="242776"/>
                  <a:pt x="387697" y="250713"/>
                  <a:pt x="385651" y="258217"/>
                </a:cubicBezTo>
                <a:lnTo>
                  <a:pt x="381310" y="274464"/>
                </a:lnTo>
                <a:cubicBezTo>
                  <a:pt x="379264" y="281967"/>
                  <a:pt x="372256" y="287052"/>
                  <a:pt x="364443" y="286556"/>
                </a:cubicBezTo>
                <a:lnTo>
                  <a:pt x="338398" y="284882"/>
                </a:lnTo>
                <a:cubicBezTo>
                  <a:pt x="334491" y="289905"/>
                  <a:pt x="329964" y="294556"/>
                  <a:pt x="324817" y="298524"/>
                </a:cubicBezTo>
                <a:lnTo>
                  <a:pt x="326492" y="324507"/>
                </a:lnTo>
                <a:cubicBezTo>
                  <a:pt x="326988" y="332321"/>
                  <a:pt x="321903" y="339390"/>
                  <a:pt x="314399" y="341375"/>
                </a:cubicBezTo>
                <a:lnTo>
                  <a:pt x="298152" y="345715"/>
                </a:lnTo>
                <a:cubicBezTo>
                  <a:pt x="290587" y="347762"/>
                  <a:pt x="282711" y="344165"/>
                  <a:pt x="279239" y="337158"/>
                </a:cubicBezTo>
                <a:lnTo>
                  <a:pt x="267705" y="313841"/>
                </a:lnTo>
                <a:cubicBezTo>
                  <a:pt x="261317" y="312973"/>
                  <a:pt x="255054" y="311237"/>
                  <a:pt x="249163" y="308818"/>
                </a:cubicBezTo>
                <a:lnTo>
                  <a:pt x="227459" y="323267"/>
                </a:lnTo>
                <a:cubicBezTo>
                  <a:pt x="220948" y="327608"/>
                  <a:pt x="212328" y="326740"/>
                  <a:pt x="206809" y="321221"/>
                </a:cubicBezTo>
                <a:lnTo>
                  <a:pt x="194903" y="309314"/>
                </a:lnTo>
                <a:cubicBezTo>
                  <a:pt x="189384" y="303795"/>
                  <a:pt x="188516" y="295176"/>
                  <a:pt x="192856" y="288665"/>
                </a:cubicBezTo>
                <a:lnTo>
                  <a:pt x="207305" y="266960"/>
                </a:lnTo>
                <a:cubicBezTo>
                  <a:pt x="206127" y="264046"/>
                  <a:pt x="205073" y="261007"/>
                  <a:pt x="204205" y="257845"/>
                </a:cubicBezTo>
                <a:cubicBezTo>
                  <a:pt x="203336" y="254682"/>
                  <a:pt x="202778" y="251520"/>
                  <a:pt x="202344" y="248419"/>
                </a:cubicBezTo>
                <a:lnTo>
                  <a:pt x="178966" y="236885"/>
                </a:lnTo>
                <a:cubicBezTo>
                  <a:pt x="171958" y="233412"/>
                  <a:pt x="168424" y="225475"/>
                  <a:pt x="170408" y="217971"/>
                </a:cubicBezTo>
                <a:lnTo>
                  <a:pt x="174749" y="201724"/>
                </a:lnTo>
                <a:cubicBezTo>
                  <a:pt x="176795" y="194221"/>
                  <a:pt x="183803" y="189136"/>
                  <a:pt x="191616" y="189632"/>
                </a:cubicBezTo>
                <a:lnTo>
                  <a:pt x="217599" y="191306"/>
                </a:lnTo>
                <a:cubicBezTo>
                  <a:pt x="221506" y="186283"/>
                  <a:pt x="226033" y="181632"/>
                  <a:pt x="231180" y="177664"/>
                </a:cubicBezTo>
                <a:lnTo>
                  <a:pt x="229505" y="151743"/>
                </a:lnTo>
                <a:cubicBezTo>
                  <a:pt x="229009" y="143929"/>
                  <a:pt x="234094" y="136860"/>
                  <a:pt x="241598" y="134875"/>
                </a:cubicBezTo>
                <a:lnTo>
                  <a:pt x="257845" y="130535"/>
                </a:lnTo>
                <a:close/>
                <a:moveTo>
                  <a:pt x="278061" y="210840"/>
                </a:moveTo>
                <a:cubicBezTo>
                  <a:pt x="263001" y="210857"/>
                  <a:pt x="250789" y="223097"/>
                  <a:pt x="250806" y="238156"/>
                </a:cubicBezTo>
                <a:cubicBezTo>
                  <a:pt x="250824" y="253215"/>
                  <a:pt x="263063" y="265427"/>
                  <a:pt x="278123" y="265410"/>
                </a:cubicBezTo>
                <a:cubicBezTo>
                  <a:pt x="293182" y="265393"/>
                  <a:pt x="305394" y="253153"/>
                  <a:pt x="305377" y="238094"/>
                </a:cubicBezTo>
                <a:cubicBezTo>
                  <a:pt x="305360" y="223035"/>
                  <a:pt x="293120" y="210823"/>
                  <a:pt x="278061" y="210840"/>
                </a:cubicBezTo>
                <a:close/>
                <a:moveTo>
                  <a:pt x="139464" y="-28215"/>
                </a:moveTo>
                <a:lnTo>
                  <a:pt x="155711" y="-23875"/>
                </a:lnTo>
                <a:cubicBezTo>
                  <a:pt x="163215" y="-21828"/>
                  <a:pt x="168300" y="-14759"/>
                  <a:pt x="167804" y="-7007"/>
                </a:cubicBezTo>
                <a:lnTo>
                  <a:pt x="166129" y="18914"/>
                </a:lnTo>
                <a:cubicBezTo>
                  <a:pt x="171276" y="22882"/>
                  <a:pt x="175803" y="27471"/>
                  <a:pt x="179710" y="32556"/>
                </a:cubicBezTo>
                <a:lnTo>
                  <a:pt x="205755" y="30882"/>
                </a:lnTo>
                <a:cubicBezTo>
                  <a:pt x="213506" y="30386"/>
                  <a:pt x="220576" y="35471"/>
                  <a:pt x="222622" y="42974"/>
                </a:cubicBezTo>
                <a:lnTo>
                  <a:pt x="226963" y="59221"/>
                </a:lnTo>
                <a:cubicBezTo>
                  <a:pt x="228947" y="66725"/>
                  <a:pt x="225413" y="74662"/>
                  <a:pt x="218405" y="78135"/>
                </a:cubicBezTo>
                <a:lnTo>
                  <a:pt x="195027" y="89669"/>
                </a:lnTo>
                <a:cubicBezTo>
                  <a:pt x="194593" y="92832"/>
                  <a:pt x="193973" y="95994"/>
                  <a:pt x="193167" y="99095"/>
                </a:cubicBezTo>
                <a:cubicBezTo>
                  <a:pt x="192360" y="102195"/>
                  <a:pt x="191244" y="105296"/>
                  <a:pt x="190066" y="108210"/>
                </a:cubicBezTo>
                <a:lnTo>
                  <a:pt x="204515" y="129915"/>
                </a:lnTo>
                <a:cubicBezTo>
                  <a:pt x="208855" y="136426"/>
                  <a:pt x="207987" y="145045"/>
                  <a:pt x="202468" y="150564"/>
                </a:cubicBezTo>
                <a:lnTo>
                  <a:pt x="190562" y="162471"/>
                </a:lnTo>
                <a:cubicBezTo>
                  <a:pt x="185043" y="167990"/>
                  <a:pt x="176423" y="168858"/>
                  <a:pt x="169912" y="164517"/>
                </a:cubicBezTo>
                <a:lnTo>
                  <a:pt x="148208" y="150068"/>
                </a:lnTo>
                <a:cubicBezTo>
                  <a:pt x="142317" y="152487"/>
                  <a:pt x="136054" y="154223"/>
                  <a:pt x="129667" y="155091"/>
                </a:cubicBezTo>
                <a:lnTo>
                  <a:pt x="118132" y="178408"/>
                </a:lnTo>
                <a:cubicBezTo>
                  <a:pt x="114660" y="185415"/>
                  <a:pt x="106722" y="188950"/>
                  <a:pt x="99219" y="186965"/>
                </a:cubicBezTo>
                <a:lnTo>
                  <a:pt x="82972" y="182625"/>
                </a:lnTo>
                <a:cubicBezTo>
                  <a:pt x="75406" y="180578"/>
                  <a:pt x="70383" y="173509"/>
                  <a:pt x="70879" y="165757"/>
                </a:cubicBezTo>
                <a:lnTo>
                  <a:pt x="72554" y="139774"/>
                </a:lnTo>
                <a:cubicBezTo>
                  <a:pt x="67407" y="135806"/>
                  <a:pt x="62880" y="131217"/>
                  <a:pt x="58973" y="126132"/>
                </a:cubicBezTo>
                <a:lnTo>
                  <a:pt x="32928" y="127806"/>
                </a:lnTo>
                <a:cubicBezTo>
                  <a:pt x="25177" y="128302"/>
                  <a:pt x="18107" y="123217"/>
                  <a:pt x="16061" y="115714"/>
                </a:cubicBezTo>
                <a:lnTo>
                  <a:pt x="11720" y="99467"/>
                </a:lnTo>
                <a:cubicBezTo>
                  <a:pt x="9736" y="91963"/>
                  <a:pt x="13271" y="84026"/>
                  <a:pt x="20278" y="80553"/>
                </a:cubicBezTo>
                <a:lnTo>
                  <a:pt x="43656" y="69019"/>
                </a:lnTo>
                <a:cubicBezTo>
                  <a:pt x="44090" y="65856"/>
                  <a:pt x="44710" y="62756"/>
                  <a:pt x="45517" y="59593"/>
                </a:cubicBezTo>
                <a:cubicBezTo>
                  <a:pt x="46385" y="56431"/>
                  <a:pt x="47377" y="53392"/>
                  <a:pt x="48617" y="50478"/>
                </a:cubicBezTo>
                <a:lnTo>
                  <a:pt x="34168" y="28835"/>
                </a:lnTo>
                <a:cubicBezTo>
                  <a:pt x="29828" y="22324"/>
                  <a:pt x="30696" y="13705"/>
                  <a:pt x="36215" y="8186"/>
                </a:cubicBezTo>
                <a:lnTo>
                  <a:pt x="48121" y="-3721"/>
                </a:lnTo>
                <a:cubicBezTo>
                  <a:pt x="53640" y="-9240"/>
                  <a:pt x="62260" y="-10108"/>
                  <a:pt x="68771" y="-5767"/>
                </a:cubicBezTo>
                <a:lnTo>
                  <a:pt x="90475" y="8682"/>
                </a:lnTo>
                <a:cubicBezTo>
                  <a:pt x="96366" y="6263"/>
                  <a:pt x="102629" y="4527"/>
                  <a:pt x="109017" y="3659"/>
                </a:cubicBezTo>
                <a:lnTo>
                  <a:pt x="120551" y="-19658"/>
                </a:lnTo>
                <a:cubicBezTo>
                  <a:pt x="124023" y="-26665"/>
                  <a:pt x="131899" y="-30200"/>
                  <a:pt x="139464" y="-28215"/>
                </a:cubicBezTo>
                <a:close/>
                <a:moveTo>
                  <a:pt x="119311" y="52090"/>
                </a:moveTo>
                <a:cubicBezTo>
                  <a:pt x="104251" y="52090"/>
                  <a:pt x="92025" y="64316"/>
                  <a:pt x="92025" y="79375"/>
                </a:cubicBezTo>
                <a:cubicBezTo>
                  <a:pt x="92025" y="94434"/>
                  <a:pt x="104251" y="106660"/>
                  <a:pt x="119311" y="106660"/>
                </a:cubicBezTo>
                <a:cubicBezTo>
                  <a:pt x="134370" y="106660"/>
                  <a:pt x="146596" y="94434"/>
                  <a:pt x="146596" y="79375"/>
                </a:cubicBezTo>
                <a:cubicBezTo>
                  <a:pt x="146596" y="64316"/>
                  <a:pt x="134370" y="52090"/>
                  <a:pt x="119311" y="5209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" name="Text 7"/>
          <p:cNvSpPr/>
          <p:nvPr/>
        </p:nvSpPr>
        <p:spPr>
          <a:xfrm>
            <a:off x="1158762" y="1283992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4906" y="1850947"/>
            <a:ext cx="7196667" cy="1185333"/>
          </a:xfrm>
          <a:custGeom>
            <a:avLst/>
            <a:gdLst/>
            <a:ahLst/>
            <a:cxnLst/>
            <a:rect l="l" t="t" r="r" b="b"/>
            <a:pathLst>
              <a:path w="7196667" h="1185333">
                <a:moveTo>
                  <a:pt x="84668" y="0"/>
                </a:moveTo>
                <a:lnTo>
                  <a:pt x="7111998" y="0"/>
                </a:lnTo>
                <a:cubicBezTo>
                  <a:pt x="7158759" y="0"/>
                  <a:pt x="7196667" y="37907"/>
                  <a:pt x="7196667" y="84668"/>
                </a:cubicBezTo>
                <a:lnTo>
                  <a:pt x="7196667" y="1100665"/>
                </a:lnTo>
                <a:cubicBezTo>
                  <a:pt x="7196667" y="1147426"/>
                  <a:pt x="7158759" y="1185333"/>
                  <a:pt x="7111998" y="1185333"/>
                </a:cubicBezTo>
                <a:lnTo>
                  <a:pt x="84668" y="1185333"/>
                </a:lnTo>
                <a:cubicBezTo>
                  <a:pt x="37907" y="1185333"/>
                  <a:pt x="0" y="1147426"/>
                  <a:pt x="0" y="1100665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794960" y="203083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2" name="Text 10"/>
          <p:cNvSpPr/>
          <p:nvPr/>
        </p:nvSpPr>
        <p:spPr>
          <a:xfrm>
            <a:off x="994720" y="1977927"/>
            <a:ext cx="6805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Spark并行计算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1887" y="2358875"/>
            <a:ext cx="7027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采用</a:t>
            </a: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Apache Spark</a:t>
            </a: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实现农业大数据的并行计算和实时处理,支持海量数据的快速分析,显著提升系统性能。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3510" y="3525855"/>
            <a:ext cx="7182125" cy="927375"/>
          </a:xfrm>
          <a:custGeom>
            <a:avLst/>
            <a:gdLst/>
            <a:ahLst/>
            <a:cxnLst/>
            <a:rect l="l" t="t" r="r" b="b"/>
            <a:pathLst>
              <a:path w="7182125" h="927375">
                <a:moveTo>
                  <a:pt x="84669" y="0"/>
                </a:moveTo>
                <a:lnTo>
                  <a:pt x="7097456" y="0"/>
                </a:lnTo>
                <a:cubicBezTo>
                  <a:pt x="7144218" y="0"/>
                  <a:pt x="7182125" y="37908"/>
                  <a:pt x="7182125" y="84669"/>
                </a:cubicBezTo>
                <a:lnTo>
                  <a:pt x="7182125" y="842706"/>
                </a:lnTo>
                <a:cubicBezTo>
                  <a:pt x="7182125" y="889468"/>
                  <a:pt x="7144218" y="927375"/>
                  <a:pt x="7097456" y="927375"/>
                </a:cubicBezTo>
                <a:lnTo>
                  <a:pt x="84669" y="927375"/>
                </a:lnTo>
                <a:cubicBezTo>
                  <a:pt x="37908" y="927375"/>
                  <a:pt x="0" y="889468"/>
                  <a:pt x="0" y="842706"/>
                </a:cubicBezTo>
                <a:lnTo>
                  <a:pt x="0" y="84669"/>
                </a:lnTo>
                <a:cubicBezTo>
                  <a:pt x="0" y="37908"/>
                  <a:pt x="37908" y="0"/>
                  <a:pt x="84669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 w="20650">
            <a:solidFill>
              <a:srgbClr val="C3A1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6450" y="371434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6" name="Text 14"/>
          <p:cNvSpPr/>
          <p:nvPr/>
        </p:nvSpPr>
        <p:spPr>
          <a:xfrm>
            <a:off x="1011929" y="3661449"/>
            <a:ext cx="6773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AHP-CRITIC综合模型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9096" y="4042387"/>
            <a:ext cx="699558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融合</a:t>
            </a:r>
            <a:r>
              <a:rPr lang="en-US" sz="1333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AHP</a:t>
            </a:r>
            <a:r>
              <a:rPr lang="en-US" sz="1333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和</a:t>
            </a:r>
            <a:r>
              <a:rPr lang="en-US" sz="1333" b="1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CRITIC</a:t>
            </a:r>
            <a:r>
              <a:rPr lang="en-US" sz="1333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法的综合评价模型,兼顾主观经验和客观数据,提高评价精度和科学性。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2637" y="1053021"/>
            <a:ext cx="7620000" cy="3686799"/>
          </a:xfrm>
          <a:custGeom>
            <a:avLst/>
            <a:gdLst/>
            <a:ahLst/>
            <a:cxnLst/>
            <a:rect l="l" t="t" r="r" b="b"/>
            <a:pathLst>
              <a:path w="7620000" h="4961776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4834755"/>
                </a:lnTo>
                <a:cubicBezTo>
                  <a:pt x="7620000" y="4904907"/>
                  <a:pt x="7563131" y="4961776"/>
                  <a:pt x="7492979" y="4961776"/>
                </a:cubicBezTo>
                <a:lnTo>
                  <a:pt x="127021" y="4961776"/>
                </a:lnTo>
                <a:cubicBezTo>
                  <a:pt x="56869" y="4961776"/>
                  <a:pt x="0" y="4904907"/>
                  <a:pt x="0" y="4834755"/>
                </a:cubicBez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12637" y="1053021"/>
            <a:ext cx="7620000" cy="38720"/>
          </a:xfrm>
          <a:custGeom>
            <a:avLst/>
            <a:gdLst/>
            <a:ahLst/>
            <a:cxnLst/>
            <a:rect l="l" t="t" r="r" b="b"/>
            <a:pathLst>
              <a:path w="7620000" h="38720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38720"/>
                </a:lnTo>
                <a:lnTo>
                  <a:pt x="0" y="38720"/>
                </a:ln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4" name="Shape 22"/>
          <p:cNvSpPr/>
          <p:nvPr/>
        </p:nvSpPr>
        <p:spPr>
          <a:xfrm>
            <a:off x="8446740" y="1294544"/>
            <a:ext cx="357188" cy="317500"/>
          </a:xfrm>
          <a:custGeom>
            <a:avLst/>
            <a:gdLst/>
            <a:ahLst/>
            <a:cxnLst/>
            <a:rect l="l" t="t" r="r" b="b"/>
            <a:pathLst>
              <a:path w="357188" h="317500">
                <a:moveTo>
                  <a:pt x="191926" y="-11720"/>
                </a:moveTo>
                <a:cubicBezTo>
                  <a:pt x="189384" y="-16681"/>
                  <a:pt x="184237" y="-19844"/>
                  <a:pt x="178656" y="-19844"/>
                </a:cubicBezTo>
                <a:cubicBezTo>
                  <a:pt x="173075" y="-19844"/>
                  <a:pt x="167928" y="-16681"/>
                  <a:pt x="165385" y="-11720"/>
                </a:cubicBezTo>
                <a:lnTo>
                  <a:pt x="119745" y="77701"/>
                </a:lnTo>
                <a:lnTo>
                  <a:pt x="20588" y="93452"/>
                </a:lnTo>
                <a:cubicBezTo>
                  <a:pt x="15069" y="94320"/>
                  <a:pt x="10480" y="98227"/>
                  <a:pt x="8744" y="103560"/>
                </a:cubicBezTo>
                <a:cubicBezTo>
                  <a:pt x="7007" y="108893"/>
                  <a:pt x="8434" y="114722"/>
                  <a:pt x="12340" y="118690"/>
                </a:cubicBezTo>
                <a:lnTo>
                  <a:pt x="83282" y="189694"/>
                </a:lnTo>
                <a:lnTo>
                  <a:pt x="67655" y="288851"/>
                </a:lnTo>
                <a:cubicBezTo>
                  <a:pt x="66787" y="294370"/>
                  <a:pt x="69081" y="299951"/>
                  <a:pt x="73608" y="303237"/>
                </a:cubicBezTo>
                <a:cubicBezTo>
                  <a:pt x="78135" y="306524"/>
                  <a:pt x="84088" y="307020"/>
                  <a:pt x="89111" y="304478"/>
                </a:cubicBezTo>
                <a:lnTo>
                  <a:pt x="178656" y="258961"/>
                </a:lnTo>
                <a:lnTo>
                  <a:pt x="268139" y="304478"/>
                </a:lnTo>
                <a:cubicBezTo>
                  <a:pt x="273100" y="307020"/>
                  <a:pt x="279115" y="306524"/>
                  <a:pt x="283642" y="303237"/>
                </a:cubicBezTo>
                <a:cubicBezTo>
                  <a:pt x="288168" y="299951"/>
                  <a:pt x="290463" y="294432"/>
                  <a:pt x="289595" y="288851"/>
                </a:cubicBezTo>
                <a:lnTo>
                  <a:pt x="273906" y="189694"/>
                </a:lnTo>
                <a:lnTo>
                  <a:pt x="344847" y="118690"/>
                </a:lnTo>
                <a:cubicBezTo>
                  <a:pt x="348816" y="114722"/>
                  <a:pt x="350180" y="108893"/>
                  <a:pt x="348444" y="103560"/>
                </a:cubicBezTo>
                <a:cubicBezTo>
                  <a:pt x="346708" y="98227"/>
                  <a:pt x="342181" y="94320"/>
                  <a:pt x="336600" y="93452"/>
                </a:cubicBezTo>
                <a:lnTo>
                  <a:pt x="237505" y="77701"/>
                </a:lnTo>
                <a:lnTo>
                  <a:pt x="191926" y="-1172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5" name="Text 23"/>
          <p:cNvSpPr/>
          <p:nvPr/>
        </p:nvSpPr>
        <p:spPr>
          <a:xfrm>
            <a:off x="8948106" y="1283992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功能创新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24250" y="1727245"/>
            <a:ext cx="7196667" cy="910167"/>
          </a:xfrm>
          <a:custGeom>
            <a:avLst/>
            <a:gdLst/>
            <a:ahLst/>
            <a:cxnLst/>
            <a:rect l="l" t="t" r="r" b="b"/>
            <a:pathLst>
              <a:path w="7196667" h="910167">
                <a:moveTo>
                  <a:pt x="84664" y="0"/>
                </a:moveTo>
                <a:lnTo>
                  <a:pt x="7112003" y="0"/>
                </a:lnTo>
                <a:cubicBezTo>
                  <a:pt x="7158761" y="0"/>
                  <a:pt x="7196667" y="37905"/>
                  <a:pt x="7196667" y="84664"/>
                </a:cubicBezTo>
                <a:lnTo>
                  <a:pt x="7196667" y="825503"/>
                </a:lnTo>
                <a:cubicBezTo>
                  <a:pt x="7196667" y="872261"/>
                  <a:pt x="7158761" y="910167"/>
                  <a:pt x="7112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60492" y="190713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8" name="Text 26"/>
          <p:cNvSpPr/>
          <p:nvPr/>
        </p:nvSpPr>
        <p:spPr>
          <a:xfrm>
            <a:off x="8784065" y="1854229"/>
            <a:ext cx="6805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联网数据集成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51231" y="2235173"/>
            <a:ext cx="7027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实时获取市场行情、天气预报、政策动态,保证数据的时效性和完整性。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24250" y="2688205"/>
            <a:ext cx="7196667" cy="910167"/>
          </a:xfrm>
          <a:custGeom>
            <a:avLst/>
            <a:gdLst/>
            <a:ahLst/>
            <a:cxnLst/>
            <a:rect l="l" t="t" r="r" b="b"/>
            <a:pathLst>
              <a:path w="7196667" h="910167">
                <a:moveTo>
                  <a:pt x="84664" y="0"/>
                </a:moveTo>
                <a:lnTo>
                  <a:pt x="7112003" y="0"/>
                </a:lnTo>
                <a:cubicBezTo>
                  <a:pt x="7158761" y="0"/>
                  <a:pt x="7196667" y="37905"/>
                  <a:pt x="7196667" y="84664"/>
                </a:cubicBezTo>
                <a:lnTo>
                  <a:pt x="7196667" y="825503"/>
                </a:lnTo>
                <a:cubicBezTo>
                  <a:pt x="7196667" y="872261"/>
                  <a:pt x="7158761" y="910167"/>
                  <a:pt x="7112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48585" y="28680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2" name="Text 30"/>
          <p:cNvSpPr/>
          <p:nvPr/>
        </p:nvSpPr>
        <p:spPr>
          <a:xfrm>
            <a:off x="8784065" y="2815185"/>
            <a:ext cx="6805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智能报告自动生成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51231" y="3196123"/>
            <a:ext cx="7027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3D3A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整合本地分析数据和联网实时数据,自动生成包含文字、图表的完整分析报告。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24250" y="3603435"/>
            <a:ext cx="7196667" cy="910167"/>
          </a:xfrm>
          <a:custGeom>
            <a:avLst/>
            <a:gdLst/>
            <a:ahLst/>
            <a:cxnLst/>
            <a:rect l="l" t="t" r="r" b="b"/>
            <a:pathLst>
              <a:path w="7196667" h="910167">
                <a:moveTo>
                  <a:pt x="84664" y="0"/>
                </a:moveTo>
                <a:lnTo>
                  <a:pt x="7112003" y="0"/>
                </a:lnTo>
                <a:cubicBezTo>
                  <a:pt x="7158761" y="0"/>
                  <a:pt x="7196667" y="37905"/>
                  <a:pt x="7196667" y="84664"/>
                </a:cubicBezTo>
                <a:lnTo>
                  <a:pt x="7196667" y="825503"/>
                </a:lnTo>
                <a:cubicBezTo>
                  <a:pt x="7196667" y="872261"/>
                  <a:pt x="7158761" y="910167"/>
                  <a:pt x="7112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8584304" y="378332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6" name="Text 34"/>
          <p:cNvSpPr/>
          <p:nvPr/>
        </p:nvSpPr>
        <p:spPr>
          <a:xfrm>
            <a:off x="8784065" y="3730415"/>
            <a:ext cx="6805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双模式数据支持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51231" y="4111363"/>
            <a:ext cx="7027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支持</a:t>
            </a: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模拟数据</a:t>
            </a: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和</a:t>
            </a:r>
            <a:r>
              <a:rPr lang="en-US" sz="1333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真实数据</a:t>
            </a:r>
            <a:r>
              <a:rPr lang="en-US" sz="1333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双模式运行,内置完整模拟数据,支持连接MySQL使用真实数据。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293" y="4738384"/>
            <a:ext cx="7620000" cy="4318000"/>
          </a:xfrm>
          <a:custGeom>
            <a:avLst/>
            <a:gdLst/>
            <a:ahLst/>
            <a:cxnLst/>
            <a:rect l="l" t="t" r="r" b="b"/>
            <a:pathLst>
              <a:path w="7620000" h="4318000">
                <a:moveTo>
                  <a:pt x="126992" y="0"/>
                </a:moveTo>
                <a:lnTo>
                  <a:pt x="7493008" y="0"/>
                </a:lnTo>
                <a:cubicBezTo>
                  <a:pt x="7563144" y="0"/>
                  <a:pt x="7620000" y="56856"/>
                  <a:pt x="7620000" y="126992"/>
                </a:cubicBezTo>
                <a:lnTo>
                  <a:pt x="7620000" y="4191008"/>
                </a:lnTo>
                <a:cubicBezTo>
                  <a:pt x="7620000" y="4261144"/>
                  <a:pt x="7563144" y="4318000"/>
                  <a:pt x="7493008" y="4318000"/>
                </a:cubicBezTo>
                <a:lnTo>
                  <a:pt x="126992" y="4318000"/>
                </a:lnTo>
                <a:cubicBezTo>
                  <a:pt x="56856" y="4318000"/>
                  <a:pt x="0" y="4261144"/>
                  <a:pt x="0" y="4191008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6927" y="4960541"/>
            <a:ext cx="238125" cy="317500"/>
          </a:xfrm>
          <a:custGeom>
            <a:avLst/>
            <a:gdLst/>
            <a:ahLst/>
            <a:cxnLst/>
            <a:rect l="l" t="t" r="r" b="b"/>
            <a:pathLst>
              <a:path w="238125" h="317500">
                <a:moveTo>
                  <a:pt x="181632" y="238125"/>
                </a:moveTo>
                <a:cubicBezTo>
                  <a:pt x="186159" y="224296"/>
                  <a:pt x="195213" y="211770"/>
                  <a:pt x="205445" y="200980"/>
                </a:cubicBezTo>
                <a:cubicBezTo>
                  <a:pt x="225723" y="179648"/>
                  <a:pt x="238125" y="150813"/>
                  <a:pt x="238125" y="119063"/>
                </a:cubicBezTo>
                <a:cubicBezTo>
                  <a:pt x="238125" y="53330"/>
                  <a:pt x="184795" y="0"/>
                  <a:pt x="119062" y="0"/>
                </a:cubicBezTo>
                <a:cubicBezTo>
                  <a:pt x="53330" y="0"/>
                  <a:pt x="0" y="53330"/>
                  <a:pt x="0" y="119062"/>
                </a:cubicBezTo>
                <a:cubicBezTo>
                  <a:pt x="0" y="150813"/>
                  <a:pt x="12402" y="179648"/>
                  <a:pt x="32680" y="200980"/>
                </a:cubicBezTo>
                <a:cubicBezTo>
                  <a:pt x="42912" y="211770"/>
                  <a:pt x="52028" y="224296"/>
                  <a:pt x="56493" y="238125"/>
                </a:cubicBezTo>
                <a:lnTo>
                  <a:pt x="181570" y="238125"/>
                </a:lnTo>
                <a:close/>
                <a:moveTo>
                  <a:pt x="178594" y="267891"/>
                </a:moveTo>
                <a:lnTo>
                  <a:pt x="59531" y="267891"/>
                </a:lnTo>
                <a:lnTo>
                  <a:pt x="59531" y="277813"/>
                </a:lnTo>
                <a:cubicBezTo>
                  <a:pt x="59531" y="305222"/>
                  <a:pt x="81731" y="327422"/>
                  <a:pt x="109141" y="327422"/>
                </a:cubicBezTo>
                <a:lnTo>
                  <a:pt x="128984" y="327422"/>
                </a:lnTo>
                <a:cubicBezTo>
                  <a:pt x="156394" y="327422"/>
                  <a:pt x="178594" y="305222"/>
                  <a:pt x="178594" y="277813"/>
                </a:cubicBezTo>
                <a:lnTo>
                  <a:pt x="178594" y="267891"/>
                </a:lnTo>
                <a:close/>
                <a:moveTo>
                  <a:pt x="114102" y="69453"/>
                </a:moveTo>
                <a:cubicBezTo>
                  <a:pt x="89421" y="69453"/>
                  <a:pt x="69453" y="89421"/>
                  <a:pt x="69453" y="114102"/>
                </a:cubicBezTo>
                <a:cubicBezTo>
                  <a:pt x="69453" y="122349"/>
                  <a:pt x="62818" y="128984"/>
                  <a:pt x="54570" y="128984"/>
                </a:cubicBezTo>
                <a:cubicBezTo>
                  <a:pt x="46323" y="128984"/>
                  <a:pt x="39688" y="122349"/>
                  <a:pt x="39688" y="114102"/>
                </a:cubicBezTo>
                <a:cubicBezTo>
                  <a:pt x="39688" y="72988"/>
                  <a:pt x="72988" y="39688"/>
                  <a:pt x="114102" y="39688"/>
                </a:cubicBezTo>
                <a:cubicBezTo>
                  <a:pt x="122349" y="39688"/>
                  <a:pt x="128984" y="46323"/>
                  <a:pt x="128984" y="54570"/>
                </a:cubicBezTo>
                <a:cubicBezTo>
                  <a:pt x="128984" y="62818"/>
                  <a:pt x="122349" y="69453"/>
                  <a:pt x="114102" y="69453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0" name="Text 38"/>
          <p:cNvSpPr/>
          <p:nvPr/>
        </p:nvSpPr>
        <p:spPr>
          <a:xfrm>
            <a:off x="1158762" y="4949989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应用创新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4906" y="5577909"/>
            <a:ext cx="7196667" cy="804333"/>
          </a:xfrm>
          <a:custGeom>
            <a:avLst/>
            <a:gdLst/>
            <a:ahLst/>
            <a:cxnLst/>
            <a:rect l="l" t="t" r="r" b="b"/>
            <a:pathLst>
              <a:path w="7196667" h="804333">
                <a:moveTo>
                  <a:pt x="84664" y="0"/>
                </a:moveTo>
                <a:lnTo>
                  <a:pt x="7112003" y="0"/>
                </a:lnTo>
                <a:cubicBezTo>
                  <a:pt x="7158761" y="0"/>
                  <a:pt x="7196667" y="37905"/>
                  <a:pt x="7196667" y="84664"/>
                </a:cubicBezTo>
                <a:lnTo>
                  <a:pt x="7196667" y="719669"/>
                </a:lnTo>
                <a:cubicBezTo>
                  <a:pt x="7196667" y="766428"/>
                  <a:pt x="7158761" y="804333"/>
                  <a:pt x="7112003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C3A170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5387" y="5852972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93563"/>
                </a:moveTo>
                <a:cubicBezTo>
                  <a:pt x="0" y="41870"/>
                  <a:pt x="42664" y="0"/>
                  <a:pt x="95250" y="0"/>
                </a:cubicBezTo>
                <a:cubicBezTo>
                  <a:pt x="147836" y="0"/>
                  <a:pt x="190500" y="41870"/>
                  <a:pt x="190500" y="93563"/>
                </a:cubicBezTo>
                <a:cubicBezTo>
                  <a:pt x="190500" y="152747"/>
                  <a:pt x="130870" y="223689"/>
                  <a:pt x="105966" y="250726"/>
                </a:cubicBezTo>
                <a:cubicBezTo>
                  <a:pt x="100112" y="257076"/>
                  <a:pt x="90339" y="257076"/>
                  <a:pt x="84485" y="250726"/>
                </a:cubicBezTo>
                <a:cubicBezTo>
                  <a:pt x="59581" y="223689"/>
                  <a:pt x="-50" y="152747"/>
                  <a:pt x="-50" y="93563"/>
                </a:cubicBezTo>
                <a:close/>
                <a:moveTo>
                  <a:pt x="95250" y="127000"/>
                </a:moveTo>
                <a:cubicBezTo>
                  <a:pt x="112773" y="127000"/>
                  <a:pt x="127000" y="112773"/>
                  <a:pt x="127000" y="95250"/>
                </a:cubicBezTo>
                <a:cubicBezTo>
                  <a:pt x="127000" y="77727"/>
                  <a:pt x="112773" y="63500"/>
                  <a:pt x="95250" y="63500"/>
                </a:cubicBezTo>
                <a:cubicBezTo>
                  <a:pt x="77727" y="63500"/>
                  <a:pt x="63500" y="77727"/>
                  <a:pt x="63500" y="95250"/>
                </a:cubicBezTo>
                <a:cubicBezTo>
                  <a:pt x="63500" y="112773"/>
                  <a:pt x="77727" y="127000"/>
                  <a:pt x="95250" y="12700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3" name="Text 41"/>
          <p:cNvSpPr/>
          <p:nvPr/>
        </p:nvSpPr>
        <p:spPr>
          <a:xfrm>
            <a:off x="1206355" y="5704888"/>
            <a:ext cx="6593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覆盖湖南省全域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06355" y="6001201"/>
            <a:ext cx="6582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14个地级市</a:t>
            </a:r>
            <a:r>
              <a:rPr lang="en-US" sz="1333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详细评分和等级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4906" y="6748969"/>
            <a:ext cx="7196667" cy="804333"/>
          </a:xfrm>
          <a:custGeom>
            <a:avLst/>
            <a:gdLst/>
            <a:ahLst/>
            <a:cxnLst/>
            <a:rect l="l" t="t" r="r" b="b"/>
            <a:pathLst>
              <a:path w="7196667" h="804333">
                <a:moveTo>
                  <a:pt x="84664" y="0"/>
                </a:moveTo>
                <a:lnTo>
                  <a:pt x="7112003" y="0"/>
                </a:lnTo>
                <a:cubicBezTo>
                  <a:pt x="7158761" y="0"/>
                  <a:pt x="7196667" y="37905"/>
                  <a:pt x="7196667" y="84664"/>
                </a:cubicBezTo>
                <a:lnTo>
                  <a:pt x="7196667" y="719669"/>
                </a:lnTo>
                <a:cubicBezTo>
                  <a:pt x="7196667" y="766428"/>
                  <a:pt x="7158761" y="804333"/>
                  <a:pt x="7112003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93637" y="702404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4000" y="15875"/>
                </a:moveTo>
                <a:cubicBezTo>
                  <a:pt x="254000" y="69503"/>
                  <a:pt x="215999" y="114250"/>
                  <a:pt x="165497" y="124718"/>
                </a:cubicBezTo>
                <a:cubicBezTo>
                  <a:pt x="161578" y="95895"/>
                  <a:pt x="148630" y="69949"/>
                  <a:pt x="129530" y="49857"/>
                </a:cubicBezTo>
                <a:cubicBezTo>
                  <a:pt x="149423" y="19844"/>
                  <a:pt x="183505" y="0"/>
                  <a:pt x="222250" y="0"/>
                </a:cubicBezTo>
                <a:lnTo>
                  <a:pt x="238125" y="0"/>
                </a:lnTo>
                <a:cubicBezTo>
                  <a:pt x="246906" y="0"/>
                  <a:pt x="254000" y="7094"/>
                  <a:pt x="254000" y="15875"/>
                </a:cubicBezTo>
                <a:close/>
                <a:moveTo>
                  <a:pt x="0" y="47625"/>
                </a:moveTo>
                <a:cubicBezTo>
                  <a:pt x="0" y="38844"/>
                  <a:pt x="7094" y="31750"/>
                  <a:pt x="15875" y="31750"/>
                </a:cubicBezTo>
                <a:lnTo>
                  <a:pt x="31750" y="31750"/>
                </a:lnTo>
                <a:cubicBezTo>
                  <a:pt x="93117" y="31750"/>
                  <a:pt x="142875" y="81508"/>
                  <a:pt x="142875" y="142875"/>
                </a:cubicBezTo>
                <a:lnTo>
                  <a:pt x="142875" y="238125"/>
                </a:lnTo>
                <a:cubicBezTo>
                  <a:pt x="142875" y="246906"/>
                  <a:pt x="135781" y="254000"/>
                  <a:pt x="127000" y="254000"/>
                </a:cubicBezTo>
                <a:cubicBezTo>
                  <a:pt x="118219" y="254000"/>
                  <a:pt x="111125" y="246906"/>
                  <a:pt x="111125" y="238125"/>
                </a:cubicBezTo>
                <a:lnTo>
                  <a:pt x="111125" y="158750"/>
                </a:lnTo>
                <a:cubicBezTo>
                  <a:pt x="49758" y="158750"/>
                  <a:pt x="0" y="108992"/>
                  <a:pt x="0" y="47625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7" name="Text 45"/>
          <p:cNvSpPr/>
          <p:nvPr/>
        </p:nvSpPr>
        <p:spPr>
          <a:xfrm>
            <a:off x="1206355" y="6875948"/>
            <a:ext cx="6593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支持61种作物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06355" y="7172261"/>
            <a:ext cx="6582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主要农作物的适宜性评价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4906" y="7920029"/>
            <a:ext cx="7196667" cy="804333"/>
          </a:xfrm>
          <a:custGeom>
            <a:avLst/>
            <a:gdLst/>
            <a:ahLst/>
            <a:cxnLst/>
            <a:rect l="l" t="t" r="r" b="b"/>
            <a:pathLst>
              <a:path w="7196667" h="804333">
                <a:moveTo>
                  <a:pt x="84664" y="0"/>
                </a:moveTo>
                <a:lnTo>
                  <a:pt x="7112003" y="0"/>
                </a:lnTo>
                <a:cubicBezTo>
                  <a:pt x="7158761" y="0"/>
                  <a:pt x="7196667" y="37905"/>
                  <a:pt x="7196667" y="84664"/>
                </a:cubicBezTo>
                <a:lnTo>
                  <a:pt x="7196667" y="719669"/>
                </a:lnTo>
                <a:cubicBezTo>
                  <a:pt x="7196667" y="766428"/>
                  <a:pt x="7158761" y="804333"/>
                  <a:pt x="7112003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9512" y="819510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15875"/>
                </a:moveTo>
                <a:cubicBezTo>
                  <a:pt x="127000" y="7094"/>
                  <a:pt x="119906" y="0"/>
                  <a:pt x="111125" y="0"/>
                </a:cubicBezTo>
                <a:cubicBezTo>
                  <a:pt x="102344" y="0"/>
                  <a:pt x="95250" y="7094"/>
                  <a:pt x="95250" y="15875"/>
                </a:cubicBezTo>
                <a:lnTo>
                  <a:pt x="95250" y="120402"/>
                </a:lnTo>
                <a:lnTo>
                  <a:pt x="74712" y="99864"/>
                </a:lnTo>
                <a:cubicBezTo>
                  <a:pt x="68511" y="93662"/>
                  <a:pt x="58440" y="93662"/>
                  <a:pt x="52239" y="99864"/>
                </a:cubicBezTo>
                <a:cubicBezTo>
                  <a:pt x="46037" y="106065"/>
                  <a:pt x="46037" y="116136"/>
                  <a:pt x="52239" y="122337"/>
                </a:cubicBezTo>
                <a:lnTo>
                  <a:pt x="99864" y="169962"/>
                </a:lnTo>
                <a:cubicBezTo>
                  <a:pt x="106065" y="176163"/>
                  <a:pt x="116136" y="176163"/>
                  <a:pt x="122337" y="169962"/>
                </a:cubicBezTo>
                <a:lnTo>
                  <a:pt x="169962" y="122337"/>
                </a:lnTo>
                <a:cubicBezTo>
                  <a:pt x="176163" y="116136"/>
                  <a:pt x="176163" y="106065"/>
                  <a:pt x="169962" y="99864"/>
                </a:cubicBezTo>
                <a:cubicBezTo>
                  <a:pt x="163761" y="93662"/>
                  <a:pt x="153690" y="93662"/>
                  <a:pt x="147489" y="99864"/>
                </a:cubicBezTo>
                <a:lnTo>
                  <a:pt x="127000" y="120402"/>
                </a:lnTo>
                <a:lnTo>
                  <a:pt x="127000" y="15875"/>
                </a:lnTo>
                <a:close/>
                <a:moveTo>
                  <a:pt x="31750" y="158750"/>
                </a:moveTo>
                <a:cubicBezTo>
                  <a:pt x="14238" y="158750"/>
                  <a:pt x="0" y="172988"/>
                  <a:pt x="0" y="190500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90500"/>
                </a:lnTo>
                <a:cubicBezTo>
                  <a:pt x="222250" y="172988"/>
                  <a:pt x="208012" y="158750"/>
                  <a:pt x="190500" y="158750"/>
                </a:cubicBezTo>
                <a:lnTo>
                  <a:pt x="167233" y="158750"/>
                </a:lnTo>
                <a:lnTo>
                  <a:pt x="139154" y="186829"/>
                </a:lnTo>
                <a:cubicBezTo>
                  <a:pt x="123676" y="202307"/>
                  <a:pt x="98524" y="202307"/>
                  <a:pt x="83046" y="186829"/>
                </a:cubicBezTo>
                <a:lnTo>
                  <a:pt x="55017" y="158750"/>
                </a:lnTo>
                <a:lnTo>
                  <a:pt x="31750" y="158750"/>
                </a:lnTo>
                <a:close/>
                <a:moveTo>
                  <a:pt x="182563" y="186531"/>
                </a:moveTo>
                <a:cubicBezTo>
                  <a:pt x="189134" y="186531"/>
                  <a:pt x="194469" y="191866"/>
                  <a:pt x="194469" y="198438"/>
                </a:cubicBezTo>
                <a:cubicBezTo>
                  <a:pt x="194469" y="205009"/>
                  <a:pt x="189134" y="210344"/>
                  <a:pt x="182563" y="210344"/>
                </a:cubicBezTo>
                <a:cubicBezTo>
                  <a:pt x="175991" y="210344"/>
                  <a:pt x="170656" y="205009"/>
                  <a:pt x="170656" y="198438"/>
                </a:cubicBezTo>
                <a:cubicBezTo>
                  <a:pt x="170656" y="191866"/>
                  <a:pt x="175991" y="186531"/>
                  <a:pt x="182563" y="186531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1" name="Text 49"/>
          <p:cNvSpPr/>
          <p:nvPr/>
        </p:nvSpPr>
        <p:spPr>
          <a:xfrm>
            <a:off x="1206355" y="8047019"/>
            <a:ext cx="6593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完整数据导出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06355" y="8343332"/>
            <a:ext cx="6582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纯文本格式完整报告下载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12637" y="4757744"/>
            <a:ext cx="7620000" cy="4295026"/>
          </a:xfrm>
          <a:custGeom>
            <a:avLst/>
            <a:gdLst/>
            <a:ahLst/>
            <a:cxnLst/>
            <a:rect l="l" t="t" r="r" b="b"/>
            <a:pathLst>
              <a:path w="7620000" h="4295026">
                <a:moveTo>
                  <a:pt x="38720" y="0"/>
                </a:moveTo>
                <a:lnTo>
                  <a:pt x="7581280" y="0"/>
                </a:lnTo>
                <a:cubicBezTo>
                  <a:pt x="7602665" y="0"/>
                  <a:pt x="7620000" y="17335"/>
                  <a:pt x="7620000" y="38720"/>
                </a:cubicBezTo>
                <a:lnTo>
                  <a:pt x="7620000" y="4168023"/>
                </a:lnTo>
                <a:cubicBezTo>
                  <a:pt x="7620000" y="4238165"/>
                  <a:pt x="7563138" y="4295026"/>
                  <a:pt x="7492996" y="4295026"/>
                </a:cubicBezTo>
                <a:lnTo>
                  <a:pt x="127004" y="4295026"/>
                </a:lnTo>
                <a:cubicBezTo>
                  <a:pt x="56862" y="4295026"/>
                  <a:pt x="0" y="4238165"/>
                  <a:pt x="0" y="4168023"/>
                </a:cubicBezTo>
                <a:lnTo>
                  <a:pt x="0" y="38720"/>
                </a:lnTo>
                <a:cubicBezTo>
                  <a:pt x="0" y="17350"/>
                  <a:pt x="17350" y="0"/>
                  <a:pt x="387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58750" dist="1058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66583" y="499926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9688" y="39688"/>
                </a:moveTo>
                <a:cubicBezTo>
                  <a:pt x="39688" y="28711"/>
                  <a:pt x="30820" y="19844"/>
                  <a:pt x="19844" y="19844"/>
                </a:cubicBezTo>
                <a:cubicBezTo>
                  <a:pt x="8868" y="19844"/>
                  <a:pt x="0" y="28711"/>
                  <a:pt x="0" y="39688"/>
                </a:cubicBezTo>
                <a:lnTo>
                  <a:pt x="0" y="248047"/>
                </a:lnTo>
                <a:cubicBezTo>
                  <a:pt x="0" y="275456"/>
                  <a:pt x="22200" y="297656"/>
                  <a:pt x="49609" y="297656"/>
                </a:cubicBezTo>
                <a:lnTo>
                  <a:pt x="297656" y="297656"/>
                </a:lnTo>
                <a:cubicBezTo>
                  <a:pt x="308632" y="297656"/>
                  <a:pt x="317500" y="288789"/>
                  <a:pt x="317500" y="277813"/>
                </a:cubicBezTo>
                <a:cubicBezTo>
                  <a:pt x="317500" y="266836"/>
                  <a:pt x="308632" y="257969"/>
                  <a:pt x="297656" y="257969"/>
                </a:cubicBezTo>
                <a:lnTo>
                  <a:pt x="49609" y="257969"/>
                </a:lnTo>
                <a:cubicBezTo>
                  <a:pt x="44152" y="257969"/>
                  <a:pt x="39688" y="253504"/>
                  <a:pt x="39688" y="248047"/>
                </a:cubicBezTo>
                <a:lnTo>
                  <a:pt x="39688" y="39688"/>
                </a:lnTo>
                <a:close/>
                <a:moveTo>
                  <a:pt x="291827" y="93390"/>
                </a:moveTo>
                <a:cubicBezTo>
                  <a:pt x="299579" y="85638"/>
                  <a:pt x="299579" y="73050"/>
                  <a:pt x="291827" y="65298"/>
                </a:cubicBezTo>
                <a:cubicBezTo>
                  <a:pt x="284076" y="57547"/>
                  <a:pt x="271487" y="57547"/>
                  <a:pt x="263736" y="65298"/>
                </a:cubicBezTo>
                <a:lnTo>
                  <a:pt x="198438" y="130659"/>
                </a:lnTo>
                <a:lnTo>
                  <a:pt x="162843" y="95126"/>
                </a:lnTo>
                <a:cubicBezTo>
                  <a:pt x="155091" y="87375"/>
                  <a:pt x="142503" y="87375"/>
                  <a:pt x="134751" y="95126"/>
                </a:cubicBezTo>
                <a:lnTo>
                  <a:pt x="75220" y="154657"/>
                </a:lnTo>
                <a:cubicBezTo>
                  <a:pt x="67469" y="162409"/>
                  <a:pt x="67469" y="174997"/>
                  <a:pt x="75220" y="182749"/>
                </a:cubicBezTo>
                <a:cubicBezTo>
                  <a:pt x="82972" y="190500"/>
                  <a:pt x="95560" y="190500"/>
                  <a:pt x="103312" y="182749"/>
                </a:cubicBezTo>
                <a:lnTo>
                  <a:pt x="148828" y="137232"/>
                </a:lnTo>
                <a:lnTo>
                  <a:pt x="184423" y="172827"/>
                </a:lnTo>
                <a:cubicBezTo>
                  <a:pt x="192174" y="180578"/>
                  <a:pt x="204763" y="180578"/>
                  <a:pt x="212514" y="172827"/>
                </a:cubicBezTo>
                <a:lnTo>
                  <a:pt x="291889" y="93452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6" name="Text 54"/>
          <p:cNvSpPr/>
          <p:nvPr/>
        </p:nvSpPr>
        <p:spPr>
          <a:xfrm>
            <a:off x="8948106" y="4988715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性能优势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24250" y="5496704"/>
            <a:ext cx="3534833" cy="1608667"/>
          </a:xfrm>
          <a:custGeom>
            <a:avLst/>
            <a:gdLst/>
            <a:ahLst/>
            <a:cxnLst/>
            <a:rect l="l" t="t" r="r" b="b"/>
            <a:pathLst>
              <a:path w="3534833" h="1608667">
                <a:moveTo>
                  <a:pt x="84664" y="0"/>
                </a:moveTo>
                <a:lnTo>
                  <a:pt x="3450169" y="0"/>
                </a:lnTo>
                <a:cubicBezTo>
                  <a:pt x="3496928" y="0"/>
                  <a:pt x="3534833" y="37905"/>
                  <a:pt x="3534833" y="84664"/>
                </a:cubicBezTo>
                <a:lnTo>
                  <a:pt x="3534833" y="1524003"/>
                </a:lnTo>
                <a:cubicBezTo>
                  <a:pt x="3534833" y="1570761"/>
                  <a:pt x="3496928" y="1608667"/>
                  <a:pt x="3450169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514206" y="5942042"/>
            <a:ext cx="33549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≤3秒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551247" y="6407615"/>
            <a:ext cx="328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数据查询响应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2086134" y="5496704"/>
            <a:ext cx="3534833" cy="1608667"/>
          </a:xfrm>
          <a:custGeom>
            <a:avLst/>
            <a:gdLst/>
            <a:ahLst/>
            <a:cxnLst/>
            <a:rect l="l" t="t" r="r" b="b"/>
            <a:pathLst>
              <a:path w="3534833" h="1608667">
                <a:moveTo>
                  <a:pt x="84664" y="0"/>
                </a:moveTo>
                <a:lnTo>
                  <a:pt x="3450169" y="0"/>
                </a:lnTo>
                <a:cubicBezTo>
                  <a:pt x="3496928" y="0"/>
                  <a:pt x="3534833" y="37905"/>
                  <a:pt x="3534833" y="84664"/>
                </a:cubicBezTo>
                <a:lnTo>
                  <a:pt x="3534833" y="1524003"/>
                </a:lnTo>
                <a:cubicBezTo>
                  <a:pt x="3534833" y="1570761"/>
                  <a:pt x="3496928" y="1608667"/>
                  <a:pt x="3450169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2176090" y="5942042"/>
            <a:ext cx="33549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≥100人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2213132" y="6407615"/>
            <a:ext cx="328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并发用户数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24250" y="7233973"/>
            <a:ext cx="3534833" cy="1608667"/>
          </a:xfrm>
          <a:custGeom>
            <a:avLst/>
            <a:gdLst/>
            <a:ahLst/>
            <a:cxnLst/>
            <a:rect l="l" t="t" r="r" b="b"/>
            <a:pathLst>
              <a:path w="3534833" h="1608667">
                <a:moveTo>
                  <a:pt x="84664" y="0"/>
                </a:moveTo>
                <a:lnTo>
                  <a:pt x="3450169" y="0"/>
                </a:lnTo>
                <a:cubicBezTo>
                  <a:pt x="3496928" y="0"/>
                  <a:pt x="3534833" y="37905"/>
                  <a:pt x="3534833" y="84664"/>
                </a:cubicBezTo>
                <a:lnTo>
                  <a:pt x="3534833" y="1524003"/>
                </a:lnTo>
                <a:cubicBezTo>
                  <a:pt x="3534833" y="1570761"/>
                  <a:pt x="3496928" y="1608667"/>
                  <a:pt x="3450169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514206" y="7679383"/>
            <a:ext cx="33549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3种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551247" y="8144956"/>
            <a:ext cx="328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精度等级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2086134" y="7233973"/>
            <a:ext cx="3534833" cy="1608667"/>
          </a:xfrm>
          <a:custGeom>
            <a:avLst/>
            <a:gdLst/>
            <a:ahLst/>
            <a:cxnLst/>
            <a:rect l="l" t="t" r="r" b="b"/>
            <a:pathLst>
              <a:path w="3534833" h="1608667">
                <a:moveTo>
                  <a:pt x="84664" y="0"/>
                </a:moveTo>
                <a:lnTo>
                  <a:pt x="3450169" y="0"/>
                </a:lnTo>
                <a:cubicBezTo>
                  <a:pt x="3496928" y="0"/>
                  <a:pt x="3534833" y="37905"/>
                  <a:pt x="3534833" y="84664"/>
                </a:cubicBezTo>
                <a:lnTo>
                  <a:pt x="3534833" y="1524003"/>
                </a:lnTo>
                <a:cubicBezTo>
                  <a:pt x="3534833" y="1570761"/>
                  <a:pt x="3496928" y="1608667"/>
                  <a:pt x="3450169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2176090" y="7679383"/>
            <a:ext cx="33549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12种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2213132" y="8144956"/>
            <a:ext cx="328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支持作物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9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5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8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1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4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6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9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2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5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8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1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6" grpId="0" animBg="1"/>
      <p:bldP spid="17" grpId="0" animBg="1"/>
      <p:bldP spid="25" grpId="0" animBg="1"/>
      <p:bldP spid="28" grpId="0" animBg="1"/>
      <p:bldP spid="29" grpId="0" animBg="1"/>
      <p:bldP spid="32" grpId="0" animBg="1"/>
      <p:bldP spid="33" grpId="0" animBg="1"/>
      <p:bldP spid="36" grpId="0" animBg="1"/>
      <p:bldP spid="37" grpId="0" animBg="1"/>
      <p:bldP spid="40" grpId="0" animBg="1"/>
      <p:bldP spid="43" grpId="0" animBg="1"/>
      <p:bldP spid="44" grpId="0" animBg="1"/>
      <p:bldP spid="47" grpId="0" animBg="1"/>
      <p:bldP spid="48" grpId="0" animBg="1"/>
      <p:bldP spid="51" grpId="0" animBg="1"/>
      <p:bldP spid="52" grpId="0" animBg="1"/>
      <p:bldP spid="56" grpId="0" animBg="1"/>
      <p:bldP spid="58" grpId="0" animBg="1"/>
      <p:bldP spid="59" grpId="0" animBg="1"/>
      <p:bldP spid="61" grpId="0" animBg="1"/>
      <p:bldP spid="62" grpId="0" animBg="1"/>
      <p:bldP spid="64" grpId="0" animBg="1"/>
      <p:bldP spid="65" grpId="0" animBg="1"/>
      <p:bldP spid="67" grpId="0" animBg="1"/>
      <p:bldP spid="6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681" y="543077"/>
            <a:ext cx="493728" cy="493728"/>
          </a:xfrm>
          <a:custGeom>
            <a:avLst/>
            <a:gdLst/>
            <a:ahLst/>
            <a:cxnLst/>
            <a:rect l="l" t="t" r="r" b="b"/>
            <a:pathLst>
              <a:path w="493728" h="493728">
                <a:moveTo>
                  <a:pt x="246864" y="0"/>
                </a:moveTo>
                <a:lnTo>
                  <a:pt x="246864" y="0"/>
                </a:lnTo>
                <a:cubicBezTo>
                  <a:pt x="383112" y="0"/>
                  <a:pt x="493728" y="110616"/>
                  <a:pt x="493728" y="246864"/>
                </a:cubicBezTo>
                <a:lnTo>
                  <a:pt x="493728" y="246864"/>
                </a:lnTo>
                <a:cubicBezTo>
                  <a:pt x="493728" y="383112"/>
                  <a:pt x="383112" y="493728"/>
                  <a:pt x="246864" y="493728"/>
                </a:cubicBezTo>
                <a:lnTo>
                  <a:pt x="246864" y="493728"/>
                </a:lnTo>
                <a:cubicBezTo>
                  <a:pt x="110616" y="493728"/>
                  <a:pt x="0" y="383112"/>
                  <a:pt x="0" y="246864"/>
                </a:cubicBezTo>
                <a:lnTo>
                  <a:pt x="0" y="246864"/>
                </a:lnTo>
                <a:cubicBezTo>
                  <a:pt x="0" y="110616"/>
                  <a:pt x="110616" y="0"/>
                  <a:pt x="246864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3" name="Text 1"/>
          <p:cNvSpPr/>
          <p:nvPr/>
        </p:nvSpPr>
        <p:spPr>
          <a:xfrm>
            <a:off x="608458" y="617088"/>
            <a:ext cx="370296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35459" y="493680"/>
            <a:ext cx="4443554" cy="592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65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系统测试与验证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35459" y="1234248"/>
            <a:ext cx="1184948" cy="49373"/>
          </a:xfrm>
          <a:custGeom>
            <a:avLst/>
            <a:gdLst/>
            <a:ahLst/>
            <a:cxnLst/>
            <a:rect l="l" t="t" r="r" b="b"/>
            <a:pathLst>
              <a:path w="1184948" h="49373">
                <a:moveTo>
                  <a:pt x="0" y="0"/>
                </a:moveTo>
                <a:lnTo>
                  <a:pt x="1184948" y="0"/>
                </a:lnTo>
                <a:lnTo>
                  <a:pt x="1184948" y="49373"/>
                </a:lnTo>
                <a:lnTo>
                  <a:pt x="0" y="49373"/>
                </a:lnTo>
                <a:lnTo>
                  <a:pt x="0" y="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" name="Shape 4"/>
          <p:cNvSpPr/>
          <p:nvPr/>
        </p:nvSpPr>
        <p:spPr>
          <a:xfrm>
            <a:off x="516260" y="1481052"/>
            <a:ext cx="7514904" cy="4159660"/>
          </a:xfrm>
          <a:custGeom>
            <a:avLst/>
            <a:gdLst/>
            <a:ahLst/>
            <a:cxnLst/>
            <a:rect l="l" t="t" r="r" b="b"/>
            <a:pathLst>
              <a:path w="7514904" h="4159660">
                <a:moveTo>
                  <a:pt x="45158" y="0"/>
                </a:moveTo>
                <a:lnTo>
                  <a:pt x="7366779" y="0"/>
                </a:lnTo>
                <a:cubicBezTo>
                  <a:pt x="7448586" y="0"/>
                  <a:pt x="7514904" y="66318"/>
                  <a:pt x="7514904" y="148125"/>
                </a:cubicBezTo>
                <a:lnTo>
                  <a:pt x="7514904" y="4011534"/>
                </a:lnTo>
                <a:cubicBezTo>
                  <a:pt x="7514904" y="4093342"/>
                  <a:pt x="7448586" y="4159660"/>
                  <a:pt x="7366779" y="4159660"/>
                </a:cubicBezTo>
                <a:lnTo>
                  <a:pt x="45158" y="4159660"/>
                </a:lnTo>
                <a:cubicBezTo>
                  <a:pt x="20218" y="4159660"/>
                  <a:pt x="0" y="4139442"/>
                  <a:pt x="0" y="4114502"/>
                </a:cubicBezTo>
                <a:lnTo>
                  <a:pt x="0" y="45158"/>
                </a:lnTo>
                <a:cubicBezTo>
                  <a:pt x="0" y="20218"/>
                  <a:pt x="20218" y="0"/>
                  <a:pt x="451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85148" dist="1234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6260" y="1481052"/>
            <a:ext cx="45158" cy="4159660"/>
          </a:xfrm>
          <a:custGeom>
            <a:avLst/>
            <a:gdLst/>
            <a:ahLst/>
            <a:cxnLst/>
            <a:rect l="l" t="t" r="r" b="b"/>
            <a:pathLst>
              <a:path w="45158" h="4159660">
                <a:moveTo>
                  <a:pt x="45158" y="0"/>
                </a:moveTo>
                <a:lnTo>
                  <a:pt x="45158" y="0"/>
                </a:lnTo>
                <a:lnTo>
                  <a:pt x="45158" y="4159660"/>
                </a:lnTo>
                <a:lnTo>
                  <a:pt x="45158" y="4159660"/>
                </a:lnTo>
                <a:cubicBezTo>
                  <a:pt x="20218" y="4159660"/>
                  <a:pt x="0" y="4139442"/>
                  <a:pt x="0" y="4114502"/>
                </a:cubicBezTo>
                <a:lnTo>
                  <a:pt x="0" y="45158"/>
                </a:lnTo>
                <a:cubicBezTo>
                  <a:pt x="0" y="20235"/>
                  <a:pt x="20235" y="0"/>
                  <a:pt x="45158" y="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8" name="Shape 6"/>
          <p:cNvSpPr/>
          <p:nvPr/>
        </p:nvSpPr>
        <p:spPr>
          <a:xfrm>
            <a:off x="791872" y="1727844"/>
            <a:ext cx="259207" cy="296237"/>
          </a:xfrm>
          <a:custGeom>
            <a:avLst/>
            <a:gdLst/>
            <a:ahLst/>
            <a:cxnLst/>
            <a:rect l="l" t="t" r="r" b="b"/>
            <a:pathLst>
              <a:path w="259207" h="296237">
                <a:moveTo>
                  <a:pt x="259207" y="119073"/>
                </a:moveTo>
                <a:cubicBezTo>
                  <a:pt x="250644" y="124744"/>
                  <a:pt x="240808" y="129314"/>
                  <a:pt x="230567" y="132959"/>
                </a:cubicBezTo>
                <a:cubicBezTo>
                  <a:pt x="203374" y="142680"/>
                  <a:pt x="167675" y="148118"/>
                  <a:pt x="129604" y="148118"/>
                </a:cubicBezTo>
                <a:cubicBezTo>
                  <a:pt x="91533" y="148118"/>
                  <a:pt x="55776" y="142622"/>
                  <a:pt x="28640" y="132959"/>
                </a:cubicBezTo>
                <a:cubicBezTo>
                  <a:pt x="18457" y="129314"/>
                  <a:pt x="8563" y="124744"/>
                  <a:pt x="0" y="119073"/>
                </a:cubicBezTo>
                <a:lnTo>
                  <a:pt x="0" y="166633"/>
                </a:lnTo>
                <a:cubicBezTo>
                  <a:pt x="0" y="192207"/>
                  <a:pt x="58032" y="212920"/>
                  <a:pt x="129604" y="212920"/>
                </a:cubicBezTo>
                <a:cubicBezTo>
                  <a:pt x="201175" y="212920"/>
                  <a:pt x="259207" y="192207"/>
                  <a:pt x="259207" y="166633"/>
                </a:cubicBezTo>
                <a:lnTo>
                  <a:pt x="259207" y="119073"/>
                </a:lnTo>
                <a:close/>
                <a:moveTo>
                  <a:pt x="259207" y="74059"/>
                </a:moveTo>
                <a:lnTo>
                  <a:pt x="259207" y="46287"/>
                </a:lnTo>
                <a:cubicBezTo>
                  <a:pt x="259207" y="20713"/>
                  <a:pt x="201175" y="0"/>
                  <a:pt x="129604" y="0"/>
                </a:cubicBezTo>
                <a:cubicBezTo>
                  <a:pt x="58032" y="0"/>
                  <a:pt x="0" y="20713"/>
                  <a:pt x="0" y="46287"/>
                </a:cubicBezTo>
                <a:lnTo>
                  <a:pt x="0" y="74059"/>
                </a:lnTo>
                <a:cubicBezTo>
                  <a:pt x="0" y="99633"/>
                  <a:pt x="58032" y="120346"/>
                  <a:pt x="129604" y="120346"/>
                </a:cubicBezTo>
                <a:cubicBezTo>
                  <a:pt x="201175" y="120346"/>
                  <a:pt x="259207" y="99633"/>
                  <a:pt x="259207" y="74059"/>
                </a:cubicBezTo>
                <a:close/>
                <a:moveTo>
                  <a:pt x="230567" y="225533"/>
                </a:moveTo>
                <a:cubicBezTo>
                  <a:pt x="203431" y="235196"/>
                  <a:pt x="167733" y="240692"/>
                  <a:pt x="129604" y="240692"/>
                </a:cubicBezTo>
                <a:cubicBezTo>
                  <a:pt x="91475" y="240692"/>
                  <a:pt x="55776" y="235196"/>
                  <a:pt x="28640" y="225533"/>
                </a:cubicBezTo>
                <a:cubicBezTo>
                  <a:pt x="18457" y="221888"/>
                  <a:pt x="8563" y="217318"/>
                  <a:pt x="0" y="211647"/>
                </a:cubicBezTo>
                <a:lnTo>
                  <a:pt x="0" y="249950"/>
                </a:lnTo>
                <a:cubicBezTo>
                  <a:pt x="0" y="275523"/>
                  <a:pt x="58032" y="296237"/>
                  <a:pt x="129604" y="296237"/>
                </a:cubicBezTo>
                <a:cubicBezTo>
                  <a:pt x="201175" y="296237"/>
                  <a:pt x="259207" y="275523"/>
                  <a:pt x="259207" y="249950"/>
                </a:cubicBezTo>
                <a:lnTo>
                  <a:pt x="259207" y="211647"/>
                </a:lnTo>
                <a:cubicBezTo>
                  <a:pt x="250644" y="217318"/>
                  <a:pt x="240808" y="221888"/>
                  <a:pt x="230567" y="225533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9" name="Text 7"/>
          <p:cNvSpPr/>
          <p:nvPr/>
        </p:nvSpPr>
        <p:spPr>
          <a:xfrm>
            <a:off x="1254704" y="1678531"/>
            <a:ext cx="1333066" cy="39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3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数据来源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327" y="2221608"/>
            <a:ext cx="7097342" cy="728249"/>
          </a:xfrm>
          <a:custGeom>
            <a:avLst/>
            <a:gdLst/>
            <a:ahLst/>
            <a:cxnLst/>
            <a:rect l="l" t="t" r="r" b="b"/>
            <a:pathLst>
              <a:path w="7097342" h="728249">
                <a:moveTo>
                  <a:pt x="49375" y="0"/>
                </a:moveTo>
                <a:lnTo>
                  <a:pt x="7047967" y="0"/>
                </a:lnTo>
                <a:cubicBezTo>
                  <a:pt x="7075236" y="0"/>
                  <a:pt x="7097342" y="22106"/>
                  <a:pt x="7097342" y="49375"/>
                </a:cubicBezTo>
                <a:lnTo>
                  <a:pt x="7097342" y="678874"/>
                </a:lnTo>
                <a:cubicBezTo>
                  <a:pt x="7097342" y="706143"/>
                  <a:pt x="7075236" y="728249"/>
                  <a:pt x="7047967" y="728249"/>
                </a:cubicBezTo>
                <a:lnTo>
                  <a:pt x="49375" y="728249"/>
                </a:lnTo>
                <a:cubicBezTo>
                  <a:pt x="22106" y="728249"/>
                  <a:pt x="0" y="706143"/>
                  <a:pt x="0" y="678874"/>
                </a:cubicBezTo>
                <a:lnTo>
                  <a:pt x="0" y="49375"/>
                </a:lnTo>
                <a:cubicBezTo>
                  <a:pt x="0" y="22124"/>
                  <a:pt x="22124" y="0"/>
                  <a:pt x="49375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7375" y="2369630"/>
            <a:ext cx="222178" cy="197491"/>
          </a:xfrm>
          <a:custGeom>
            <a:avLst/>
            <a:gdLst/>
            <a:ahLst/>
            <a:cxnLst/>
            <a:rect l="l" t="t" r="r" b="b"/>
            <a:pathLst>
              <a:path w="222178" h="197491">
                <a:moveTo>
                  <a:pt x="174965" y="-5709"/>
                </a:moveTo>
                <a:cubicBezTo>
                  <a:pt x="176855" y="-4937"/>
                  <a:pt x="178244" y="-3240"/>
                  <a:pt x="178629" y="-1234"/>
                </a:cubicBezTo>
                <a:lnTo>
                  <a:pt x="185148" y="30858"/>
                </a:lnTo>
                <a:lnTo>
                  <a:pt x="217240" y="37338"/>
                </a:lnTo>
                <a:cubicBezTo>
                  <a:pt x="219246" y="37762"/>
                  <a:pt x="220905" y="39113"/>
                  <a:pt x="221715" y="41003"/>
                </a:cubicBezTo>
                <a:cubicBezTo>
                  <a:pt x="222525" y="42893"/>
                  <a:pt x="222293" y="45053"/>
                  <a:pt x="221175" y="46750"/>
                </a:cubicBezTo>
                <a:lnTo>
                  <a:pt x="203084" y="74021"/>
                </a:lnTo>
                <a:lnTo>
                  <a:pt x="221175" y="101291"/>
                </a:lnTo>
                <a:cubicBezTo>
                  <a:pt x="222293" y="102989"/>
                  <a:pt x="222525" y="105149"/>
                  <a:pt x="221715" y="107039"/>
                </a:cubicBezTo>
                <a:cubicBezTo>
                  <a:pt x="220905" y="108929"/>
                  <a:pt x="219246" y="110317"/>
                  <a:pt x="217240" y="110703"/>
                </a:cubicBezTo>
                <a:lnTo>
                  <a:pt x="193248" y="115602"/>
                </a:lnTo>
                <a:cubicBezTo>
                  <a:pt x="188658" y="112246"/>
                  <a:pt x="183567" y="109585"/>
                  <a:pt x="178051" y="107733"/>
                </a:cubicBezTo>
                <a:cubicBezTo>
                  <a:pt x="177086" y="102834"/>
                  <a:pt x="175428" y="98206"/>
                  <a:pt x="173152" y="93963"/>
                </a:cubicBezTo>
                <a:cubicBezTo>
                  <a:pt x="176816" y="88215"/>
                  <a:pt x="178976" y="81388"/>
                  <a:pt x="178976" y="74021"/>
                </a:cubicBezTo>
                <a:cubicBezTo>
                  <a:pt x="178976" y="53577"/>
                  <a:pt x="162390" y="36991"/>
                  <a:pt x="141947" y="36991"/>
                </a:cubicBezTo>
                <a:cubicBezTo>
                  <a:pt x="123471" y="36991"/>
                  <a:pt x="108157" y="50530"/>
                  <a:pt x="105380" y="68196"/>
                </a:cubicBezTo>
                <a:cubicBezTo>
                  <a:pt x="95158" y="60366"/>
                  <a:pt x="82429" y="55660"/>
                  <a:pt x="68582" y="55506"/>
                </a:cubicBezTo>
                <a:lnTo>
                  <a:pt x="62757" y="46750"/>
                </a:lnTo>
                <a:cubicBezTo>
                  <a:pt x="61639" y="45053"/>
                  <a:pt x="61407" y="42893"/>
                  <a:pt x="62217" y="41003"/>
                </a:cubicBezTo>
                <a:cubicBezTo>
                  <a:pt x="63027" y="39113"/>
                  <a:pt x="64686" y="37724"/>
                  <a:pt x="66692" y="37338"/>
                </a:cubicBezTo>
                <a:lnTo>
                  <a:pt x="98746" y="30858"/>
                </a:lnTo>
                <a:lnTo>
                  <a:pt x="105226" y="-1234"/>
                </a:lnTo>
                <a:cubicBezTo>
                  <a:pt x="105650" y="-3240"/>
                  <a:pt x="107000" y="-4899"/>
                  <a:pt x="108890" y="-5709"/>
                </a:cubicBezTo>
                <a:cubicBezTo>
                  <a:pt x="110780" y="-6519"/>
                  <a:pt x="112940" y="-6287"/>
                  <a:pt x="114638" y="-5169"/>
                </a:cubicBezTo>
                <a:lnTo>
                  <a:pt x="141947" y="12960"/>
                </a:lnTo>
                <a:lnTo>
                  <a:pt x="169218" y="-5130"/>
                </a:lnTo>
                <a:cubicBezTo>
                  <a:pt x="170915" y="-6249"/>
                  <a:pt x="173075" y="-6480"/>
                  <a:pt x="174965" y="-5670"/>
                </a:cubicBezTo>
                <a:close/>
                <a:moveTo>
                  <a:pt x="160462" y="74059"/>
                </a:moveTo>
                <a:cubicBezTo>
                  <a:pt x="160462" y="75525"/>
                  <a:pt x="160307" y="76952"/>
                  <a:pt x="159960" y="78341"/>
                </a:cubicBezTo>
                <a:cubicBezTo>
                  <a:pt x="151590" y="71783"/>
                  <a:pt x="141060" y="67888"/>
                  <a:pt x="129604" y="67888"/>
                </a:cubicBezTo>
                <a:cubicBezTo>
                  <a:pt x="127829" y="67888"/>
                  <a:pt x="126094" y="67965"/>
                  <a:pt x="124396" y="68158"/>
                </a:cubicBezTo>
                <a:cubicBezTo>
                  <a:pt x="126865" y="60829"/>
                  <a:pt x="133808" y="55544"/>
                  <a:pt x="141947" y="55544"/>
                </a:cubicBezTo>
                <a:cubicBezTo>
                  <a:pt x="152169" y="55544"/>
                  <a:pt x="160462" y="63838"/>
                  <a:pt x="160462" y="74059"/>
                </a:cubicBezTo>
                <a:close/>
                <a:moveTo>
                  <a:pt x="37030" y="197491"/>
                </a:moveTo>
                <a:cubicBezTo>
                  <a:pt x="16586" y="197491"/>
                  <a:pt x="0" y="180905"/>
                  <a:pt x="0" y="160462"/>
                </a:cubicBezTo>
                <a:cubicBezTo>
                  <a:pt x="0" y="144068"/>
                  <a:pt x="10646" y="130144"/>
                  <a:pt x="25419" y="125284"/>
                </a:cubicBezTo>
                <a:cubicBezTo>
                  <a:pt x="24918" y="122699"/>
                  <a:pt x="24686" y="119999"/>
                  <a:pt x="24686" y="117260"/>
                </a:cubicBezTo>
                <a:cubicBezTo>
                  <a:pt x="24686" y="93384"/>
                  <a:pt x="44011" y="74059"/>
                  <a:pt x="67888" y="74059"/>
                </a:cubicBezTo>
                <a:cubicBezTo>
                  <a:pt x="84512" y="74059"/>
                  <a:pt x="98938" y="83432"/>
                  <a:pt x="106152" y="97203"/>
                </a:cubicBezTo>
                <a:cubicBezTo>
                  <a:pt x="111822" y="90607"/>
                  <a:pt x="120231" y="86402"/>
                  <a:pt x="129604" y="86402"/>
                </a:cubicBezTo>
                <a:cubicBezTo>
                  <a:pt x="146653" y="86402"/>
                  <a:pt x="160462" y="100211"/>
                  <a:pt x="160462" y="117260"/>
                </a:cubicBezTo>
                <a:cubicBezTo>
                  <a:pt x="160462" y="119382"/>
                  <a:pt x="160230" y="121426"/>
                  <a:pt x="159844" y="123432"/>
                </a:cubicBezTo>
                <a:cubicBezTo>
                  <a:pt x="160037" y="123432"/>
                  <a:pt x="160269" y="123432"/>
                  <a:pt x="160462" y="123432"/>
                </a:cubicBezTo>
                <a:cubicBezTo>
                  <a:pt x="180905" y="123432"/>
                  <a:pt x="197491" y="140018"/>
                  <a:pt x="197491" y="160462"/>
                </a:cubicBezTo>
                <a:cubicBezTo>
                  <a:pt x="197491" y="180905"/>
                  <a:pt x="180905" y="197491"/>
                  <a:pt x="160462" y="197491"/>
                </a:cubicBezTo>
                <a:lnTo>
                  <a:pt x="37030" y="197491"/>
                </a:ln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12" name="Text 10"/>
          <p:cNvSpPr/>
          <p:nvPr/>
        </p:nvSpPr>
        <p:spPr>
          <a:xfrm>
            <a:off x="1180538" y="2320317"/>
            <a:ext cx="6652987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湖南省气象数据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0538" y="2616506"/>
            <a:ext cx="6640644" cy="23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温度、降水、日照等气象观测数据。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327" y="3051472"/>
            <a:ext cx="7097342" cy="728249"/>
          </a:xfrm>
          <a:custGeom>
            <a:avLst/>
            <a:gdLst/>
            <a:ahLst/>
            <a:cxnLst/>
            <a:rect l="l" t="t" r="r" b="b"/>
            <a:pathLst>
              <a:path w="7097342" h="728249">
                <a:moveTo>
                  <a:pt x="49375" y="0"/>
                </a:moveTo>
                <a:lnTo>
                  <a:pt x="7047967" y="0"/>
                </a:lnTo>
                <a:cubicBezTo>
                  <a:pt x="7075236" y="0"/>
                  <a:pt x="7097342" y="22106"/>
                  <a:pt x="7097342" y="49375"/>
                </a:cubicBezTo>
                <a:lnTo>
                  <a:pt x="7097342" y="678874"/>
                </a:lnTo>
                <a:cubicBezTo>
                  <a:pt x="7097342" y="706143"/>
                  <a:pt x="7075236" y="728249"/>
                  <a:pt x="7047967" y="728249"/>
                </a:cubicBezTo>
                <a:lnTo>
                  <a:pt x="49375" y="728249"/>
                </a:lnTo>
                <a:cubicBezTo>
                  <a:pt x="22106" y="728249"/>
                  <a:pt x="0" y="706143"/>
                  <a:pt x="0" y="678874"/>
                </a:cubicBezTo>
                <a:lnTo>
                  <a:pt x="0" y="49375"/>
                </a:lnTo>
                <a:cubicBezTo>
                  <a:pt x="0" y="22124"/>
                  <a:pt x="22124" y="0"/>
                  <a:pt x="49375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719" y="3199481"/>
            <a:ext cx="197491" cy="197491"/>
          </a:xfrm>
          <a:custGeom>
            <a:avLst/>
            <a:gdLst/>
            <a:ahLst/>
            <a:cxnLst/>
            <a:rect l="l" t="t" r="r" b="b"/>
            <a:pathLst>
              <a:path w="197491" h="197491">
                <a:moveTo>
                  <a:pt x="89681" y="2006"/>
                </a:moveTo>
                <a:cubicBezTo>
                  <a:pt x="95428" y="-656"/>
                  <a:pt x="102063" y="-656"/>
                  <a:pt x="107810" y="2006"/>
                </a:cubicBezTo>
                <a:lnTo>
                  <a:pt x="192130" y="40964"/>
                </a:lnTo>
                <a:cubicBezTo>
                  <a:pt x="195408" y="42468"/>
                  <a:pt x="197491" y="45747"/>
                  <a:pt x="197491" y="49373"/>
                </a:cubicBezTo>
                <a:cubicBezTo>
                  <a:pt x="197491" y="52999"/>
                  <a:pt x="195408" y="56277"/>
                  <a:pt x="192130" y="57782"/>
                </a:cubicBezTo>
                <a:lnTo>
                  <a:pt x="107810" y="96740"/>
                </a:lnTo>
                <a:cubicBezTo>
                  <a:pt x="102063" y="99401"/>
                  <a:pt x="95428" y="99401"/>
                  <a:pt x="89681" y="96740"/>
                </a:cubicBezTo>
                <a:lnTo>
                  <a:pt x="5362" y="57782"/>
                </a:lnTo>
                <a:cubicBezTo>
                  <a:pt x="2083" y="56239"/>
                  <a:pt x="0" y="52960"/>
                  <a:pt x="0" y="49373"/>
                </a:cubicBezTo>
                <a:cubicBezTo>
                  <a:pt x="0" y="45786"/>
                  <a:pt x="2083" y="42468"/>
                  <a:pt x="5362" y="40964"/>
                </a:cubicBezTo>
                <a:lnTo>
                  <a:pt x="89681" y="2006"/>
                </a:lnTo>
                <a:close/>
                <a:moveTo>
                  <a:pt x="18553" y="84242"/>
                </a:moveTo>
                <a:lnTo>
                  <a:pt x="81928" y="113519"/>
                </a:lnTo>
                <a:cubicBezTo>
                  <a:pt x="92613" y="118456"/>
                  <a:pt x="104917" y="118456"/>
                  <a:pt x="115602" y="113519"/>
                </a:cubicBezTo>
                <a:lnTo>
                  <a:pt x="178976" y="84242"/>
                </a:lnTo>
                <a:lnTo>
                  <a:pt x="192130" y="90337"/>
                </a:lnTo>
                <a:cubicBezTo>
                  <a:pt x="195408" y="91841"/>
                  <a:pt x="197491" y="95120"/>
                  <a:pt x="197491" y="98746"/>
                </a:cubicBezTo>
                <a:cubicBezTo>
                  <a:pt x="197491" y="102371"/>
                  <a:pt x="195408" y="105650"/>
                  <a:pt x="192130" y="107154"/>
                </a:cubicBezTo>
                <a:lnTo>
                  <a:pt x="107810" y="146113"/>
                </a:lnTo>
                <a:cubicBezTo>
                  <a:pt x="102063" y="148774"/>
                  <a:pt x="95428" y="148774"/>
                  <a:pt x="89681" y="146113"/>
                </a:cubicBezTo>
                <a:lnTo>
                  <a:pt x="5362" y="107154"/>
                </a:lnTo>
                <a:cubicBezTo>
                  <a:pt x="2083" y="105612"/>
                  <a:pt x="0" y="102333"/>
                  <a:pt x="0" y="98746"/>
                </a:cubicBezTo>
                <a:cubicBezTo>
                  <a:pt x="0" y="95158"/>
                  <a:pt x="2083" y="91841"/>
                  <a:pt x="5362" y="90337"/>
                </a:cubicBezTo>
                <a:lnTo>
                  <a:pt x="18515" y="84242"/>
                </a:lnTo>
                <a:close/>
                <a:moveTo>
                  <a:pt x="5362" y="139710"/>
                </a:moveTo>
                <a:lnTo>
                  <a:pt x="18515" y="133615"/>
                </a:lnTo>
                <a:lnTo>
                  <a:pt x="81889" y="162892"/>
                </a:lnTo>
                <a:cubicBezTo>
                  <a:pt x="92574" y="167829"/>
                  <a:pt x="104879" y="167829"/>
                  <a:pt x="115563" y="162892"/>
                </a:cubicBezTo>
                <a:lnTo>
                  <a:pt x="178938" y="133615"/>
                </a:lnTo>
                <a:lnTo>
                  <a:pt x="192091" y="139710"/>
                </a:lnTo>
                <a:cubicBezTo>
                  <a:pt x="195370" y="141214"/>
                  <a:pt x="197453" y="144493"/>
                  <a:pt x="197453" y="148118"/>
                </a:cubicBezTo>
                <a:cubicBezTo>
                  <a:pt x="197453" y="151744"/>
                  <a:pt x="195370" y="155023"/>
                  <a:pt x="192091" y="156527"/>
                </a:cubicBezTo>
                <a:lnTo>
                  <a:pt x="107772" y="195485"/>
                </a:lnTo>
                <a:cubicBezTo>
                  <a:pt x="102024" y="198147"/>
                  <a:pt x="95390" y="198147"/>
                  <a:pt x="89643" y="195485"/>
                </a:cubicBezTo>
                <a:lnTo>
                  <a:pt x="5362" y="156527"/>
                </a:lnTo>
                <a:cubicBezTo>
                  <a:pt x="2083" y="154984"/>
                  <a:pt x="0" y="151706"/>
                  <a:pt x="0" y="148118"/>
                </a:cubicBezTo>
                <a:cubicBezTo>
                  <a:pt x="0" y="144531"/>
                  <a:pt x="2083" y="141214"/>
                  <a:pt x="5362" y="13971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16" name="Text 14"/>
          <p:cNvSpPr/>
          <p:nvPr/>
        </p:nvSpPr>
        <p:spPr>
          <a:xfrm>
            <a:off x="1180538" y="3150169"/>
            <a:ext cx="6652987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土壤调查数据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0538" y="3446358"/>
            <a:ext cx="6640644" cy="23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类型、pH值、有机质含量等。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6327" y="3881323"/>
            <a:ext cx="7097342" cy="728249"/>
          </a:xfrm>
          <a:custGeom>
            <a:avLst/>
            <a:gdLst/>
            <a:ahLst/>
            <a:cxnLst/>
            <a:rect l="l" t="t" r="r" b="b"/>
            <a:pathLst>
              <a:path w="7097342" h="728249">
                <a:moveTo>
                  <a:pt x="49375" y="0"/>
                </a:moveTo>
                <a:lnTo>
                  <a:pt x="7047967" y="0"/>
                </a:lnTo>
                <a:cubicBezTo>
                  <a:pt x="7075236" y="0"/>
                  <a:pt x="7097342" y="22106"/>
                  <a:pt x="7097342" y="49375"/>
                </a:cubicBezTo>
                <a:lnTo>
                  <a:pt x="7097342" y="678874"/>
                </a:lnTo>
                <a:cubicBezTo>
                  <a:pt x="7097342" y="706143"/>
                  <a:pt x="7075236" y="728249"/>
                  <a:pt x="7047967" y="728249"/>
                </a:cubicBezTo>
                <a:lnTo>
                  <a:pt x="49375" y="728249"/>
                </a:lnTo>
                <a:cubicBezTo>
                  <a:pt x="22106" y="728249"/>
                  <a:pt x="0" y="706143"/>
                  <a:pt x="0" y="678874"/>
                </a:cubicBezTo>
                <a:lnTo>
                  <a:pt x="0" y="49375"/>
                </a:lnTo>
                <a:cubicBezTo>
                  <a:pt x="0" y="22124"/>
                  <a:pt x="22124" y="0"/>
                  <a:pt x="49375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9719" y="4029345"/>
            <a:ext cx="197491" cy="197491"/>
          </a:xfrm>
          <a:custGeom>
            <a:avLst/>
            <a:gdLst/>
            <a:ahLst/>
            <a:cxnLst/>
            <a:rect l="l" t="t" r="r" b="b"/>
            <a:pathLst>
              <a:path w="197491" h="197491">
                <a:moveTo>
                  <a:pt x="197491" y="12343"/>
                </a:moveTo>
                <a:cubicBezTo>
                  <a:pt x="197491" y="54040"/>
                  <a:pt x="167945" y="88832"/>
                  <a:pt x="128678" y="96971"/>
                </a:cubicBezTo>
                <a:cubicBezTo>
                  <a:pt x="125631" y="74561"/>
                  <a:pt x="115563" y="54387"/>
                  <a:pt x="100713" y="38765"/>
                </a:cubicBezTo>
                <a:cubicBezTo>
                  <a:pt x="116180" y="15429"/>
                  <a:pt x="142680" y="0"/>
                  <a:pt x="172805" y="0"/>
                </a:cubicBezTo>
                <a:lnTo>
                  <a:pt x="185148" y="0"/>
                </a:lnTo>
                <a:cubicBezTo>
                  <a:pt x="191975" y="0"/>
                  <a:pt x="197491" y="5516"/>
                  <a:pt x="197491" y="12343"/>
                </a:cubicBezTo>
                <a:close/>
                <a:moveTo>
                  <a:pt x="0" y="37030"/>
                </a:moveTo>
                <a:cubicBezTo>
                  <a:pt x="0" y="30202"/>
                  <a:pt x="5516" y="24686"/>
                  <a:pt x="12343" y="24686"/>
                </a:cubicBezTo>
                <a:lnTo>
                  <a:pt x="24686" y="24686"/>
                </a:lnTo>
                <a:cubicBezTo>
                  <a:pt x="72401" y="24686"/>
                  <a:pt x="111089" y="63375"/>
                  <a:pt x="111089" y="111089"/>
                </a:cubicBezTo>
                <a:lnTo>
                  <a:pt x="111089" y="185148"/>
                </a:lnTo>
                <a:cubicBezTo>
                  <a:pt x="111089" y="191975"/>
                  <a:pt x="105573" y="197491"/>
                  <a:pt x="98746" y="197491"/>
                </a:cubicBezTo>
                <a:cubicBezTo>
                  <a:pt x="91918" y="197491"/>
                  <a:pt x="86402" y="191975"/>
                  <a:pt x="86402" y="185148"/>
                </a:cubicBezTo>
                <a:lnTo>
                  <a:pt x="86402" y="123432"/>
                </a:lnTo>
                <a:cubicBezTo>
                  <a:pt x="38688" y="123432"/>
                  <a:pt x="0" y="84744"/>
                  <a:pt x="0" y="37030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0" name="Text 18"/>
          <p:cNvSpPr/>
          <p:nvPr/>
        </p:nvSpPr>
        <p:spPr>
          <a:xfrm>
            <a:off x="1180538" y="3980032"/>
            <a:ext cx="6652987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作物种植数据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0538" y="4276221"/>
            <a:ext cx="6640644" cy="23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61种主要农作物的生长习性数据。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6327" y="4711187"/>
            <a:ext cx="7097342" cy="728249"/>
          </a:xfrm>
          <a:custGeom>
            <a:avLst/>
            <a:gdLst/>
            <a:ahLst/>
            <a:cxnLst/>
            <a:rect l="l" t="t" r="r" b="b"/>
            <a:pathLst>
              <a:path w="7097342" h="728249">
                <a:moveTo>
                  <a:pt x="49375" y="0"/>
                </a:moveTo>
                <a:lnTo>
                  <a:pt x="7047967" y="0"/>
                </a:lnTo>
                <a:cubicBezTo>
                  <a:pt x="7075236" y="0"/>
                  <a:pt x="7097342" y="22106"/>
                  <a:pt x="7097342" y="49375"/>
                </a:cubicBezTo>
                <a:lnTo>
                  <a:pt x="7097342" y="678874"/>
                </a:lnTo>
                <a:cubicBezTo>
                  <a:pt x="7097342" y="706143"/>
                  <a:pt x="7075236" y="728249"/>
                  <a:pt x="7047967" y="728249"/>
                </a:cubicBezTo>
                <a:lnTo>
                  <a:pt x="49375" y="728249"/>
                </a:lnTo>
                <a:cubicBezTo>
                  <a:pt x="22106" y="728249"/>
                  <a:pt x="0" y="706143"/>
                  <a:pt x="0" y="678874"/>
                </a:cubicBezTo>
                <a:lnTo>
                  <a:pt x="0" y="49375"/>
                </a:lnTo>
                <a:cubicBezTo>
                  <a:pt x="0" y="22124"/>
                  <a:pt x="22124" y="0"/>
                  <a:pt x="49375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719" y="4859196"/>
            <a:ext cx="197491" cy="197491"/>
          </a:xfrm>
          <a:custGeom>
            <a:avLst/>
            <a:gdLst/>
            <a:ahLst/>
            <a:cxnLst/>
            <a:rect l="l" t="t" r="r" b="b"/>
            <a:pathLst>
              <a:path w="197491" h="197491">
                <a:moveTo>
                  <a:pt x="197491" y="18515"/>
                </a:moveTo>
                <a:cubicBezTo>
                  <a:pt x="197491" y="14233"/>
                  <a:pt x="195293" y="10260"/>
                  <a:pt x="191628" y="8023"/>
                </a:cubicBezTo>
                <a:cubicBezTo>
                  <a:pt x="187964" y="5786"/>
                  <a:pt x="183451" y="5554"/>
                  <a:pt x="179632" y="7483"/>
                </a:cubicBezTo>
                <a:lnTo>
                  <a:pt x="134811" y="29894"/>
                </a:lnTo>
                <a:lnTo>
                  <a:pt x="65612" y="6789"/>
                </a:lnTo>
                <a:cubicBezTo>
                  <a:pt x="62487" y="5747"/>
                  <a:pt x="59132" y="5979"/>
                  <a:pt x="56200" y="7444"/>
                </a:cubicBezTo>
                <a:lnTo>
                  <a:pt x="6827" y="32131"/>
                </a:lnTo>
                <a:cubicBezTo>
                  <a:pt x="2623" y="34252"/>
                  <a:pt x="0" y="38534"/>
                  <a:pt x="0" y="43201"/>
                </a:cubicBezTo>
                <a:lnTo>
                  <a:pt x="0" y="178976"/>
                </a:lnTo>
                <a:cubicBezTo>
                  <a:pt x="0" y="183258"/>
                  <a:pt x="2199" y="187231"/>
                  <a:pt x="5863" y="189468"/>
                </a:cubicBezTo>
                <a:cubicBezTo>
                  <a:pt x="9527" y="191705"/>
                  <a:pt x="14040" y="191937"/>
                  <a:pt x="17859" y="190008"/>
                </a:cubicBezTo>
                <a:lnTo>
                  <a:pt x="62642" y="167598"/>
                </a:lnTo>
                <a:lnTo>
                  <a:pt x="131841" y="190664"/>
                </a:lnTo>
                <a:cubicBezTo>
                  <a:pt x="134965" y="191705"/>
                  <a:pt x="138321" y="191474"/>
                  <a:pt x="141253" y="190008"/>
                </a:cubicBezTo>
                <a:lnTo>
                  <a:pt x="190625" y="165322"/>
                </a:lnTo>
                <a:cubicBezTo>
                  <a:pt x="194791" y="163239"/>
                  <a:pt x="197453" y="158957"/>
                  <a:pt x="197453" y="154290"/>
                </a:cubicBezTo>
                <a:lnTo>
                  <a:pt x="197453" y="18515"/>
                </a:lnTo>
                <a:close/>
                <a:moveTo>
                  <a:pt x="74059" y="145380"/>
                </a:moveTo>
                <a:lnTo>
                  <a:pt x="74059" y="35641"/>
                </a:lnTo>
                <a:lnTo>
                  <a:pt x="123432" y="52111"/>
                </a:lnTo>
                <a:lnTo>
                  <a:pt x="123432" y="161850"/>
                </a:lnTo>
                <a:lnTo>
                  <a:pt x="74059" y="14538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4" name="Text 22"/>
          <p:cNvSpPr/>
          <p:nvPr/>
        </p:nvSpPr>
        <p:spPr>
          <a:xfrm>
            <a:off x="1180538" y="4809884"/>
            <a:ext cx="6652987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地理数据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0538" y="5106085"/>
            <a:ext cx="6640644" cy="23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完整的地理边界和行政区划信息。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681" y="5787914"/>
            <a:ext cx="7541698" cy="3357352"/>
          </a:xfrm>
          <a:custGeom>
            <a:avLst/>
            <a:gdLst/>
            <a:ahLst/>
            <a:cxnLst/>
            <a:rect l="l" t="t" r="r" b="b"/>
            <a:pathLst>
              <a:path w="7541698" h="3357352">
                <a:moveTo>
                  <a:pt x="148126" y="0"/>
                </a:moveTo>
                <a:lnTo>
                  <a:pt x="7393571" y="0"/>
                </a:lnTo>
                <a:cubicBezTo>
                  <a:pt x="7475379" y="0"/>
                  <a:pt x="7541698" y="66318"/>
                  <a:pt x="7541698" y="148126"/>
                </a:cubicBezTo>
                <a:lnTo>
                  <a:pt x="7541698" y="3209225"/>
                </a:lnTo>
                <a:cubicBezTo>
                  <a:pt x="7541698" y="3291033"/>
                  <a:pt x="7475379" y="3357352"/>
                  <a:pt x="7393571" y="3357352"/>
                </a:cubicBezTo>
                <a:lnTo>
                  <a:pt x="148126" y="3357352"/>
                </a:lnTo>
                <a:cubicBezTo>
                  <a:pt x="66318" y="3357352"/>
                  <a:pt x="0" y="3291033"/>
                  <a:pt x="0" y="3209225"/>
                </a:cubicBezTo>
                <a:lnTo>
                  <a:pt x="0" y="148126"/>
                </a:lnTo>
                <a:cubicBezTo>
                  <a:pt x="0" y="66318"/>
                  <a:pt x="66318" y="0"/>
                  <a:pt x="14812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  <a:effectLst>
            <a:outerShdw blurRad="185148" dist="1234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5228" y="6034718"/>
            <a:ext cx="222178" cy="296237"/>
          </a:xfrm>
          <a:custGeom>
            <a:avLst/>
            <a:gdLst/>
            <a:ahLst/>
            <a:cxnLst/>
            <a:rect l="l" t="t" r="r" b="b"/>
            <a:pathLst>
              <a:path w="222178" h="296237">
                <a:moveTo>
                  <a:pt x="144589" y="38650"/>
                </a:moveTo>
                <a:cubicBezTo>
                  <a:pt x="150606" y="30376"/>
                  <a:pt x="148755" y="18804"/>
                  <a:pt x="140481" y="12787"/>
                </a:cubicBezTo>
                <a:cubicBezTo>
                  <a:pt x="132207" y="6769"/>
                  <a:pt x="120636" y="8621"/>
                  <a:pt x="114618" y="16895"/>
                </a:cubicBezTo>
                <a:lnTo>
                  <a:pt x="53288" y="101195"/>
                </a:lnTo>
                <a:lnTo>
                  <a:pt x="31591" y="79498"/>
                </a:lnTo>
                <a:cubicBezTo>
                  <a:pt x="24359" y="72266"/>
                  <a:pt x="12613" y="72266"/>
                  <a:pt x="5381" y="79498"/>
                </a:cubicBezTo>
                <a:cubicBezTo>
                  <a:pt x="-1851" y="86730"/>
                  <a:pt x="-1851" y="98476"/>
                  <a:pt x="5381" y="105708"/>
                </a:cubicBezTo>
                <a:lnTo>
                  <a:pt x="42410" y="142738"/>
                </a:lnTo>
                <a:cubicBezTo>
                  <a:pt x="46229" y="146556"/>
                  <a:pt x="51552" y="148523"/>
                  <a:pt x="56933" y="148118"/>
                </a:cubicBezTo>
                <a:cubicBezTo>
                  <a:pt x="62314" y="147713"/>
                  <a:pt x="67290" y="144936"/>
                  <a:pt x="70472" y="140539"/>
                </a:cubicBezTo>
                <a:lnTo>
                  <a:pt x="144531" y="38708"/>
                </a:lnTo>
                <a:close/>
                <a:moveTo>
                  <a:pt x="218648" y="117338"/>
                </a:moveTo>
                <a:cubicBezTo>
                  <a:pt x="224666" y="109064"/>
                  <a:pt x="222814" y="97492"/>
                  <a:pt x="214540" y="91475"/>
                </a:cubicBezTo>
                <a:cubicBezTo>
                  <a:pt x="206267" y="85457"/>
                  <a:pt x="194695" y="87309"/>
                  <a:pt x="188677" y="95583"/>
                </a:cubicBezTo>
                <a:lnTo>
                  <a:pt x="90318" y="230799"/>
                </a:lnTo>
                <a:lnTo>
                  <a:pt x="50106" y="190587"/>
                </a:lnTo>
                <a:cubicBezTo>
                  <a:pt x="42873" y="183354"/>
                  <a:pt x="31128" y="183354"/>
                  <a:pt x="23896" y="190587"/>
                </a:cubicBezTo>
                <a:cubicBezTo>
                  <a:pt x="16663" y="197819"/>
                  <a:pt x="16663" y="209564"/>
                  <a:pt x="23896" y="216797"/>
                </a:cubicBezTo>
                <a:lnTo>
                  <a:pt x="79440" y="272341"/>
                </a:lnTo>
                <a:cubicBezTo>
                  <a:pt x="83259" y="276160"/>
                  <a:pt x="88582" y="278127"/>
                  <a:pt x="93963" y="277722"/>
                </a:cubicBezTo>
                <a:cubicBezTo>
                  <a:pt x="99344" y="277317"/>
                  <a:pt x="104319" y="274540"/>
                  <a:pt x="107502" y="270143"/>
                </a:cubicBezTo>
                <a:lnTo>
                  <a:pt x="218590" y="117395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8" name="Text 26"/>
          <p:cNvSpPr/>
          <p:nvPr/>
        </p:nvSpPr>
        <p:spPr>
          <a:xfrm>
            <a:off x="1209546" y="5985405"/>
            <a:ext cx="1333066" cy="39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3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验证方法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1169" y="6528482"/>
            <a:ext cx="7146715" cy="740592"/>
          </a:xfrm>
          <a:custGeom>
            <a:avLst/>
            <a:gdLst/>
            <a:ahLst/>
            <a:cxnLst/>
            <a:rect l="l" t="t" r="r" b="b"/>
            <a:pathLst>
              <a:path w="7146715" h="740592">
                <a:moveTo>
                  <a:pt x="49375" y="0"/>
                </a:moveTo>
                <a:lnTo>
                  <a:pt x="7097340" y="0"/>
                </a:lnTo>
                <a:cubicBezTo>
                  <a:pt x="7124609" y="0"/>
                  <a:pt x="7146715" y="22106"/>
                  <a:pt x="7146715" y="49375"/>
                </a:cubicBezTo>
                <a:lnTo>
                  <a:pt x="7146715" y="691217"/>
                </a:lnTo>
                <a:cubicBezTo>
                  <a:pt x="7146715" y="718486"/>
                  <a:pt x="7124609" y="740592"/>
                  <a:pt x="7097340" y="740592"/>
                </a:cubicBezTo>
                <a:lnTo>
                  <a:pt x="49375" y="740592"/>
                </a:lnTo>
                <a:cubicBezTo>
                  <a:pt x="22106" y="740592"/>
                  <a:pt x="0" y="718486"/>
                  <a:pt x="0" y="691217"/>
                </a:cubicBezTo>
                <a:lnTo>
                  <a:pt x="0" y="49375"/>
                </a:lnTo>
                <a:cubicBezTo>
                  <a:pt x="0" y="22124"/>
                  <a:pt x="22124" y="0"/>
                  <a:pt x="49375" y="0"/>
                </a:cubicBezTo>
                <a:close/>
              </a:path>
            </a:pathLst>
          </a:custGeom>
          <a:solidFill>
            <a:srgbClr val="C3A170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89874" y="6676492"/>
            <a:ext cx="246864" cy="197491"/>
          </a:xfrm>
          <a:custGeom>
            <a:avLst/>
            <a:gdLst/>
            <a:ahLst/>
            <a:cxnLst/>
            <a:rect l="l" t="t" r="r" b="b"/>
            <a:pathLst>
              <a:path w="246864" h="197491">
                <a:moveTo>
                  <a:pt x="222178" y="18515"/>
                </a:moveTo>
                <a:cubicBezTo>
                  <a:pt x="222178" y="14233"/>
                  <a:pt x="219979" y="10260"/>
                  <a:pt x="216315" y="8023"/>
                </a:cubicBezTo>
                <a:cubicBezTo>
                  <a:pt x="212650" y="5786"/>
                  <a:pt x="208137" y="5554"/>
                  <a:pt x="204319" y="7483"/>
                </a:cubicBezTo>
                <a:lnTo>
                  <a:pt x="159497" y="29894"/>
                </a:lnTo>
                <a:lnTo>
                  <a:pt x="90298" y="6789"/>
                </a:lnTo>
                <a:cubicBezTo>
                  <a:pt x="87174" y="5747"/>
                  <a:pt x="83818" y="5979"/>
                  <a:pt x="80887" y="7444"/>
                </a:cubicBezTo>
                <a:lnTo>
                  <a:pt x="31514" y="32131"/>
                </a:lnTo>
                <a:cubicBezTo>
                  <a:pt x="27309" y="34252"/>
                  <a:pt x="24686" y="38534"/>
                  <a:pt x="24686" y="43201"/>
                </a:cubicBezTo>
                <a:lnTo>
                  <a:pt x="24686" y="178976"/>
                </a:lnTo>
                <a:cubicBezTo>
                  <a:pt x="24686" y="183258"/>
                  <a:pt x="26885" y="187231"/>
                  <a:pt x="30549" y="189468"/>
                </a:cubicBezTo>
                <a:cubicBezTo>
                  <a:pt x="34214" y="191705"/>
                  <a:pt x="38727" y="191937"/>
                  <a:pt x="42545" y="190008"/>
                </a:cubicBezTo>
                <a:lnTo>
                  <a:pt x="87328" y="167598"/>
                </a:lnTo>
                <a:lnTo>
                  <a:pt x="154174" y="189892"/>
                </a:lnTo>
                <a:cubicBezTo>
                  <a:pt x="152516" y="187424"/>
                  <a:pt x="150896" y="184839"/>
                  <a:pt x="149314" y="182217"/>
                </a:cubicBezTo>
                <a:cubicBezTo>
                  <a:pt x="145071" y="175158"/>
                  <a:pt x="140867" y="167058"/>
                  <a:pt x="137742" y="158379"/>
                </a:cubicBezTo>
                <a:lnTo>
                  <a:pt x="98707" y="145380"/>
                </a:lnTo>
                <a:lnTo>
                  <a:pt x="98707" y="35641"/>
                </a:lnTo>
                <a:lnTo>
                  <a:pt x="148080" y="52111"/>
                </a:lnTo>
                <a:lnTo>
                  <a:pt x="148080" y="90414"/>
                </a:lnTo>
                <a:cubicBezTo>
                  <a:pt x="160037" y="76605"/>
                  <a:pt x="177781" y="67888"/>
                  <a:pt x="197453" y="67888"/>
                </a:cubicBezTo>
                <a:cubicBezTo>
                  <a:pt x="206170" y="67888"/>
                  <a:pt x="214502" y="69585"/>
                  <a:pt x="222139" y="72709"/>
                </a:cubicBezTo>
                <a:lnTo>
                  <a:pt x="222178" y="18515"/>
                </a:lnTo>
                <a:close/>
                <a:moveTo>
                  <a:pt x="197491" y="86402"/>
                </a:moveTo>
                <a:cubicBezTo>
                  <a:pt x="171918" y="86402"/>
                  <a:pt x="151204" y="106769"/>
                  <a:pt x="151204" y="131879"/>
                </a:cubicBezTo>
                <a:cubicBezTo>
                  <a:pt x="151204" y="158456"/>
                  <a:pt x="175929" y="189892"/>
                  <a:pt x="189237" y="204897"/>
                </a:cubicBezTo>
                <a:cubicBezTo>
                  <a:pt x="193711" y="209912"/>
                  <a:pt x="201310" y="209912"/>
                  <a:pt x="205784" y="204897"/>
                </a:cubicBezTo>
                <a:cubicBezTo>
                  <a:pt x="219092" y="189892"/>
                  <a:pt x="243817" y="158456"/>
                  <a:pt x="243817" y="131879"/>
                </a:cubicBezTo>
                <a:cubicBezTo>
                  <a:pt x="243817" y="106769"/>
                  <a:pt x="223103" y="86402"/>
                  <a:pt x="197530" y="86402"/>
                </a:cubicBezTo>
                <a:close/>
                <a:moveTo>
                  <a:pt x="182062" y="132689"/>
                </a:moveTo>
                <a:cubicBezTo>
                  <a:pt x="182062" y="124174"/>
                  <a:pt x="188976" y="117260"/>
                  <a:pt x="197491" y="117260"/>
                </a:cubicBezTo>
                <a:cubicBezTo>
                  <a:pt x="206007" y="117260"/>
                  <a:pt x="212920" y="124174"/>
                  <a:pt x="212920" y="132689"/>
                </a:cubicBezTo>
                <a:cubicBezTo>
                  <a:pt x="212920" y="141205"/>
                  <a:pt x="206007" y="148118"/>
                  <a:pt x="197491" y="148118"/>
                </a:cubicBezTo>
                <a:cubicBezTo>
                  <a:pt x="188976" y="148118"/>
                  <a:pt x="182062" y="141205"/>
                  <a:pt x="182062" y="132689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1" name="Text 29"/>
          <p:cNvSpPr/>
          <p:nvPr/>
        </p:nvSpPr>
        <p:spPr>
          <a:xfrm>
            <a:off x="1135380" y="6627180"/>
            <a:ext cx="6702360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实地调查验证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5380" y="6923380"/>
            <a:ext cx="6690017" cy="24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采集不同区域品质和产量数据。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1169" y="7367591"/>
            <a:ext cx="7146715" cy="740592"/>
          </a:xfrm>
          <a:custGeom>
            <a:avLst/>
            <a:gdLst/>
            <a:ahLst/>
            <a:cxnLst/>
            <a:rect l="l" t="t" r="r" b="b"/>
            <a:pathLst>
              <a:path w="7146715" h="740592">
                <a:moveTo>
                  <a:pt x="49375" y="0"/>
                </a:moveTo>
                <a:lnTo>
                  <a:pt x="7097340" y="0"/>
                </a:lnTo>
                <a:cubicBezTo>
                  <a:pt x="7124609" y="0"/>
                  <a:pt x="7146715" y="22106"/>
                  <a:pt x="7146715" y="49375"/>
                </a:cubicBezTo>
                <a:lnTo>
                  <a:pt x="7146715" y="691217"/>
                </a:lnTo>
                <a:cubicBezTo>
                  <a:pt x="7146715" y="718486"/>
                  <a:pt x="7124609" y="740592"/>
                  <a:pt x="7097340" y="740592"/>
                </a:cubicBezTo>
                <a:lnTo>
                  <a:pt x="49375" y="740592"/>
                </a:lnTo>
                <a:cubicBezTo>
                  <a:pt x="22106" y="740592"/>
                  <a:pt x="0" y="718486"/>
                  <a:pt x="0" y="691217"/>
                </a:cubicBezTo>
                <a:lnTo>
                  <a:pt x="0" y="49375"/>
                </a:lnTo>
                <a:cubicBezTo>
                  <a:pt x="0" y="22124"/>
                  <a:pt x="22124" y="0"/>
                  <a:pt x="49375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89874" y="7515601"/>
            <a:ext cx="246864" cy="197491"/>
          </a:xfrm>
          <a:custGeom>
            <a:avLst/>
            <a:gdLst/>
            <a:ahLst/>
            <a:cxnLst/>
            <a:rect l="l" t="t" r="r" b="b"/>
            <a:pathLst>
              <a:path w="246864" h="197491">
                <a:moveTo>
                  <a:pt x="123432" y="6172"/>
                </a:moveTo>
                <a:cubicBezTo>
                  <a:pt x="145572" y="6172"/>
                  <a:pt x="163547" y="24147"/>
                  <a:pt x="163547" y="46287"/>
                </a:cubicBezTo>
                <a:cubicBezTo>
                  <a:pt x="163547" y="68427"/>
                  <a:pt x="145572" y="86402"/>
                  <a:pt x="123432" y="86402"/>
                </a:cubicBezTo>
                <a:cubicBezTo>
                  <a:pt x="101292" y="86402"/>
                  <a:pt x="83317" y="68427"/>
                  <a:pt x="83317" y="46287"/>
                </a:cubicBezTo>
                <a:cubicBezTo>
                  <a:pt x="83317" y="24147"/>
                  <a:pt x="101292" y="6172"/>
                  <a:pt x="123432" y="6172"/>
                </a:cubicBezTo>
                <a:close/>
                <a:moveTo>
                  <a:pt x="37030" y="33944"/>
                </a:moveTo>
                <a:cubicBezTo>
                  <a:pt x="52358" y="33944"/>
                  <a:pt x="64802" y="46388"/>
                  <a:pt x="64802" y="61716"/>
                </a:cubicBezTo>
                <a:cubicBezTo>
                  <a:pt x="64802" y="77044"/>
                  <a:pt x="52358" y="89488"/>
                  <a:pt x="37030" y="89488"/>
                </a:cubicBezTo>
                <a:cubicBezTo>
                  <a:pt x="21702" y="89488"/>
                  <a:pt x="9257" y="77044"/>
                  <a:pt x="9257" y="61716"/>
                </a:cubicBezTo>
                <a:cubicBezTo>
                  <a:pt x="9257" y="46388"/>
                  <a:pt x="21702" y="33944"/>
                  <a:pt x="37030" y="33944"/>
                </a:cubicBezTo>
                <a:close/>
                <a:moveTo>
                  <a:pt x="0" y="160462"/>
                </a:moveTo>
                <a:cubicBezTo>
                  <a:pt x="0" y="133191"/>
                  <a:pt x="22102" y="111089"/>
                  <a:pt x="49373" y="111089"/>
                </a:cubicBezTo>
                <a:cubicBezTo>
                  <a:pt x="54310" y="111089"/>
                  <a:pt x="59093" y="111822"/>
                  <a:pt x="63606" y="113172"/>
                </a:cubicBezTo>
                <a:cubicBezTo>
                  <a:pt x="50916" y="127366"/>
                  <a:pt x="43201" y="146113"/>
                  <a:pt x="43201" y="166633"/>
                </a:cubicBezTo>
                <a:lnTo>
                  <a:pt x="43201" y="172805"/>
                </a:lnTo>
                <a:cubicBezTo>
                  <a:pt x="43201" y="177202"/>
                  <a:pt x="44127" y="181368"/>
                  <a:pt x="45786" y="185148"/>
                </a:cubicBezTo>
                <a:lnTo>
                  <a:pt x="12343" y="185148"/>
                </a:lnTo>
                <a:cubicBezTo>
                  <a:pt x="5516" y="185148"/>
                  <a:pt x="0" y="179632"/>
                  <a:pt x="0" y="172805"/>
                </a:cubicBezTo>
                <a:lnTo>
                  <a:pt x="0" y="160462"/>
                </a:lnTo>
                <a:close/>
                <a:moveTo>
                  <a:pt x="201079" y="185148"/>
                </a:moveTo>
                <a:cubicBezTo>
                  <a:pt x="202737" y="181368"/>
                  <a:pt x="203663" y="177202"/>
                  <a:pt x="203663" y="172805"/>
                </a:cubicBezTo>
                <a:lnTo>
                  <a:pt x="203663" y="166633"/>
                </a:lnTo>
                <a:cubicBezTo>
                  <a:pt x="203663" y="146113"/>
                  <a:pt x="195948" y="127366"/>
                  <a:pt x="183258" y="113172"/>
                </a:cubicBezTo>
                <a:cubicBezTo>
                  <a:pt x="187771" y="111822"/>
                  <a:pt x="192554" y="111089"/>
                  <a:pt x="197491" y="111089"/>
                </a:cubicBezTo>
                <a:cubicBezTo>
                  <a:pt x="224762" y="111089"/>
                  <a:pt x="246864" y="133191"/>
                  <a:pt x="246864" y="160462"/>
                </a:cubicBezTo>
                <a:lnTo>
                  <a:pt x="246864" y="172805"/>
                </a:lnTo>
                <a:cubicBezTo>
                  <a:pt x="246864" y="179632"/>
                  <a:pt x="241348" y="185148"/>
                  <a:pt x="234521" y="185148"/>
                </a:cubicBezTo>
                <a:lnTo>
                  <a:pt x="201079" y="185148"/>
                </a:lnTo>
                <a:close/>
                <a:moveTo>
                  <a:pt x="182062" y="61716"/>
                </a:moveTo>
                <a:cubicBezTo>
                  <a:pt x="182062" y="46388"/>
                  <a:pt x="194507" y="33944"/>
                  <a:pt x="209834" y="33944"/>
                </a:cubicBezTo>
                <a:cubicBezTo>
                  <a:pt x="225162" y="33944"/>
                  <a:pt x="237607" y="46388"/>
                  <a:pt x="237607" y="61716"/>
                </a:cubicBezTo>
                <a:cubicBezTo>
                  <a:pt x="237607" y="77044"/>
                  <a:pt x="225162" y="89488"/>
                  <a:pt x="209834" y="89488"/>
                </a:cubicBezTo>
                <a:cubicBezTo>
                  <a:pt x="194507" y="89488"/>
                  <a:pt x="182062" y="77044"/>
                  <a:pt x="182062" y="61716"/>
                </a:cubicBezTo>
                <a:close/>
                <a:moveTo>
                  <a:pt x="61716" y="166633"/>
                </a:moveTo>
                <a:cubicBezTo>
                  <a:pt x="61716" y="132535"/>
                  <a:pt x="89334" y="104917"/>
                  <a:pt x="123432" y="104917"/>
                </a:cubicBezTo>
                <a:cubicBezTo>
                  <a:pt x="157530" y="104917"/>
                  <a:pt x="185148" y="132535"/>
                  <a:pt x="185148" y="166633"/>
                </a:cubicBezTo>
                <a:lnTo>
                  <a:pt x="185148" y="172805"/>
                </a:lnTo>
                <a:cubicBezTo>
                  <a:pt x="185148" y="179632"/>
                  <a:pt x="179632" y="185148"/>
                  <a:pt x="172805" y="185148"/>
                </a:cubicBezTo>
                <a:lnTo>
                  <a:pt x="74059" y="185148"/>
                </a:lnTo>
                <a:cubicBezTo>
                  <a:pt x="67232" y="185148"/>
                  <a:pt x="61716" y="179632"/>
                  <a:pt x="61716" y="172805"/>
                </a:cubicBezTo>
                <a:lnTo>
                  <a:pt x="61716" y="166633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5" name="Text 33"/>
          <p:cNvSpPr/>
          <p:nvPr/>
        </p:nvSpPr>
        <p:spPr>
          <a:xfrm>
            <a:off x="1135380" y="7466289"/>
            <a:ext cx="6702360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专家研判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5380" y="7762489"/>
            <a:ext cx="6690017" cy="24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组织专家进行现场校验和研判。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1169" y="8206700"/>
            <a:ext cx="7146715" cy="740592"/>
          </a:xfrm>
          <a:custGeom>
            <a:avLst/>
            <a:gdLst/>
            <a:ahLst/>
            <a:cxnLst/>
            <a:rect l="l" t="t" r="r" b="b"/>
            <a:pathLst>
              <a:path w="7146715" h="740592">
                <a:moveTo>
                  <a:pt x="49375" y="0"/>
                </a:moveTo>
                <a:lnTo>
                  <a:pt x="7097340" y="0"/>
                </a:lnTo>
                <a:cubicBezTo>
                  <a:pt x="7124609" y="0"/>
                  <a:pt x="7146715" y="22106"/>
                  <a:pt x="7146715" y="49375"/>
                </a:cubicBezTo>
                <a:lnTo>
                  <a:pt x="7146715" y="691217"/>
                </a:lnTo>
                <a:cubicBezTo>
                  <a:pt x="7146715" y="718486"/>
                  <a:pt x="7124609" y="740592"/>
                  <a:pt x="7097340" y="740592"/>
                </a:cubicBezTo>
                <a:lnTo>
                  <a:pt x="49375" y="740592"/>
                </a:lnTo>
                <a:cubicBezTo>
                  <a:pt x="22106" y="740592"/>
                  <a:pt x="0" y="718486"/>
                  <a:pt x="0" y="691217"/>
                </a:cubicBezTo>
                <a:lnTo>
                  <a:pt x="0" y="49375"/>
                </a:lnTo>
                <a:cubicBezTo>
                  <a:pt x="0" y="22124"/>
                  <a:pt x="22124" y="0"/>
                  <a:pt x="49375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02217" y="8354710"/>
            <a:ext cx="222178" cy="197491"/>
          </a:xfrm>
          <a:custGeom>
            <a:avLst/>
            <a:gdLst/>
            <a:ahLst/>
            <a:cxnLst/>
            <a:rect l="l" t="t" r="r" b="b"/>
            <a:pathLst>
              <a:path w="222178" h="197491">
                <a:moveTo>
                  <a:pt x="111089" y="24686"/>
                </a:moveTo>
                <a:cubicBezTo>
                  <a:pt x="151976" y="24686"/>
                  <a:pt x="185148" y="57859"/>
                  <a:pt x="185148" y="98746"/>
                </a:cubicBezTo>
                <a:cubicBezTo>
                  <a:pt x="185148" y="139632"/>
                  <a:pt x="151976" y="172805"/>
                  <a:pt x="111089" y="172805"/>
                </a:cubicBezTo>
                <a:cubicBezTo>
                  <a:pt x="85940" y="172805"/>
                  <a:pt x="63683" y="160269"/>
                  <a:pt x="50299" y="141060"/>
                </a:cubicBezTo>
                <a:cubicBezTo>
                  <a:pt x="46403" y="135467"/>
                  <a:pt x="38688" y="134117"/>
                  <a:pt x="33095" y="138012"/>
                </a:cubicBezTo>
                <a:cubicBezTo>
                  <a:pt x="27502" y="141908"/>
                  <a:pt x="26152" y="149623"/>
                  <a:pt x="30048" y="155216"/>
                </a:cubicBezTo>
                <a:cubicBezTo>
                  <a:pt x="47868" y="180751"/>
                  <a:pt x="77531" y="197491"/>
                  <a:pt x="111089" y="197491"/>
                </a:cubicBezTo>
                <a:cubicBezTo>
                  <a:pt x="165630" y="197491"/>
                  <a:pt x="209834" y="153287"/>
                  <a:pt x="209834" y="98746"/>
                </a:cubicBezTo>
                <a:cubicBezTo>
                  <a:pt x="209834" y="44204"/>
                  <a:pt x="165630" y="0"/>
                  <a:pt x="111089" y="0"/>
                </a:cubicBezTo>
                <a:cubicBezTo>
                  <a:pt x="78032" y="0"/>
                  <a:pt x="48794" y="16239"/>
                  <a:pt x="30858" y="41157"/>
                </a:cubicBezTo>
                <a:lnTo>
                  <a:pt x="30858" y="30858"/>
                </a:lnTo>
                <a:cubicBezTo>
                  <a:pt x="30858" y="24031"/>
                  <a:pt x="25342" y="18515"/>
                  <a:pt x="18515" y="18515"/>
                </a:cubicBezTo>
                <a:cubicBezTo>
                  <a:pt x="11687" y="18515"/>
                  <a:pt x="6172" y="24031"/>
                  <a:pt x="6172" y="30858"/>
                </a:cubicBezTo>
                <a:lnTo>
                  <a:pt x="6172" y="74059"/>
                </a:lnTo>
                <a:cubicBezTo>
                  <a:pt x="6172" y="80887"/>
                  <a:pt x="11687" y="86402"/>
                  <a:pt x="18515" y="86402"/>
                </a:cubicBezTo>
                <a:lnTo>
                  <a:pt x="28004" y="86402"/>
                </a:lnTo>
                <a:cubicBezTo>
                  <a:pt x="28197" y="86402"/>
                  <a:pt x="28389" y="86402"/>
                  <a:pt x="28582" y="86402"/>
                </a:cubicBezTo>
                <a:lnTo>
                  <a:pt x="61755" y="86402"/>
                </a:lnTo>
                <a:cubicBezTo>
                  <a:pt x="68582" y="86402"/>
                  <a:pt x="74098" y="80887"/>
                  <a:pt x="74098" y="74059"/>
                </a:cubicBezTo>
                <a:cubicBezTo>
                  <a:pt x="74098" y="67232"/>
                  <a:pt x="68582" y="61716"/>
                  <a:pt x="61755" y="61716"/>
                </a:cubicBezTo>
                <a:lnTo>
                  <a:pt x="46981" y="61716"/>
                </a:lnTo>
                <a:cubicBezTo>
                  <a:pt x="59749" y="39575"/>
                  <a:pt x="83702" y="24686"/>
                  <a:pt x="111089" y="24686"/>
                </a:cubicBezTo>
                <a:close/>
                <a:moveTo>
                  <a:pt x="120346" y="58630"/>
                </a:moveTo>
                <a:cubicBezTo>
                  <a:pt x="120346" y="53500"/>
                  <a:pt x="116219" y="49373"/>
                  <a:pt x="111089" y="49373"/>
                </a:cubicBezTo>
                <a:cubicBezTo>
                  <a:pt x="105959" y="49373"/>
                  <a:pt x="101831" y="53500"/>
                  <a:pt x="101831" y="58630"/>
                </a:cubicBezTo>
                <a:lnTo>
                  <a:pt x="101831" y="98746"/>
                </a:lnTo>
                <a:cubicBezTo>
                  <a:pt x="101831" y="101214"/>
                  <a:pt x="102796" y="103567"/>
                  <a:pt x="104532" y="105303"/>
                </a:cubicBezTo>
                <a:lnTo>
                  <a:pt x="132304" y="133075"/>
                </a:lnTo>
                <a:cubicBezTo>
                  <a:pt x="135930" y="136701"/>
                  <a:pt x="141793" y="136701"/>
                  <a:pt x="145380" y="133075"/>
                </a:cubicBezTo>
                <a:cubicBezTo>
                  <a:pt x="148967" y="129449"/>
                  <a:pt x="149006" y="123586"/>
                  <a:pt x="145380" y="119999"/>
                </a:cubicBezTo>
                <a:lnTo>
                  <a:pt x="120308" y="94927"/>
                </a:lnTo>
                <a:lnTo>
                  <a:pt x="120308" y="5863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9" name="Text 37"/>
          <p:cNvSpPr/>
          <p:nvPr/>
        </p:nvSpPr>
        <p:spPr>
          <a:xfrm>
            <a:off x="1135380" y="8305397"/>
            <a:ext cx="6702360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历史数据对比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5380" y="8601598"/>
            <a:ext cx="6690017" cy="24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对比历史种植数据和评价结果。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1304" y="1481052"/>
            <a:ext cx="7514904" cy="4357151"/>
          </a:xfrm>
          <a:custGeom>
            <a:avLst/>
            <a:gdLst/>
            <a:ahLst/>
            <a:cxnLst/>
            <a:rect l="l" t="t" r="r" b="b"/>
            <a:pathLst>
              <a:path w="7514904" h="4357151">
                <a:moveTo>
                  <a:pt x="45158" y="0"/>
                </a:moveTo>
                <a:lnTo>
                  <a:pt x="7366804" y="0"/>
                </a:lnTo>
                <a:cubicBezTo>
                  <a:pt x="7448598" y="0"/>
                  <a:pt x="7514904" y="66306"/>
                  <a:pt x="7514904" y="148100"/>
                </a:cubicBezTo>
                <a:lnTo>
                  <a:pt x="7514904" y="4209052"/>
                </a:lnTo>
                <a:cubicBezTo>
                  <a:pt x="7514904" y="4290845"/>
                  <a:pt x="7448598" y="4357151"/>
                  <a:pt x="7366804" y="4357151"/>
                </a:cubicBezTo>
                <a:lnTo>
                  <a:pt x="45158" y="4357151"/>
                </a:lnTo>
                <a:cubicBezTo>
                  <a:pt x="20218" y="4357151"/>
                  <a:pt x="0" y="4336933"/>
                  <a:pt x="0" y="4311993"/>
                </a:cubicBezTo>
                <a:lnTo>
                  <a:pt x="0" y="45158"/>
                </a:lnTo>
                <a:cubicBezTo>
                  <a:pt x="0" y="20218"/>
                  <a:pt x="20218" y="0"/>
                  <a:pt x="451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85148" dist="1234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51304" y="1481052"/>
            <a:ext cx="45158" cy="4357151"/>
          </a:xfrm>
          <a:custGeom>
            <a:avLst/>
            <a:gdLst/>
            <a:ahLst/>
            <a:cxnLst/>
            <a:rect l="l" t="t" r="r" b="b"/>
            <a:pathLst>
              <a:path w="45158" h="4357151">
                <a:moveTo>
                  <a:pt x="45158" y="0"/>
                </a:moveTo>
                <a:lnTo>
                  <a:pt x="45158" y="0"/>
                </a:lnTo>
                <a:lnTo>
                  <a:pt x="45158" y="4357151"/>
                </a:lnTo>
                <a:lnTo>
                  <a:pt x="45158" y="4357151"/>
                </a:lnTo>
                <a:cubicBezTo>
                  <a:pt x="20218" y="4357151"/>
                  <a:pt x="0" y="4336933"/>
                  <a:pt x="0" y="4311993"/>
                </a:cubicBezTo>
                <a:lnTo>
                  <a:pt x="0" y="45158"/>
                </a:lnTo>
                <a:cubicBezTo>
                  <a:pt x="0" y="20235"/>
                  <a:pt x="20235" y="0"/>
                  <a:pt x="45158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3" name="Shape 41"/>
          <p:cNvSpPr/>
          <p:nvPr/>
        </p:nvSpPr>
        <p:spPr>
          <a:xfrm>
            <a:off x="8545430" y="1727844"/>
            <a:ext cx="222178" cy="296237"/>
          </a:xfrm>
          <a:custGeom>
            <a:avLst/>
            <a:gdLst/>
            <a:ahLst/>
            <a:cxnLst/>
            <a:rect l="l" t="t" r="r" b="b"/>
            <a:pathLst>
              <a:path w="222178" h="296237">
                <a:moveTo>
                  <a:pt x="180172" y="18515"/>
                </a:moveTo>
                <a:lnTo>
                  <a:pt x="185148" y="18515"/>
                </a:lnTo>
                <a:cubicBezTo>
                  <a:pt x="205572" y="18515"/>
                  <a:pt x="222178" y="35120"/>
                  <a:pt x="222178" y="55544"/>
                </a:cubicBezTo>
                <a:lnTo>
                  <a:pt x="222178" y="259207"/>
                </a:lnTo>
                <a:cubicBezTo>
                  <a:pt x="222178" y="279631"/>
                  <a:pt x="205572" y="296237"/>
                  <a:pt x="185148" y="296237"/>
                </a:cubicBezTo>
                <a:lnTo>
                  <a:pt x="37030" y="296237"/>
                </a:lnTo>
                <a:cubicBezTo>
                  <a:pt x="16605" y="296237"/>
                  <a:pt x="0" y="279631"/>
                  <a:pt x="0" y="259207"/>
                </a:cubicBezTo>
                <a:lnTo>
                  <a:pt x="0" y="55544"/>
                </a:lnTo>
                <a:cubicBezTo>
                  <a:pt x="0" y="35120"/>
                  <a:pt x="16605" y="18515"/>
                  <a:pt x="37030" y="18515"/>
                </a:cubicBezTo>
                <a:lnTo>
                  <a:pt x="42005" y="18515"/>
                </a:lnTo>
                <a:cubicBezTo>
                  <a:pt x="48370" y="7464"/>
                  <a:pt x="60347" y="0"/>
                  <a:pt x="74059" y="0"/>
                </a:cubicBezTo>
                <a:lnTo>
                  <a:pt x="148118" y="0"/>
                </a:lnTo>
                <a:cubicBezTo>
                  <a:pt x="161831" y="0"/>
                  <a:pt x="173808" y="7464"/>
                  <a:pt x="180172" y="18515"/>
                </a:cubicBezTo>
                <a:close/>
                <a:moveTo>
                  <a:pt x="143490" y="64802"/>
                </a:moveTo>
                <a:cubicBezTo>
                  <a:pt x="151185" y="64802"/>
                  <a:pt x="157376" y="58611"/>
                  <a:pt x="157376" y="50916"/>
                </a:cubicBezTo>
                <a:cubicBezTo>
                  <a:pt x="157376" y="43221"/>
                  <a:pt x="151185" y="37030"/>
                  <a:pt x="143490" y="37030"/>
                </a:cubicBezTo>
                <a:lnTo>
                  <a:pt x="78688" y="37030"/>
                </a:lnTo>
                <a:cubicBezTo>
                  <a:pt x="70993" y="37030"/>
                  <a:pt x="64802" y="43221"/>
                  <a:pt x="64802" y="50916"/>
                </a:cubicBezTo>
                <a:cubicBezTo>
                  <a:pt x="64802" y="58611"/>
                  <a:pt x="70993" y="64802"/>
                  <a:pt x="78688" y="64802"/>
                </a:cubicBezTo>
                <a:lnTo>
                  <a:pt x="143490" y="64802"/>
                </a:lnTo>
                <a:close/>
                <a:moveTo>
                  <a:pt x="159922" y="150838"/>
                </a:moveTo>
                <a:cubicBezTo>
                  <a:pt x="163972" y="144358"/>
                  <a:pt x="162005" y="135795"/>
                  <a:pt x="155524" y="131687"/>
                </a:cubicBezTo>
                <a:cubicBezTo>
                  <a:pt x="149044" y="127579"/>
                  <a:pt x="140481" y="129604"/>
                  <a:pt x="136373" y="136084"/>
                </a:cubicBezTo>
                <a:lnTo>
                  <a:pt x="100848" y="192959"/>
                </a:lnTo>
                <a:lnTo>
                  <a:pt x="85226" y="172130"/>
                </a:lnTo>
                <a:cubicBezTo>
                  <a:pt x="80597" y="165997"/>
                  <a:pt x="71918" y="164724"/>
                  <a:pt x="65785" y="169353"/>
                </a:cubicBezTo>
                <a:cubicBezTo>
                  <a:pt x="59652" y="173981"/>
                  <a:pt x="58379" y="182660"/>
                  <a:pt x="63008" y="188793"/>
                </a:cubicBezTo>
                <a:lnTo>
                  <a:pt x="90780" y="225823"/>
                </a:lnTo>
                <a:cubicBezTo>
                  <a:pt x="93500" y="229468"/>
                  <a:pt x="97897" y="231551"/>
                  <a:pt x="102468" y="231377"/>
                </a:cubicBezTo>
                <a:cubicBezTo>
                  <a:pt x="107039" y="231204"/>
                  <a:pt x="111205" y="228774"/>
                  <a:pt x="113635" y="224839"/>
                </a:cubicBezTo>
                <a:lnTo>
                  <a:pt x="159922" y="150780"/>
                </a:ln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4" name="Text 42"/>
          <p:cNvSpPr/>
          <p:nvPr/>
        </p:nvSpPr>
        <p:spPr>
          <a:xfrm>
            <a:off x="8989748" y="1678531"/>
            <a:ext cx="1333066" cy="39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3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测试结果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71371" y="2221608"/>
            <a:ext cx="7097342" cy="925740"/>
          </a:xfrm>
          <a:custGeom>
            <a:avLst/>
            <a:gdLst/>
            <a:ahLst/>
            <a:cxnLst/>
            <a:rect l="l" t="t" r="r" b="b"/>
            <a:pathLst>
              <a:path w="7097342" h="925740">
                <a:moveTo>
                  <a:pt x="98749" y="0"/>
                </a:moveTo>
                <a:lnTo>
                  <a:pt x="6998594" y="0"/>
                </a:lnTo>
                <a:cubicBezTo>
                  <a:pt x="7053131" y="0"/>
                  <a:pt x="7097342" y="44211"/>
                  <a:pt x="7097342" y="98749"/>
                </a:cubicBezTo>
                <a:lnTo>
                  <a:pt x="7097342" y="826992"/>
                </a:lnTo>
                <a:cubicBezTo>
                  <a:pt x="7097342" y="881529"/>
                  <a:pt x="7053131" y="925740"/>
                  <a:pt x="6998594" y="925740"/>
                </a:cubicBezTo>
                <a:lnTo>
                  <a:pt x="98749" y="925740"/>
                </a:lnTo>
                <a:cubicBezTo>
                  <a:pt x="44211" y="925740"/>
                  <a:pt x="0" y="881529"/>
                  <a:pt x="0" y="826992"/>
                </a:cubicBezTo>
                <a:lnTo>
                  <a:pt x="0" y="98749"/>
                </a:lnTo>
                <a:cubicBezTo>
                  <a:pt x="0" y="44211"/>
                  <a:pt x="44211" y="0"/>
                  <a:pt x="98749" y="0"/>
                </a:cubicBezTo>
                <a:close/>
              </a:path>
            </a:pathLst>
          </a:custGeom>
          <a:solidFill>
            <a:srgbClr val="4A5741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44154" y="2431406"/>
            <a:ext cx="222178" cy="222178"/>
          </a:xfrm>
          <a:custGeom>
            <a:avLst/>
            <a:gdLst/>
            <a:ahLst/>
            <a:cxnLst/>
            <a:rect l="l" t="t" r="r" b="b"/>
            <a:pathLst>
              <a:path w="222178" h="222178">
                <a:moveTo>
                  <a:pt x="0" y="111089"/>
                </a:moveTo>
                <a:cubicBezTo>
                  <a:pt x="0" y="49777"/>
                  <a:pt x="49777" y="0"/>
                  <a:pt x="111089" y="0"/>
                </a:cubicBezTo>
                <a:cubicBezTo>
                  <a:pt x="172400" y="0"/>
                  <a:pt x="222178" y="49777"/>
                  <a:pt x="222178" y="111089"/>
                </a:cubicBezTo>
                <a:cubicBezTo>
                  <a:pt x="222178" y="172400"/>
                  <a:pt x="172400" y="222178"/>
                  <a:pt x="111089" y="222178"/>
                </a:cubicBezTo>
                <a:cubicBezTo>
                  <a:pt x="49777" y="222178"/>
                  <a:pt x="0" y="172400"/>
                  <a:pt x="0" y="111089"/>
                </a:cubicBezTo>
                <a:close/>
                <a:moveTo>
                  <a:pt x="124975" y="41658"/>
                </a:moveTo>
                <a:cubicBezTo>
                  <a:pt x="124975" y="33994"/>
                  <a:pt x="118753" y="27772"/>
                  <a:pt x="111089" y="27772"/>
                </a:cubicBezTo>
                <a:cubicBezTo>
                  <a:pt x="103425" y="27772"/>
                  <a:pt x="97203" y="33994"/>
                  <a:pt x="97203" y="41658"/>
                </a:cubicBezTo>
                <a:cubicBezTo>
                  <a:pt x="97203" y="49322"/>
                  <a:pt x="103425" y="55544"/>
                  <a:pt x="111089" y="55544"/>
                </a:cubicBezTo>
                <a:cubicBezTo>
                  <a:pt x="118753" y="55544"/>
                  <a:pt x="124975" y="49322"/>
                  <a:pt x="124975" y="41658"/>
                </a:cubicBezTo>
                <a:close/>
                <a:moveTo>
                  <a:pt x="111089" y="180519"/>
                </a:moveTo>
                <a:cubicBezTo>
                  <a:pt x="126407" y="180519"/>
                  <a:pt x="138861" y="168065"/>
                  <a:pt x="138861" y="152747"/>
                </a:cubicBezTo>
                <a:cubicBezTo>
                  <a:pt x="138861" y="145717"/>
                  <a:pt x="136257" y="139252"/>
                  <a:pt x="131918" y="134391"/>
                </a:cubicBezTo>
                <a:lnTo>
                  <a:pt x="162077" y="74117"/>
                </a:lnTo>
                <a:cubicBezTo>
                  <a:pt x="164637" y="68953"/>
                  <a:pt x="162554" y="62704"/>
                  <a:pt x="157434" y="60144"/>
                </a:cubicBezTo>
                <a:cubicBezTo>
                  <a:pt x="152313" y="57584"/>
                  <a:pt x="146021" y="59667"/>
                  <a:pt x="143461" y="64787"/>
                </a:cubicBezTo>
                <a:lnTo>
                  <a:pt x="113302" y="125062"/>
                </a:lnTo>
                <a:cubicBezTo>
                  <a:pt x="112564" y="125018"/>
                  <a:pt x="111827" y="124975"/>
                  <a:pt x="111089" y="124975"/>
                </a:cubicBezTo>
                <a:cubicBezTo>
                  <a:pt x="95771" y="124975"/>
                  <a:pt x="83317" y="137429"/>
                  <a:pt x="83317" y="152747"/>
                </a:cubicBezTo>
                <a:cubicBezTo>
                  <a:pt x="83317" y="168065"/>
                  <a:pt x="95771" y="180519"/>
                  <a:pt x="111089" y="180519"/>
                </a:cubicBezTo>
                <a:close/>
                <a:moveTo>
                  <a:pt x="76374" y="62487"/>
                </a:moveTo>
                <a:cubicBezTo>
                  <a:pt x="76374" y="54824"/>
                  <a:pt x="70151" y="48601"/>
                  <a:pt x="62487" y="48601"/>
                </a:cubicBezTo>
                <a:cubicBezTo>
                  <a:pt x="54824" y="48601"/>
                  <a:pt x="48601" y="54824"/>
                  <a:pt x="48601" y="62487"/>
                </a:cubicBezTo>
                <a:cubicBezTo>
                  <a:pt x="48601" y="70151"/>
                  <a:pt x="54824" y="76374"/>
                  <a:pt x="62487" y="76374"/>
                </a:cubicBezTo>
                <a:cubicBezTo>
                  <a:pt x="70151" y="76374"/>
                  <a:pt x="76374" y="70151"/>
                  <a:pt x="76374" y="62487"/>
                </a:cubicBezTo>
                <a:close/>
                <a:moveTo>
                  <a:pt x="41658" y="124975"/>
                </a:moveTo>
                <a:cubicBezTo>
                  <a:pt x="49322" y="124975"/>
                  <a:pt x="55544" y="118753"/>
                  <a:pt x="55544" y="111089"/>
                </a:cubicBezTo>
                <a:cubicBezTo>
                  <a:pt x="55544" y="103425"/>
                  <a:pt x="49322" y="97203"/>
                  <a:pt x="41658" y="97203"/>
                </a:cubicBezTo>
                <a:cubicBezTo>
                  <a:pt x="33994" y="97203"/>
                  <a:pt x="27772" y="103425"/>
                  <a:pt x="27772" y="111089"/>
                </a:cubicBezTo>
                <a:cubicBezTo>
                  <a:pt x="27772" y="118753"/>
                  <a:pt x="33994" y="124975"/>
                  <a:pt x="41658" y="124975"/>
                </a:cubicBezTo>
                <a:close/>
                <a:moveTo>
                  <a:pt x="194405" y="111089"/>
                </a:moveTo>
                <a:cubicBezTo>
                  <a:pt x="194405" y="103425"/>
                  <a:pt x="188183" y="97203"/>
                  <a:pt x="180519" y="97203"/>
                </a:cubicBezTo>
                <a:cubicBezTo>
                  <a:pt x="172855" y="97203"/>
                  <a:pt x="166633" y="103425"/>
                  <a:pt x="166633" y="111089"/>
                </a:cubicBezTo>
                <a:cubicBezTo>
                  <a:pt x="166633" y="118753"/>
                  <a:pt x="172855" y="124975"/>
                  <a:pt x="180519" y="124975"/>
                </a:cubicBezTo>
                <a:cubicBezTo>
                  <a:pt x="188183" y="124975"/>
                  <a:pt x="194405" y="118753"/>
                  <a:pt x="194405" y="111089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47" name="Text 45"/>
          <p:cNvSpPr/>
          <p:nvPr/>
        </p:nvSpPr>
        <p:spPr>
          <a:xfrm>
            <a:off x="8891018" y="2369702"/>
            <a:ext cx="6640644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性能指标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19467" y="2764601"/>
            <a:ext cx="6887508" cy="23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响应快、精度高、抗干扰强,并发≥100,查询≤3秒。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71371" y="3248951"/>
            <a:ext cx="7097342" cy="925740"/>
          </a:xfrm>
          <a:custGeom>
            <a:avLst/>
            <a:gdLst/>
            <a:ahLst/>
            <a:cxnLst/>
            <a:rect l="l" t="t" r="r" b="b"/>
            <a:pathLst>
              <a:path w="7097342" h="925740">
                <a:moveTo>
                  <a:pt x="98749" y="0"/>
                </a:moveTo>
                <a:lnTo>
                  <a:pt x="6998594" y="0"/>
                </a:lnTo>
                <a:cubicBezTo>
                  <a:pt x="7053131" y="0"/>
                  <a:pt x="7097342" y="44211"/>
                  <a:pt x="7097342" y="98749"/>
                </a:cubicBezTo>
                <a:lnTo>
                  <a:pt x="7097342" y="826992"/>
                </a:lnTo>
                <a:cubicBezTo>
                  <a:pt x="7097342" y="881529"/>
                  <a:pt x="7053131" y="925740"/>
                  <a:pt x="6998594" y="925740"/>
                </a:cubicBezTo>
                <a:lnTo>
                  <a:pt x="98749" y="925740"/>
                </a:lnTo>
                <a:cubicBezTo>
                  <a:pt x="44211" y="925740"/>
                  <a:pt x="0" y="881529"/>
                  <a:pt x="0" y="826992"/>
                </a:cubicBezTo>
                <a:lnTo>
                  <a:pt x="0" y="98749"/>
                </a:lnTo>
                <a:cubicBezTo>
                  <a:pt x="0" y="44211"/>
                  <a:pt x="44211" y="0"/>
                  <a:pt x="987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741"/>
              </a:gs>
              <a:gs pos="100000">
                <a:srgbClr val="4A574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8644154" y="3458749"/>
            <a:ext cx="222178" cy="222178"/>
          </a:xfrm>
          <a:custGeom>
            <a:avLst/>
            <a:gdLst/>
            <a:ahLst/>
            <a:cxnLst/>
            <a:rect l="l" t="t" r="r" b="b"/>
            <a:pathLst>
              <a:path w="222178" h="222178">
                <a:moveTo>
                  <a:pt x="194405" y="111089"/>
                </a:moveTo>
                <a:cubicBezTo>
                  <a:pt x="194405" y="65105"/>
                  <a:pt x="157073" y="27772"/>
                  <a:pt x="111089" y="27772"/>
                </a:cubicBezTo>
                <a:cubicBezTo>
                  <a:pt x="65105" y="27772"/>
                  <a:pt x="27772" y="65105"/>
                  <a:pt x="27772" y="111089"/>
                </a:cubicBezTo>
                <a:cubicBezTo>
                  <a:pt x="27772" y="157073"/>
                  <a:pt x="65105" y="194405"/>
                  <a:pt x="111089" y="194405"/>
                </a:cubicBezTo>
                <a:cubicBezTo>
                  <a:pt x="157073" y="194405"/>
                  <a:pt x="194405" y="157073"/>
                  <a:pt x="194405" y="111089"/>
                </a:cubicBezTo>
                <a:close/>
                <a:moveTo>
                  <a:pt x="0" y="111089"/>
                </a:moveTo>
                <a:cubicBezTo>
                  <a:pt x="0" y="49777"/>
                  <a:pt x="49777" y="0"/>
                  <a:pt x="111089" y="0"/>
                </a:cubicBezTo>
                <a:cubicBezTo>
                  <a:pt x="172400" y="0"/>
                  <a:pt x="222178" y="49777"/>
                  <a:pt x="222178" y="111089"/>
                </a:cubicBezTo>
                <a:cubicBezTo>
                  <a:pt x="222178" y="172400"/>
                  <a:pt x="172400" y="222178"/>
                  <a:pt x="111089" y="222178"/>
                </a:cubicBezTo>
                <a:cubicBezTo>
                  <a:pt x="49777" y="222178"/>
                  <a:pt x="0" y="172400"/>
                  <a:pt x="0" y="111089"/>
                </a:cubicBezTo>
                <a:close/>
                <a:moveTo>
                  <a:pt x="111089" y="145804"/>
                </a:moveTo>
                <a:cubicBezTo>
                  <a:pt x="130249" y="145804"/>
                  <a:pt x="145804" y="130249"/>
                  <a:pt x="145804" y="111089"/>
                </a:cubicBezTo>
                <a:cubicBezTo>
                  <a:pt x="145804" y="91929"/>
                  <a:pt x="130249" y="76374"/>
                  <a:pt x="111089" y="76374"/>
                </a:cubicBezTo>
                <a:cubicBezTo>
                  <a:pt x="91929" y="76374"/>
                  <a:pt x="76374" y="91929"/>
                  <a:pt x="76374" y="111089"/>
                </a:cubicBezTo>
                <a:cubicBezTo>
                  <a:pt x="76374" y="130249"/>
                  <a:pt x="91929" y="145804"/>
                  <a:pt x="111089" y="145804"/>
                </a:cubicBezTo>
                <a:close/>
                <a:moveTo>
                  <a:pt x="111089" y="48601"/>
                </a:moveTo>
                <a:cubicBezTo>
                  <a:pt x="145577" y="48601"/>
                  <a:pt x="173576" y="76601"/>
                  <a:pt x="173576" y="111089"/>
                </a:cubicBezTo>
                <a:cubicBezTo>
                  <a:pt x="173576" y="145577"/>
                  <a:pt x="145577" y="173576"/>
                  <a:pt x="111089" y="173576"/>
                </a:cubicBezTo>
                <a:cubicBezTo>
                  <a:pt x="76601" y="173576"/>
                  <a:pt x="48601" y="145577"/>
                  <a:pt x="48601" y="111089"/>
                </a:cubicBezTo>
                <a:cubicBezTo>
                  <a:pt x="48601" y="76601"/>
                  <a:pt x="76601" y="48601"/>
                  <a:pt x="111089" y="48601"/>
                </a:cubicBezTo>
                <a:close/>
                <a:moveTo>
                  <a:pt x="97203" y="111089"/>
                </a:moveTo>
                <a:cubicBezTo>
                  <a:pt x="97203" y="103425"/>
                  <a:pt x="103425" y="97203"/>
                  <a:pt x="111089" y="97203"/>
                </a:cubicBezTo>
                <a:cubicBezTo>
                  <a:pt x="118753" y="97203"/>
                  <a:pt x="124975" y="103425"/>
                  <a:pt x="124975" y="111089"/>
                </a:cubicBezTo>
                <a:cubicBezTo>
                  <a:pt x="124975" y="118753"/>
                  <a:pt x="118753" y="124975"/>
                  <a:pt x="111089" y="124975"/>
                </a:cubicBezTo>
                <a:cubicBezTo>
                  <a:pt x="103425" y="124975"/>
                  <a:pt x="97203" y="118753"/>
                  <a:pt x="97203" y="111089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1" name="Text 49"/>
          <p:cNvSpPr/>
          <p:nvPr/>
        </p:nvSpPr>
        <p:spPr>
          <a:xfrm>
            <a:off x="8891018" y="3397045"/>
            <a:ext cx="6640644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评价结果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19467" y="3791943"/>
            <a:ext cx="6887508" cy="23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1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评价结果与实际高度吻合,验证通过,科学合理。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71371" y="4276306"/>
            <a:ext cx="7097342" cy="925740"/>
          </a:xfrm>
          <a:custGeom>
            <a:avLst/>
            <a:gdLst/>
            <a:ahLst/>
            <a:cxnLst/>
            <a:rect l="l" t="t" r="r" b="b"/>
            <a:pathLst>
              <a:path w="7097342" h="925740">
                <a:moveTo>
                  <a:pt x="98749" y="0"/>
                </a:moveTo>
                <a:lnTo>
                  <a:pt x="6998594" y="0"/>
                </a:lnTo>
                <a:cubicBezTo>
                  <a:pt x="7053131" y="0"/>
                  <a:pt x="7097342" y="44211"/>
                  <a:pt x="7097342" y="98749"/>
                </a:cubicBezTo>
                <a:lnTo>
                  <a:pt x="7097342" y="826992"/>
                </a:lnTo>
                <a:cubicBezTo>
                  <a:pt x="7097342" y="881529"/>
                  <a:pt x="7053131" y="925740"/>
                  <a:pt x="6998594" y="925740"/>
                </a:cubicBezTo>
                <a:lnTo>
                  <a:pt x="98749" y="925740"/>
                </a:lnTo>
                <a:cubicBezTo>
                  <a:pt x="44211" y="925740"/>
                  <a:pt x="0" y="881529"/>
                  <a:pt x="0" y="826992"/>
                </a:cubicBezTo>
                <a:lnTo>
                  <a:pt x="0" y="98749"/>
                </a:lnTo>
                <a:cubicBezTo>
                  <a:pt x="0" y="44211"/>
                  <a:pt x="44211" y="0"/>
                  <a:pt x="98749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44154" y="4486092"/>
            <a:ext cx="222178" cy="222178"/>
          </a:xfrm>
          <a:custGeom>
            <a:avLst/>
            <a:gdLst/>
            <a:ahLst/>
            <a:cxnLst/>
            <a:rect l="l" t="t" r="r" b="b"/>
            <a:pathLst>
              <a:path w="222178" h="222178">
                <a:moveTo>
                  <a:pt x="34715" y="69431"/>
                </a:moveTo>
                <a:cubicBezTo>
                  <a:pt x="42396" y="69431"/>
                  <a:pt x="48601" y="75636"/>
                  <a:pt x="48601" y="83317"/>
                </a:cubicBezTo>
                <a:lnTo>
                  <a:pt x="48601" y="194405"/>
                </a:lnTo>
                <a:cubicBezTo>
                  <a:pt x="48601" y="202086"/>
                  <a:pt x="42396" y="208292"/>
                  <a:pt x="34715" y="208292"/>
                </a:cubicBezTo>
                <a:lnTo>
                  <a:pt x="13886" y="208292"/>
                </a:lnTo>
                <a:cubicBezTo>
                  <a:pt x="6205" y="208292"/>
                  <a:pt x="0" y="202086"/>
                  <a:pt x="0" y="194405"/>
                </a:cubicBezTo>
                <a:lnTo>
                  <a:pt x="0" y="83317"/>
                </a:lnTo>
                <a:cubicBezTo>
                  <a:pt x="0" y="75636"/>
                  <a:pt x="6205" y="69431"/>
                  <a:pt x="13886" y="69431"/>
                </a:cubicBezTo>
                <a:lnTo>
                  <a:pt x="34715" y="69431"/>
                </a:lnTo>
                <a:close/>
                <a:moveTo>
                  <a:pt x="117424" y="6943"/>
                </a:moveTo>
                <a:cubicBezTo>
                  <a:pt x="129271" y="6943"/>
                  <a:pt x="138861" y="16533"/>
                  <a:pt x="138861" y="28380"/>
                </a:cubicBezTo>
                <a:lnTo>
                  <a:pt x="138861" y="30202"/>
                </a:lnTo>
                <a:cubicBezTo>
                  <a:pt x="138861" y="33153"/>
                  <a:pt x="138297" y="36104"/>
                  <a:pt x="137212" y="38838"/>
                </a:cubicBezTo>
                <a:lnTo>
                  <a:pt x="124975" y="69431"/>
                </a:lnTo>
                <a:lnTo>
                  <a:pt x="194405" y="69431"/>
                </a:lnTo>
                <a:cubicBezTo>
                  <a:pt x="205905" y="69431"/>
                  <a:pt x="215235" y="78760"/>
                  <a:pt x="215235" y="90260"/>
                </a:cubicBezTo>
                <a:cubicBezTo>
                  <a:pt x="215235" y="98808"/>
                  <a:pt x="210071" y="106142"/>
                  <a:pt x="202694" y="109353"/>
                </a:cubicBezTo>
                <a:cubicBezTo>
                  <a:pt x="210071" y="112564"/>
                  <a:pt x="215235" y="119898"/>
                  <a:pt x="215235" y="128446"/>
                </a:cubicBezTo>
                <a:cubicBezTo>
                  <a:pt x="215235" y="138601"/>
                  <a:pt x="207944" y="147063"/>
                  <a:pt x="198311" y="148885"/>
                </a:cubicBezTo>
                <a:cubicBezTo>
                  <a:pt x="200220" y="152053"/>
                  <a:pt x="201349" y="155741"/>
                  <a:pt x="201349" y="159690"/>
                </a:cubicBezTo>
                <a:cubicBezTo>
                  <a:pt x="201349" y="169324"/>
                  <a:pt x="194839" y="177395"/>
                  <a:pt x="185987" y="179782"/>
                </a:cubicBezTo>
                <a:cubicBezTo>
                  <a:pt x="186942" y="182168"/>
                  <a:pt x="187462" y="184772"/>
                  <a:pt x="187462" y="187462"/>
                </a:cubicBezTo>
                <a:cubicBezTo>
                  <a:pt x="187462" y="198962"/>
                  <a:pt x="178133" y="208292"/>
                  <a:pt x="166633" y="208292"/>
                </a:cubicBezTo>
                <a:lnTo>
                  <a:pt x="128490" y="208292"/>
                </a:lnTo>
                <a:cubicBezTo>
                  <a:pt x="112738" y="208292"/>
                  <a:pt x="97420" y="202911"/>
                  <a:pt x="85139" y="193060"/>
                </a:cubicBezTo>
                <a:lnTo>
                  <a:pt x="79845" y="188851"/>
                </a:lnTo>
                <a:cubicBezTo>
                  <a:pt x="73249" y="183600"/>
                  <a:pt x="69431" y="175616"/>
                  <a:pt x="69431" y="167154"/>
                </a:cubicBezTo>
                <a:lnTo>
                  <a:pt x="69431" y="86181"/>
                </a:lnTo>
                <a:cubicBezTo>
                  <a:pt x="69431" y="79715"/>
                  <a:pt x="70949" y="73336"/>
                  <a:pt x="73813" y="67565"/>
                </a:cubicBezTo>
                <a:lnTo>
                  <a:pt x="98201" y="18790"/>
                </a:lnTo>
                <a:cubicBezTo>
                  <a:pt x="101846" y="11543"/>
                  <a:pt x="109266" y="6943"/>
                  <a:pt x="117424" y="6943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55" name="Text 53"/>
          <p:cNvSpPr/>
          <p:nvPr/>
        </p:nvSpPr>
        <p:spPr>
          <a:xfrm>
            <a:off x="8891018" y="4424400"/>
            <a:ext cx="6640644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用户反馈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19467" y="4819298"/>
            <a:ext cx="6887508" cy="23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61" dirty="0">
                <a:solidFill>
                  <a:srgbClr val="3D3A36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界面友好,功能完善,数据准确,实用性强。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51304" y="5985249"/>
            <a:ext cx="7514904" cy="3159860"/>
          </a:xfrm>
          <a:custGeom>
            <a:avLst/>
            <a:gdLst/>
            <a:ahLst/>
            <a:cxnLst/>
            <a:rect l="l" t="t" r="r" b="b"/>
            <a:pathLst>
              <a:path w="7514904" h="3159860">
                <a:moveTo>
                  <a:pt x="45158" y="0"/>
                </a:moveTo>
                <a:lnTo>
                  <a:pt x="7366770" y="0"/>
                </a:lnTo>
                <a:cubicBezTo>
                  <a:pt x="7448582" y="0"/>
                  <a:pt x="7514904" y="66322"/>
                  <a:pt x="7514904" y="148134"/>
                </a:cubicBezTo>
                <a:lnTo>
                  <a:pt x="7514904" y="3011726"/>
                </a:lnTo>
                <a:cubicBezTo>
                  <a:pt x="7514904" y="3093538"/>
                  <a:pt x="7448582" y="3159860"/>
                  <a:pt x="7366770" y="3159860"/>
                </a:cubicBezTo>
                <a:lnTo>
                  <a:pt x="45158" y="3159860"/>
                </a:lnTo>
                <a:cubicBezTo>
                  <a:pt x="20218" y="3159860"/>
                  <a:pt x="0" y="3139642"/>
                  <a:pt x="0" y="3114702"/>
                </a:cubicBezTo>
                <a:lnTo>
                  <a:pt x="0" y="45158"/>
                </a:lnTo>
                <a:cubicBezTo>
                  <a:pt x="0" y="20235"/>
                  <a:pt x="20235" y="0"/>
                  <a:pt x="451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85148" dist="1234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251304" y="5985249"/>
            <a:ext cx="45158" cy="3159860"/>
          </a:xfrm>
          <a:custGeom>
            <a:avLst/>
            <a:gdLst/>
            <a:ahLst/>
            <a:cxnLst/>
            <a:rect l="l" t="t" r="r" b="b"/>
            <a:pathLst>
              <a:path w="45158" h="3159860">
                <a:moveTo>
                  <a:pt x="45158" y="0"/>
                </a:moveTo>
                <a:lnTo>
                  <a:pt x="45158" y="0"/>
                </a:lnTo>
                <a:lnTo>
                  <a:pt x="45158" y="3159860"/>
                </a:lnTo>
                <a:lnTo>
                  <a:pt x="45158" y="3159860"/>
                </a:lnTo>
                <a:cubicBezTo>
                  <a:pt x="20218" y="3159860"/>
                  <a:pt x="0" y="3139642"/>
                  <a:pt x="0" y="3114702"/>
                </a:cubicBezTo>
                <a:lnTo>
                  <a:pt x="0" y="45158"/>
                </a:lnTo>
                <a:cubicBezTo>
                  <a:pt x="0" y="20235"/>
                  <a:pt x="20235" y="0"/>
                  <a:pt x="45158" y="0"/>
                </a:cubicBezTo>
                <a:close/>
              </a:path>
            </a:pathLst>
          </a:custGeom>
          <a:solidFill>
            <a:srgbClr val="A4988A"/>
          </a:solidFill>
          <a:ln/>
        </p:spPr>
      </p:sp>
      <p:sp>
        <p:nvSpPr>
          <p:cNvPr id="59" name="Shape 57"/>
          <p:cNvSpPr/>
          <p:nvPr/>
        </p:nvSpPr>
        <p:spPr>
          <a:xfrm>
            <a:off x="8508400" y="6232052"/>
            <a:ext cx="296237" cy="296237"/>
          </a:xfrm>
          <a:custGeom>
            <a:avLst/>
            <a:gdLst/>
            <a:ahLst/>
            <a:cxnLst/>
            <a:rect l="l" t="t" r="r" b="b"/>
            <a:pathLst>
              <a:path w="296237" h="296237">
                <a:moveTo>
                  <a:pt x="18515" y="18515"/>
                </a:moveTo>
                <a:cubicBezTo>
                  <a:pt x="28756" y="18515"/>
                  <a:pt x="37030" y="26789"/>
                  <a:pt x="37030" y="37030"/>
                </a:cubicBezTo>
                <a:lnTo>
                  <a:pt x="37030" y="231435"/>
                </a:lnTo>
                <a:cubicBezTo>
                  <a:pt x="37030" y="236527"/>
                  <a:pt x="41195" y="240692"/>
                  <a:pt x="46287" y="240692"/>
                </a:cubicBezTo>
                <a:lnTo>
                  <a:pt x="277722" y="240692"/>
                </a:lnTo>
                <a:cubicBezTo>
                  <a:pt x="287963" y="240692"/>
                  <a:pt x="296237" y="248966"/>
                  <a:pt x="296237" y="259207"/>
                </a:cubicBezTo>
                <a:cubicBezTo>
                  <a:pt x="296237" y="269448"/>
                  <a:pt x="287963" y="277722"/>
                  <a:pt x="277722" y="277722"/>
                </a:cubicBezTo>
                <a:lnTo>
                  <a:pt x="46287" y="277722"/>
                </a:lnTo>
                <a:cubicBezTo>
                  <a:pt x="20713" y="277722"/>
                  <a:pt x="0" y="257009"/>
                  <a:pt x="0" y="231435"/>
                </a:cubicBezTo>
                <a:lnTo>
                  <a:pt x="0" y="37030"/>
                </a:lnTo>
                <a:cubicBezTo>
                  <a:pt x="0" y="26789"/>
                  <a:pt x="8274" y="18515"/>
                  <a:pt x="18515" y="18515"/>
                </a:cubicBezTo>
                <a:close/>
                <a:moveTo>
                  <a:pt x="74059" y="55544"/>
                </a:moveTo>
                <a:cubicBezTo>
                  <a:pt x="74059" y="45303"/>
                  <a:pt x="82333" y="37030"/>
                  <a:pt x="92574" y="37030"/>
                </a:cubicBezTo>
                <a:lnTo>
                  <a:pt x="203663" y="37030"/>
                </a:lnTo>
                <a:cubicBezTo>
                  <a:pt x="213904" y="37030"/>
                  <a:pt x="222178" y="45303"/>
                  <a:pt x="222178" y="55544"/>
                </a:cubicBezTo>
                <a:cubicBezTo>
                  <a:pt x="222178" y="65785"/>
                  <a:pt x="213904" y="74059"/>
                  <a:pt x="203663" y="74059"/>
                </a:cubicBezTo>
                <a:lnTo>
                  <a:pt x="92574" y="74059"/>
                </a:lnTo>
                <a:cubicBezTo>
                  <a:pt x="82333" y="74059"/>
                  <a:pt x="74059" y="65785"/>
                  <a:pt x="74059" y="55544"/>
                </a:cubicBezTo>
                <a:close/>
                <a:moveTo>
                  <a:pt x="92574" y="101831"/>
                </a:moveTo>
                <a:lnTo>
                  <a:pt x="166633" y="101831"/>
                </a:lnTo>
                <a:cubicBezTo>
                  <a:pt x="176874" y="101831"/>
                  <a:pt x="185148" y="110105"/>
                  <a:pt x="185148" y="120346"/>
                </a:cubicBezTo>
                <a:cubicBezTo>
                  <a:pt x="185148" y="130587"/>
                  <a:pt x="176874" y="138861"/>
                  <a:pt x="166633" y="138861"/>
                </a:cubicBezTo>
                <a:lnTo>
                  <a:pt x="92574" y="138861"/>
                </a:lnTo>
                <a:cubicBezTo>
                  <a:pt x="82333" y="138861"/>
                  <a:pt x="74059" y="130587"/>
                  <a:pt x="74059" y="120346"/>
                </a:cubicBezTo>
                <a:cubicBezTo>
                  <a:pt x="74059" y="110105"/>
                  <a:pt x="82333" y="101831"/>
                  <a:pt x="92574" y="101831"/>
                </a:cubicBezTo>
                <a:close/>
                <a:moveTo>
                  <a:pt x="92574" y="166633"/>
                </a:moveTo>
                <a:lnTo>
                  <a:pt x="240692" y="166633"/>
                </a:lnTo>
                <a:cubicBezTo>
                  <a:pt x="250933" y="166633"/>
                  <a:pt x="259207" y="174907"/>
                  <a:pt x="259207" y="185148"/>
                </a:cubicBezTo>
                <a:cubicBezTo>
                  <a:pt x="259207" y="195389"/>
                  <a:pt x="250933" y="203663"/>
                  <a:pt x="240692" y="203663"/>
                </a:cubicBezTo>
                <a:lnTo>
                  <a:pt x="92574" y="203663"/>
                </a:lnTo>
                <a:cubicBezTo>
                  <a:pt x="82333" y="203663"/>
                  <a:pt x="74059" y="195389"/>
                  <a:pt x="74059" y="185148"/>
                </a:cubicBezTo>
                <a:cubicBezTo>
                  <a:pt x="74059" y="174907"/>
                  <a:pt x="82333" y="166633"/>
                  <a:pt x="92574" y="166633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60" name="Text 58"/>
          <p:cNvSpPr/>
          <p:nvPr/>
        </p:nvSpPr>
        <p:spPr>
          <a:xfrm>
            <a:off x="8989748" y="6182740"/>
            <a:ext cx="1925540" cy="39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3" b="1" dirty="0">
                <a:solidFill>
                  <a:srgbClr val="4A57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核心性能指标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71371" y="6725817"/>
            <a:ext cx="3480784" cy="1036829"/>
          </a:xfrm>
          <a:custGeom>
            <a:avLst/>
            <a:gdLst/>
            <a:ahLst/>
            <a:cxnLst/>
            <a:rect l="l" t="t" r="r" b="b"/>
            <a:pathLst>
              <a:path w="3480784" h="1036829">
                <a:moveTo>
                  <a:pt x="98748" y="0"/>
                </a:moveTo>
                <a:lnTo>
                  <a:pt x="3382036" y="0"/>
                </a:lnTo>
                <a:cubicBezTo>
                  <a:pt x="3436573" y="0"/>
                  <a:pt x="3480784" y="44211"/>
                  <a:pt x="3480784" y="98748"/>
                </a:cubicBezTo>
                <a:lnTo>
                  <a:pt x="3480784" y="938082"/>
                </a:lnTo>
                <a:cubicBezTo>
                  <a:pt x="3480784" y="992618"/>
                  <a:pt x="3436573" y="1036829"/>
                  <a:pt x="3382036" y="1036829"/>
                </a:cubicBezTo>
                <a:lnTo>
                  <a:pt x="98748" y="1036829"/>
                </a:lnTo>
                <a:cubicBezTo>
                  <a:pt x="44211" y="1036829"/>
                  <a:pt x="0" y="992618"/>
                  <a:pt x="0" y="938082"/>
                </a:cubicBezTo>
                <a:lnTo>
                  <a:pt x="0" y="98748"/>
                </a:lnTo>
                <a:cubicBezTo>
                  <a:pt x="0" y="44247"/>
                  <a:pt x="44247" y="0"/>
                  <a:pt x="98748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526893" y="6873911"/>
            <a:ext cx="3369695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16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576266" y="7367507"/>
            <a:ext cx="3270949" cy="24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1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精度等级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2094129" y="6725817"/>
            <a:ext cx="3480784" cy="1036829"/>
          </a:xfrm>
          <a:custGeom>
            <a:avLst/>
            <a:gdLst/>
            <a:ahLst/>
            <a:cxnLst/>
            <a:rect l="l" t="t" r="r" b="b"/>
            <a:pathLst>
              <a:path w="3480784" h="1036829">
                <a:moveTo>
                  <a:pt x="98748" y="0"/>
                </a:moveTo>
                <a:lnTo>
                  <a:pt x="3382036" y="0"/>
                </a:lnTo>
                <a:cubicBezTo>
                  <a:pt x="3436573" y="0"/>
                  <a:pt x="3480784" y="44211"/>
                  <a:pt x="3480784" y="98748"/>
                </a:cubicBezTo>
                <a:lnTo>
                  <a:pt x="3480784" y="938082"/>
                </a:lnTo>
                <a:cubicBezTo>
                  <a:pt x="3480784" y="992618"/>
                  <a:pt x="3436573" y="1036829"/>
                  <a:pt x="3382036" y="1036829"/>
                </a:cubicBezTo>
                <a:lnTo>
                  <a:pt x="98748" y="1036829"/>
                </a:lnTo>
                <a:cubicBezTo>
                  <a:pt x="44211" y="1036829"/>
                  <a:pt x="0" y="992618"/>
                  <a:pt x="0" y="938082"/>
                </a:cubicBezTo>
                <a:lnTo>
                  <a:pt x="0" y="98748"/>
                </a:lnTo>
                <a:cubicBezTo>
                  <a:pt x="0" y="44247"/>
                  <a:pt x="44247" y="0"/>
                  <a:pt x="98748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2149652" y="6873911"/>
            <a:ext cx="3369695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16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2199024" y="7367507"/>
            <a:ext cx="3270949" cy="24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1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支持作物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471371" y="7910499"/>
            <a:ext cx="3480784" cy="1036829"/>
          </a:xfrm>
          <a:custGeom>
            <a:avLst/>
            <a:gdLst/>
            <a:ahLst/>
            <a:cxnLst/>
            <a:rect l="l" t="t" r="r" b="b"/>
            <a:pathLst>
              <a:path w="3480784" h="1036829">
                <a:moveTo>
                  <a:pt x="98748" y="0"/>
                </a:moveTo>
                <a:lnTo>
                  <a:pt x="3382036" y="0"/>
                </a:lnTo>
                <a:cubicBezTo>
                  <a:pt x="3436573" y="0"/>
                  <a:pt x="3480784" y="44211"/>
                  <a:pt x="3480784" y="98748"/>
                </a:cubicBezTo>
                <a:lnTo>
                  <a:pt x="3480784" y="938082"/>
                </a:lnTo>
                <a:cubicBezTo>
                  <a:pt x="3480784" y="992618"/>
                  <a:pt x="3436573" y="1036829"/>
                  <a:pt x="3382036" y="1036829"/>
                </a:cubicBezTo>
                <a:lnTo>
                  <a:pt x="98748" y="1036829"/>
                </a:lnTo>
                <a:cubicBezTo>
                  <a:pt x="44211" y="1036829"/>
                  <a:pt x="0" y="992618"/>
                  <a:pt x="0" y="938082"/>
                </a:cubicBezTo>
                <a:lnTo>
                  <a:pt x="0" y="98748"/>
                </a:lnTo>
                <a:cubicBezTo>
                  <a:pt x="0" y="44247"/>
                  <a:pt x="44247" y="0"/>
                  <a:pt x="98748" y="0"/>
                </a:cubicBezTo>
                <a:close/>
              </a:path>
            </a:pathLst>
          </a:custGeom>
          <a:solidFill>
            <a:srgbClr val="4A5741">
              <a:alpha val="1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8526893" y="8058606"/>
            <a:ext cx="3369695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16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61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576266" y="8552201"/>
            <a:ext cx="3270949" cy="24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1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作物种类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2094129" y="7910499"/>
            <a:ext cx="3480784" cy="1036829"/>
          </a:xfrm>
          <a:custGeom>
            <a:avLst/>
            <a:gdLst/>
            <a:ahLst/>
            <a:cxnLst/>
            <a:rect l="l" t="t" r="r" b="b"/>
            <a:pathLst>
              <a:path w="3480784" h="1036829">
                <a:moveTo>
                  <a:pt x="98748" y="0"/>
                </a:moveTo>
                <a:lnTo>
                  <a:pt x="3382036" y="0"/>
                </a:lnTo>
                <a:cubicBezTo>
                  <a:pt x="3436573" y="0"/>
                  <a:pt x="3480784" y="44211"/>
                  <a:pt x="3480784" y="98748"/>
                </a:cubicBezTo>
                <a:lnTo>
                  <a:pt x="3480784" y="938082"/>
                </a:lnTo>
                <a:cubicBezTo>
                  <a:pt x="3480784" y="992618"/>
                  <a:pt x="3436573" y="1036829"/>
                  <a:pt x="3382036" y="1036829"/>
                </a:cubicBezTo>
                <a:lnTo>
                  <a:pt x="98748" y="1036829"/>
                </a:lnTo>
                <a:cubicBezTo>
                  <a:pt x="44211" y="1036829"/>
                  <a:pt x="0" y="992618"/>
                  <a:pt x="0" y="938082"/>
                </a:cubicBezTo>
                <a:lnTo>
                  <a:pt x="0" y="98748"/>
                </a:lnTo>
                <a:cubicBezTo>
                  <a:pt x="0" y="44247"/>
                  <a:pt x="44247" y="0"/>
                  <a:pt x="98748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2149652" y="8058606"/>
            <a:ext cx="3369695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16" b="1" dirty="0">
                <a:solidFill>
                  <a:srgbClr val="4A574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14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2199024" y="8552201"/>
            <a:ext cx="3270949" cy="24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1" dirty="0">
                <a:solidFill>
                  <a:srgbClr val="3D3A36">
                    <a:alpha val="7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地级市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44" grpId="0" animBg="1"/>
      <p:bldP spid="47" grpId="0" animBg="1"/>
      <p:bldP spid="48" grpId="0" animBg="1"/>
      <p:bldP spid="51" grpId="0" animBg="1"/>
      <p:bldP spid="52" grpId="0" animBg="1"/>
      <p:bldP spid="55" grpId="0" animBg="1"/>
      <p:bldP spid="56" grpId="0" animBg="1"/>
      <p:bldP spid="60" grpId="0" animBg="1"/>
      <p:bldP spid="62" grpId="0" animBg="1"/>
      <p:bldP spid="63" grpId="0" animBg="1"/>
      <p:bldP spid="65" grpId="0" animBg="1"/>
      <p:bldP spid="66" grpId="0" animBg="1"/>
      <p:bldP spid="68" grpId="0" animBg="1"/>
      <p:bldP spid="69" grpId="0" animBg="1"/>
      <p:bldP spid="71" grpId="0" animBg="1"/>
      <p:bldP spid="7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6.itc.cn/af151306f82dcb8445e22316b4fcb035e1c6b2e2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5692" b="5692"/>
          <a:stretch/>
        </p:blipFill>
        <p:spPr>
          <a:xfrm>
            <a:off x="0" y="0"/>
            <a:ext cx="16256000" cy="960361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603619"/>
          </a:xfrm>
          <a:custGeom>
            <a:avLst/>
            <a:gdLst/>
            <a:ahLst/>
            <a:cxnLst/>
            <a:rect l="l" t="t" r="r" b="b"/>
            <a:pathLst>
              <a:path w="16256000" h="9603619">
                <a:moveTo>
                  <a:pt x="0" y="0"/>
                </a:moveTo>
                <a:lnTo>
                  <a:pt x="16256000" y="0"/>
                </a:lnTo>
                <a:lnTo>
                  <a:pt x="16256000" y="9603619"/>
                </a:lnTo>
                <a:lnTo>
                  <a:pt x="0" y="960361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5741">
                  <a:alpha val="90000"/>
                </a:srgbClr>
              </a:gs>
              <a:gs pos="50000">
                <a:srgbClr val="4A5741">
                  <a:alpha val="70000"/>
                </a:srgbClr>
              </a:gs>
              <a:gs pos="100000">
                <a:srgbClr val="4A5741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202828" y="483762"/>
            <a:ext cx="1850571" cy="628952"/>
          </a:xfrm>
          <a:custGeom>
            <a:avLst/>
            <a:gdLst/>
            <a:ahLst/>
            <a:cxnLst/>
            <a:rect l="l" t="t" r="r" b="b"/>
            <a:pathLst>
              <a:path w="1850571" h="628952">
                <a:moveTo>
                  <a:pt x="314476" y="0"/>
                </a:moveTo>
                <a:lnTo>
                  <a:pt x="1536095" y="0"/>
                </a:lnTo>
                <a:cubicBezTo>
                  <a:pt x="1709659" y="0"/>
                  <a:pt x="1850571" y="140912"/>
                  <a:pt x="1850571" y="314476"/>
                </a:cubicBezTo>
                <a:lnTo>
                  <a:pt x="1850571" y="314476"/>
                </a:lnTo>
                <a:cubicBezTo>
                  <a:pt x="1850571" y="488040"/>
                  <a:pt x="1709659" y="628952"/>
                  <a:pt x="1536095" y="628952"/>
                </a:cubicBezTo>
                <a:lnTo>
                  <a:pt x="314476" y="628952"/>
                </a:lnTo>
                <a:cubicBezTo>
                  <a:pt x="140796" y="628952"/>
                  <a:pt x="0" y="488157"/>
                  <a:pt x="0" y="314476"/>
                </a:cubicBezTo>
                <a:lnTo>
                  <a:pt x="0" y="314476"/>
                </a:lnTo>
                <a:cubicBezTo>
                  <a:pt x="0" y="140796"/>
                  <a:pt x="140796" y="0"/>
                  <a:pt x="314476" y="0"/>
                </a:cubicBezTo>
                <a:close/>
              </a:path>
            </a:pathLst>
          </a:custGeom>
          <a:solidFill>
            <a:srgbClr val="C3A170">
              <a:alpha val="3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432595" y="628882"/>
            <a:ext cx="1390952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5" b="1" kern="0" spc="95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55106" y="1402894"/>
            <a:ext cx="8345714" cy="181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714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基于Spark的沃土规划师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714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农业种植适宜性区划系统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19124" y="3517098"/>
            <a:ext cx="10820715" cy="1737191"/>
          </a:xfrm>
          <a:custGeom>
            <a:avLst/>
            <a:gdLst/>
            <a:ahLst/>
            <a:cxnLst/>
            <a:rect l="l" t="t" r="r" b="b"/>
            <a:pathLst>
              <a:path w="10820715" h="1737191">
                <a:moveTo>
                  <a:pt x="145142" y="0"/>
                </a:moveTo>
                <a:lnTo>
                  <a:pt x="10675572" y="0"/>
                </a:lnTo>
                <a:cubicBezTo>
                  <a:pt x="10755732" y="0"/>
                  <a:pt x="10820715" y="64982"/>
                  <a:pt x="10820715" y="145142"/>
                </a:cubicBezTo>
                <a:lnTo>
                  <a:pt x="10820715" y="1592049"/>
                </a:lnTo>
                <a:cubicBezTo>
                  <a:pt x="10820715" y="1672208"/>
                  <a:pt x="10755732" y="1737191"/>
                  <a:pt x="10675572" y="1737191"/>
                </a:cubicBezTo>
                <a:lnTo>
                  <a:pt x="145142" y="1737191"/>
                </a:lnTo>
                <a:cubicBezTo>
                  <a:pt x="64982" y="1737191"/>
                  <a:pt x="0" y="1672208"/>
                  <a:pt x="0" y="1592049"/>
                </a:cubicBezTo>
                <a:lnTo>
                  <a:pt x="0" y="145142"/>
                </a:lnTo>
                <a:cubicBezTo>
                  <a:pt x="0" y="65036"/>
                  <a:pt x="65036" y="0"/>
                  <a:pt x="145142" y="0"/>
                </a:cubicBezTo>
                <a:close/>
              </a:path>
            </a:pathLst>
          </a:custGeom>
          <a:solidFill>
            <a:srgbClr val="C3A170">
              <a:alpha val="20000"/>
            </a:srgbClr>
          </a:solidFill>
          <a:ln w="20650">
            <a:solidFill>
              <a:srgbClr val="C3A170">
                <a:alpha val="5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98229" y="3768777"/>
            <a:ext cx="10462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86" b="1" dirty="0">
                <a:solidFill>
                  <a:srgbClr val="C3A17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主要贡献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16372" y="4300944"/>
            <a:ext cx="10426095" cy="701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14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构建了基于Spark的农业大数据处理平台,融合AHP-CRITIC综合评价模型,实现了湖南省农业种植适宜性精准评价,为农业决策提供科学数据支撑。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09290" y="5463528"/>
            <a:ext cx="3483429" cy="1451429"/>
          </a:xfrm>
          <a:custGeom>
            <a:avLst/>
            <a:gdLst/>
            <a:ahLst/>
            <a:cxnLst/>
            <a:rect l="l" t="t" r="r" b="b"/>
            <a:pathLst>
              <a:path w="3483429" h="1451429">
                <a:moveTo>
                  <a:pt x="145143" y="0"/>
                </a:moveTo>
                <a:lnTo>
                  <a:pt x="3338286" y="0"/>
                </a:lnTo>
                <a:cubicBezTo>
                  <a:pt x="3418446" y="0"/>
                  <a:pt x="3483429" y="64983"/>
                  <a:pt x="3483429" y="145143"/>
                </a:cubicBezTo>
                <a:lnTo>
                  <a:pt x="3483429" y="1306286"/>
                </a:lnTo>
                <a:cubicBezTo>
                  <a:pt x="3483429" y="1386446"/>
                  <a:pt x="3418446" y="1451429"/>
                  <a:pt x="3338286" y="1451429"/>
                </a:cubicBezTo>
                <a:lnTo>
                  <a:pt x="145143" y="1451429"/>
                </a:lnTo>
                <a:cubicBezTo>
                  <a:pt x="64983" y="1451429"/>
                  <a:pt x="0" y="1386446"/>
                  <a:pt x="0" y="1306286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42335" y="5657040"/>
            <a:ext cx="3217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5" b="1" dirty="0">
                <a:solidFill>
                  <a:srgbClr val="C3A17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空间层面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54430" y="6092409"/>
            <a:ext cx="3193143" cy="62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24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将实际种植区与适宜区叠加,分析潜力与实际差异。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86185" y="5463528"/>
            <a:ext cx="3483429" cy="1451429"/>
          </a:xfrm>
          <a:custGeom>
            <a:avLst/>
            <a:gdLst/>
            <a:ahLst/>
            <a:cxnLst/>
            <a:rect l="l" t="t" r="r" b="b"/>
            <a:pathLst>
              <a:path w="3483429" h="1451429">
                <a:moveTo>
                  <a:pt x="145143" y="0"/>
                </a:moveTo>
                <a:lnTo>
                  <a:pt x="3338286" y="0"/>
                </a:lnTo>
                <a:cubicBezTo>
                  <a:pt x="3418446" y="0"/>
                  <a:pt x="3483429" y="64983"/>
                  <a:pt x="3483429" y="145143"/>
                </a:cubicBezTo>
                <a:lnTo>
                  <a:pt x="3483429" y="1306286"/>
                </a:lnTo>
                <a:cubicBezTo>
                  <a:pt x="3483429" y="1386446"/>
                  <a:pt x="3418446" y="1451429"/>
                  <a:pt x="3338286" y="1451429"/>
                </a:cubicBezTo>
                <a:lnTo>
                  <a:pt x="145143" y="1451429"/>
                </a:lnTo>
                <a:cubicBezTo>
                  <a:pt x="64983" y="1451429"/>
                  <a:pt x="0" y="1386446"/>
                  <a:pt x="0" y="1306286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19229" y="5657040"/>
            <a:ext cx="3217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5" b="1" dirty="0">
                <a:solidFill>
                  <a:srgbClr val="C3A17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时间角度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31324" y="6092409"/>
            <a:ext cx="3193143" cy="62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24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引入气候、政策等动态因素,优化评价模型。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063155" y="5463528"/>
            <a:ext cx="3483429" cy="1451429"/>
          </a:xfrm>
          <a:custGeom>
            <a:avLst/>
            <a:gdLst/>
            <a:ahLst/>
            <a:cxnLst/>
            <a:rect l="l" t="t" r="r" b="b"/>
            <a:pathLst>
              <a:path w="3483429" h="1451429">
                <a:moveTo>
                  <a:pt x="145143" y="0"/>
                </a:moveTo>
                <a:lnTo>
                  <a:pt x="3338286" y="0"/>
                </a:lnTo>
                <a:cubicBezTo>
                  <a:pt x="3418446" y="0"/>
                  <a:pt x="3483429" y="64983"/>
                  <a:pt x="3483429" y="145143"/>
                </a:cubicBezTo>
                <a:lnTo>
                  <a:pt x="3483429" y="1306286"/>
                </a:lnTo>
                <a:cubicBezTo>
                  <a:pt x="3483429" y="1386446"/>
                  <a:pt x="3418446" y="1451429"/>
                  <a:pt x="3338286" y="1451429"/>
                </a:cubicBezTo>
                <a:lnTo>
                  <a:pt x="145143" y="1451429"/>
                </a:lnTo>
                <a:cubicBezTo>
                  <a:pt x="64983" y="1451429"/>
                  <a:pt x="0" y="1386446"/>
                  <a:pt x="0" y="1306286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C3A170">
              <a:alpha val="1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196199" y="5657040"/>
            <a:ext cx="3217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5" b="1" dirty="0">
                <a:solidFill>
                  <a:srgbClr val="C3A17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扩展应用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08295" y="6092409"/>
            <a:ext cx="3193143" cy="62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24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扩展作物和地区,构建全国性评价系统。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93049" y="6914815"/>
            <a:ext cx="1546981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57" b="1" dirty="0">
                <a:solidFill>
                  <a:srgbClr val="C3A17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感谢各位评审专家的指导与支持!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3287" y="7446899"/>
            <a:ext cx="15409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5" dirty="0">
                <a:solidFill>
                  <a:srgbClr val="F8F6F2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答辩人:吴佳运 杨牧青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125165" y="8075780"/>
            <a:ext cx="677333" cy="677333"/>
          </a:xfrm>
          <a:custGeom>
            <a:avLst/>
            <a:gdLst/>
            <a:ahLst/>
            <a:cxnLst/>
            <a:rect l="l" t="t" r="r" b="b"/>
            <a:pathLst>
              <a:path w="677333" h="677333">
                <a:moveTo>
                  <a:pt x="338667" y="0"/>
                </a:moveTo>
                <a:lnTo>
                  <a:pt x="338667" y="0"/>
                </a:lnTo>
                <a:cubicBezTo>
                  <a:pt x="525707" y="0"/>
                  <a:pt x="677333" y="151626"/>
                  <a:pt x="677333" y="338667"/>
                </a:cubicBezTo>
                <a:lnTo>
                  <a:pt x="677333" y="338667"/>
                </a:lnTo>
                <a:cubicBezTo>
                  <a:pt x="677333" y="525707"/>
                  <a:pt x="525707" y="677333"/>
                  <a:pt x="338667" y="677333"/>
                </a:cubicBezTo>
                <a:lnTo>
                  <a:pt x="338667" y="677333"/>
                </a:lnTo>
                <a:cubicBezTo>
                  <a:pt x="151626" y="677333"/>
                  <a:pt x="0" y="525707"/>
                  <a:pt x="0" y="338667"/>
                </a:cubicBezTo>
                <a:lnTo>
                  <a:pt x="0" y="338667"/>
                </a:lnTo>
                <a:cubicBezTo>
                  <a:pt x="0" y="151626"/>
                  <a:pt x="151626" y="0"/>
                  <a:pt x="338667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2" name="Shape 19"/>
          <p:cNvSpPr/>
          <p:nvPr/>
        </p:nvSpPr>
        <p:spPr>
          <a:xfrm>
            <a:off x="4318633" y="8269233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290286" y="18143"/>
                </a:moveTo>
                <a:cubicBezTo>
                  <a:pt x="290286" y="79432"/>
                  <a:pt x="246856" y="130572"/>
                  <a:pt x="189139" y="142535"/>
                </a:cubicBezTo>
                <a:cubicBezTo>
                  <a:pt x="184660" y="109594"/>
                  <a:pt x="169863" y="79942"/>
                  <a:pt x="148034" y="56980"/>
                </a:cubicBezTo>
                <a:cubicBezTo>
                  <a:pt x="170770" y="22679"/>
                  <a:pt x="209720" y="0"/>
                  <a:pt x="254000" y="0"/>
                </a:cubicBezTo>
                <a:lnTo>
                  <a:pt x="272143" y="0"/>
                </a:lnTo>
                <a:cubicBezTo>
                  <a:pt x="282178" y="0"/>
                  <a:pt x="290286" y="8108"/>
                  <a:pt x="290286" y="18143"/>
                </a:cubicBezTo>
                <a:close/>
                <a:moveTo>
                  <a:pt x="0" y="54429"/>
                </a:moveTo>
                <a:cubicBezTo>
                  <a:pt x="0" y="44393"/>
                  <a:pt x="8108" y="36286"/>
                  <a:pt x="18143" y="36286"/>
                </a:cubicBezTo>
                <a:lnTo>
                  <a:pt x="36286" y="36286"/>
                </a:lnTo>
                <a:cubicBezTo>
                  <a:pt x="106419" y="36286"/>
                  <a:pt x="163286" y="93152"/>
                  <a:pt x="163286" y="163286"/>
                </a:cubicBezTo>
                <a:lnTo>
                  <a:pt x="163286" y="272143"/>
                </a:lnTo>
                <a:cubicBezTo>
                  <a:pt x="163286" y="282178"/>
                  <a:pt x="155178" y="290286"/>
                  <a:pt x="145143" y="290286"/>
                </a:cubicBezTo>
                <a:cubicBezTo>
                  <a:pt x="135108" y="290286"/>
                  <a:pt x="127000" y="282178"/>
                  <a:pt x="127000" y="272143"/>
                </a:cubicBezTo>
                <a:lnTo>
                  <a:pt x="127000" y="181429"/>
                </a:lnTo>
                <a:cubicBezTo>
                  <a:pt x="56867" y="181429"/>
                  <a:pt x="0" y="124562"/>
                  <a:pt x="0" y="54429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3" name="Text 20"/>
          <p:cNvSpPr/>
          <p:nvPr/>
        </p:nvSpPr>
        <p:spPr>
          <a:xfrm>
            <a:off x="4947570" y="8245102"/>
            <a:ext cx="97971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智慧农业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01908" y="8075780"/>
            <a:ext cx="677333" cy="677333"/>
          </a:xfrm>
          <a:custGeom>
            <a:avLst/>
            <a:gdLst/>
            <a:ahLst/>
            <a:cxnLst/>
            <a:rect l="l" t="t" r="r" b="b"/>
            <a:pathLst>
              <a:path w="677333" h="677333">
                <a:moveTo>
                  <a:pt x="338667" y="0"/>
                </a:moveTo>
                <a:lnTo>
                  <a:pt x="338667" y="0"/>
                </a:lnTo>
                <a:cubicBezTo>
                  <a:pt x="525707" y="0"/>
                  <a:pt x="677333" y="151626"/>
                  <a:pt x="677333" y="338667"/>
                </a:cubicBezTo>
                <a:lnTo>
                  <a:pt x="677333" y="338667"/>
                </a:lnTo>
                <a:cubicBezTo>
                  <a:pt x="677333" y="525707"/>
                  <a:pt x="525707" y="677333"/>
                  <a:pt x="338667" y="677333"/>
                </a:cubicBezTo>
                <a:lnTo>
                  <a:pt x="338667" y="677333"/>
                </a:lnTo>
                <a:cubicBezTo>
                  <a:pt x="151626" y="677333"/>
                  <a:pt x="0" y="525707"/>
                  <a:pt x="0" y="338667"/>
                </a:cubicBezTo>
                <a:lnTo>
                  <a:pt x="0" y="338667"/>
                </a:lnTo>
                <a:cubicBezTo>
                  <a:pt x="0" y="151626"/>
                  <a:pt x="151626" y="0"/>
                  <a:pt x="338667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5" name="Shape 22"/>
          <p:cNvSpPr/>
          <p:nvPr/>
        </p:nvSpPr>
        <p:spPr>
          <a:xfrm>
            <a:off x="6495376" y="8269233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36286" y="36286"/>
                </a:moveTo>
                <a:cubicBezTo>
                  <a:pt x="36286" y="26250"/>
                  <a:pt x="28178" y="18143"/>
                  <a:pt x="18143" y="18143"/>
                </a:cubicBezTo>
                <a:cubicBezTo>
                  <a:pt x="8108" y="18143"/>
                  <a:pt x="0" y="26250"/>
                  <a:pt x="0" y="36286"/>
                </a:cubicBezTo>
                <a:lnTo>
                  <a:pt x="0" y="226786"/>
                </a:lnTo>
                <a:cubicBezTo>
                  <a:pt x="0" y="251846"/>
                  <a:pt x="20297" y="272143"/>
                  <a:pt x="45357" y="272143"/>
                </a:cubicBezTo>
                <a:lnTo>
                  <a:pt x="272143" y="272143"/>
                </a:lnTo>
                <a:cubicBezTo>
                  <a:pt x="282178" y="272143"/>
                  <a:pt x="290286" y="264035"/>
                  <a:pt x="290286" y="254000"/>
                </a:cubicBezTo>
                <a:cubicBezTo>
                  <a:pt x="290286" y="243965"/>
                  <a:pt x="282178" y="235857"/>
                  <a:pt x="272143" y="235857"/>
                </a:cubicBezTo>
                <a:lnTo>
                  <a:pt x="45357" y="235857"/>
                </a:lnTo>
                <a:cubicBezTo>
                  <a:pt x="40368" y="235857"/>
                  <a:pt x="36286" y="231775"/>
                  <a:pt x="36286" y="226786"/>
                </a:cubicBezTo>
                <a:lnTo>
                  <a:pt x="36286" y="36286"/>
                </a:lnTo>
                <a:close/>
                <a:moveTo>
                  <a:pt x="266813" y="85385"/>
                </a:moveTo>
                <a:cubicBezTo>
                  <a:pt x="273900" y="78298"/>
                  <a:pt x="273900" y="66788"/>
                  <a:pt x="266813" y="59701"/>
                </a:cubicBezTo>
                <a:cubicBezTo>
                  <a:pt x="259726" y="52614"/>
                  <a:pt x="248217" y="52614"/>
                  <a:pt x="241130" y="59701"/>
                </a:cubicBezTo>
                <a:lnTo>
                  <a:pt x="181429" y="119459"/>
                </a:lnTo>
                <a:lnTo>
                  <a:pt x="148885" y="86972"/>
                </a:lnTo>
                <a:cubicBezTo>
                  <a:pt x="141798" y="79885"/>
                  <a:pt x="130288" y="79885"/>
                  <a:pt x="123201" y="86972"/>
                </a:cubicBezTo>
                <a:lnTo>
                  <a:pt x="68773" y="141401"/>
                </a:lnTo>
                <a:cubicBezTo>
                  <a:pt x="61686" y="148488"/>
                  <a:pt x="61686" y="159997"/>
                  <a:pt x="68773" y="167084"/>
                </a:cubicBezTo>
                <a:cubicBezTo>
                  <a:pt x="75860" y="174171"/>
                  <a:pt x="87369" y="174171"/>
                  <a:pt x="94456" y="167084"/>
                </a:cubicBezTo>
                <a:lnTo>
                  <a:pt x="136071" y="125469"/>
                </a:lnTo>
                <a:lnTo>
                  <a:pt x="168615" y="158013"/>
                </a:lnTo>
                <a:cubicBezTo>
                  <a:pt x="175702" y="165100"/>
                  <a:pt x="187212" y="165100"/>
                  <a:pt x="194299" y="158013"/>
                </a:cubicBezTo>
                <a:lnTo>
                  <a:pt x="266870" y="85442"/>
                </a:ln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6" name="Text 23"/>
          <p:cNvSpPr/>
          <p:nvPr/>
        </p:nvSpPr>
        <p:spPr>
          <a:xfrm>
            <a:off x="7124314" y="8245102"/>
            <a:ext cx="762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大数据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61008" y="8075780"/>
            <a:ext cx="677333" cy="677333"/>
          </a:xfrm>
          <a:custGeom>
            <a:avLst/>
            <a:gdLst/>
            <a:ahLst/>
            <a:cxnLst/>
            <a:rect l="l" t="t" r="r" b="b"/>
            <a:pathLst>
              <a:path w="677333" h="677333">
                <a:moveTo>
                  <a:pt x="338667" y="0"/>
                </a:moveTo>
                <a:lnTo>
                  <a:pt x="338667" y="0"/>
                </a:lnTo>
                <a:cubicBezTo>
                  <a:pt x="525707" y="0"/>
                  <a:pt x="677333" y="151626"/>
                  <a:pt x="677333" y="338667"/>
                </a:cubicBezTo>
                <a:lnTo>
                  <a:pt x="677333" y="338667"/>
                </a:lnTo>
                <a:cubicBezTo>
                  <a:pt x="677333" y="525707"/>
                  <a:pt x="525707" y="677333"/>
                  <a:pt x="338667" y="677333"/>
                </a:cubicBezTo>
                <a:lnTo>
                  <a:pt x="338667" y="677333"/>
                </a:lnTo>
                <a:cubicBezTo>
                  <a:pt x="151626" y="677333"/>
                  <a:pt x="0" y="525707"/>
                  <a:pt x="0" y="338667"/>
                </a:cubicBezTo>
                <a:lnTo>
                  <a:pt x="0" y="338667"/>
                </a:lnTo>
                <a:cubicBezTo>
                  <a:pt x="0" y="151626"/>
                  <a:pt x="151626" y="0"/>
                  <a:pt x="338667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28" name="Shape 25"/>
          <p:cNvSpPr/>
          <p:nvPr/>
        </p:nvSpPr>
        <p:spPr>
          <a:xfrm>
            <a:off x="8418190" y="8269233"/>
            <a:ext cx="362857" cy="290286"/>
          </a:xfrm>
          <a:custGeom>
            <a:avLst/>
            <a:gdLst/>
            <a:ahLst/>
            <a:cxnLst/>
            <a:rect l="l" t="t" r="r" b="b"/>
            <a:pathLst>
              <a:path w="362857" h="290286">
                <a:moveTo>
                  <a:pt x="326571" y="27214"/>
                </a:moveTo>
                <a:cubicBezTo>
                  <a:pt x="326571" y="20921"/>
                  <a:pt x="323340" y="15081"/>
                  <a:pt x="317954" y="11793"/>
                </a:cubicBezTo>
                <a:cubicBezTo>
                  <a:pt x="312567" y="8504"/>
                  <a:pt x="305934" y="8164"/>
                  <a:pt x="300321" y="10999"/>
                </a:cubicBezTo>
                <a:lnTo>
                  <a:pt x="234440" y="43940"/>
                </a:lnTo>
                <a:lnTo>
                  <a:pt x="132726" y="9979"/>
                </a:lnTo>
                <a:cubicBezTo>
                  <a:pt x="128134" y="8448"/>
                  <a:pt x="123201" y="8788"/>
                  <a:pt x="118892" y="10942"/>
                </a:cubicBezTo>
                <a:lnTo>
                  <a:pt x="46321" y="47228"/>
                </a:lnTo>
                <a:cubicBezTo>
                  <a:pt x="40141" y="50346"/>
                  <a:pt x="36286" y="56640"/>
                  <a:pt x="36286" y="63500"/>
                </a:cubicBezTo>
                <a:lnTo>
                  <a:pt x="36286" y="263071"/>
                </a:lnTo>
                <a:cubicBezTo>
                  <a:pt x="36286" y="269365"/>
                  <a:pt x="39517" y="275204"/>
                  <a:pt x="44904" y="278493"/>
                </a:cubicBezTo>
                <a:cubicBezTo>
                  <a:pt x="50290" y="281781"/>
                  <a:pt x="56923" y="282121"/>
                  <a:pt x="62536" y="279287"/>
                </a:cubicBezTo>
                <a:lnTo>
                  <a:pt x="128361" y="246346"/>
                </a:lnTo>
                <a:lnTo>
                  <a:pt x="226616" y="279117"/>
                </a:lnTo>
                <a:cubicBezTo>
                  <a:pt x="224178" y="275488"/>
                  <a:pt x="221796" y="271689"/>
                  <a:pt x="219472" y="267834"/>
                </a:cubicBezTo>
                <a:cubicBezTo>
                  <a:pt x="213235" y="257458"/>
                  <a:pt x="207055" y="245552"/>
                  <a:pt x="202463" y="232796"/>
                </a:cubicBezTo>
                <a:lnTo>
                  <a:pt x="145086" y="213689"/>
                </a:lnTo>
                <a:lnTo>
                  <a:pt x="145086" y="52387"/>
                </a:lnTo>
                <a:lnTo>
                  <a:pt x="217658" y="76597"/>
                </a:lnTo>
                <a:lnTo>
                  <a:pt x="217658" y="132896"/>
                </a:lnTo>
                <a:cubicBezTo>
                  <a:pt x="235233" y="112599"/>
                  <a:pt x="261314" y="99786"/>
                  <a:pt x="290229" y="99786"/>
                </a:cubicBezTo>
                <a:cubicBezTo>
                  <a:pt x="303042" y="99786"/>
                  <a:pt x="315289" y="102280"/>
                  <a:pt x="326515" y="106873"/>
                </a:cubicBezTo>
                <a:lnTo>
                  <a:pt x="326571" y="27214"/>
                </a:lnTo>
                <a:close/>
                <a:moveTo>
                  <a:pt x="290286" y="127000"/>
                </a:moveTo>
                <a:cubicBezTo>
                  <a:pt x="252696" y="127000"/>
                  <a:pt x="222250" y="156936"/>
                  <a:pt x="222250" y="193845"/>
                </a:cubicBezTo>
                <a:cubicBezTo>
                  <a:pt x="222250" y="232909"/>
                  <a:pt x="258592" y="279117"/>
                  <a:pt x="278153" y="301171"/>
                </a:cubicBezTo>
                <a:cubicBezTo>
                  <a:pt x="284729" y="308542"/>
                  <a:pt x="295899" y="308542"/>
                  <a:pt x="302475" y="301171"/>
                </a:cubicBezTo>
                <a:cubicBezTo>
                  <a:pt x="322036" y="279117"/>
                  <a:pt x="358378" y="232909"/>
                  <a:pt x="358378" y="193845"/>
                </a:cubicBezTo>
                <a:cubicBezTo>
                  <a:pt x="358378" y="156936"/>
                  <a:pt x="327932" y="127000"/>
                  <a:pt x="290342" y="127000"/>
                </a:cubicBezTo>
                <a:close/>
                <a:moveTo>
                  <a:pt x="267607" y="195036"/>
                </a:moveTo>
                <a:cubicBezTo>
                  <a:pt x="267607" y="182519"/>
                  <a:pt x="277769" y="172357"/>
                  <a:pt x="290286" y="172357"/>
                </a:cubicBezTo>
                <a:cubicBezTo>
                  <a:pt x="302802" y="172357"/>
                  <a:pt x="312964" y="182519"/>
                  <a:pt x="312964" y="195036"/>
                </a:cubicBezTo>
                <a:cubicBezTo>
                  <a:pt x="312964" y="207552"/>
                  <a:pt x="302802" y="217714"/>
                  <a:pt x="290286" y="217714"/>
                </a:cubicBezTo>
                <a:cubicBezTo>
                  <a:pt x="277769" y="217714"/>
                  <a:pt x="267607" y="207552"/>
                  <a:pt x="267607" y="195036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29" name="Text 26"/>
          <p:cNvSpPr/>
          <p:nvPr/>
        </p:nvSpPr>
        <p:spPr>
          <a:xfrm>
            <a:off x="9083413" y="8245102"/>
            <a:ext cx="97971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精准区划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437751" y="8075780"/>
            <a:ext cx="677333" cy="677333"/>
          </a:xfrm>
          <a:custGeom>
            <a:avLst/>
            <a:gdLst/>
            <a:ahLst/>
            <a:cxnLst/>
            <a:rect l="l" t="t" r="r" b="b"/>
            <a:pathLst>
              <a:path w="677333" h="677333">
                <a:moveTo>
                  <a:pt x="338667" y="0"/>
                </a:moveTo>
                <a:lnTo>
                  <a:pt x="338667" y="0"/>
                </a:lnTo>
                <a:cubicBezTo>
                  <a:pt x="525707" y="0"/>
                  <a:pt x="677333" y="151626"/>
                  <a:pt x="677333" y="338667"/>
                </a:cubicBezTo>
                <a:lnTo>
                  <a:pt x="677333" y="338667"/>
                </a:lnTo>
                <a:cubicBezTo>
                  <a:pt x="677333" y="525707"/>
                  <a:pt x="525707" y="677333"/>
                  <a:pt x="338667" y="677333"/>
                </a:cubicBezTo>
                <a:lnTo>
                  <a:pt x="338667" y="677333"/>
                </a:lnTo>
                <a:cubicBezTo>
                  <a:pt x="151626" y="677333"/>
                  <a:pt x="0" y="525707"/>
                  <a:pt x="0" y="338667"/>
                </a:cubicBezTo>
                <a:lnTo>
                  <a:pt x="0" y="338667"/>
                </a:lnTo>
                <a:cubicBezTo>
                  <a:pt x="0" y="151626"/>
                  <a:pt x="151626" y="0"/>
                  <a:pt x="338667" y="0"/>
                </a:cubicBezTo>
                <a:close/>
              </a:path>
            </a:pathLst>
          </a:custGeom>
          <a:solidFill>
            <a:srgbClr val="C3A170"/>
          </a:solidFill>
          <a:ln/>
        </p:spPr>
      </p:sp>
      <p:sp>
        <p:nvSpPr>
          <p:cNvPr id="31" name="Shape 28"/>
          <p:cNvSpPr/>
          <p:nvPr/>
        </p:nvSpPr>
        <p:spPr>
          <a:xfrm>
            <a:off x="10594934" y="8269233"/>
            <a:ext cx="362857" cy="290286"/>
          </a:xfrm>
          <a:custGeom>
            <a:avLst/>
            <a:gdLst/>
            <a:ahLst/>
            <a:cxnLst/>
            <a:rect l="l" t="t" r="r" b="b"/>
            <a:pathLst>
              <a:path w="362857" h="290286">
                <a:moveTo>
                  <a:pt x="235800" y="119346"/>
                </a:moveTo>
                <a:cubicBezTo>
                  <a:pt x="242717" y="117475"/>
                  <a:pt x="249975" y="120763"/>
                  <a:pt x="253093" y="127170"/>
                </a:cubicBezTo>
                <a:lnTo>
                  <a:pt x="263638" y="148488"/>
                </a:lnTo>
                <a:cubicBezTo>
                  <a:pt x="269478" y="149282"/>
                  <a:pt x="275204" y="150869"/>
                  <a:pt x="280591" y="153080"/>
                </a:cubicBezTo>
                <a:lnTo>
                  <a:pt x="300434" y="139870"/>
                </a:lnTo>
                <a:cubicBezTo>
                  <a:pt x="306388" y="135901"/>
                  <a:pt x="314268" y="136695"/>
                  <a:pt x="319314" y="141741"/>
                </a:cubicBezTo>
                <a:lnTo>
                  <a:pt x="330200" y="152627"/>
                </a:lnTo>
                <a:cubicBezTo>
                  <a:pt x="335246" y="157673"/>
                  <a:pt x="336040" y="165610"/>
                  <a:pt x="332071" y="171507"/>
                </a:cubicBezTo>
                <a:lnTo>
                  <a:pt x="318861" y="191294"/>
                </a:lnTo>
                <a:cubicBezTo>
                  <a:pt x="319938" y="193958"/>
                  <a:pt x="320902" y="196737"/>
                  <a:pt x="321696" y="199628"/>
                </a:cubicBezTo>
                <a:cubicBezTo>
                  <a:pt x="322489" y="202520"/>
                  <a:pt x="323000" y="205354"/>
                  <a:pt x="323396" y="208246"/>
                </a:cubicBezTo>
                <a:lnTo>
                  <a:pt x="344771" y="218792"/>
                </a:lnTo>
                <a:cubicBezTo>
                  <a:pt x="351178" y="221967"/>
                  <a:pt x="354466" y="229224"/>
                  <a:pt x="352595" y="236084"/>
                </a:cubicBezTo>
                <a:lnTo>
                  <a:pt x="348626" y="250938"/>
                </a:lnTo>
                <a:cubicBezTo>
                  <a:pt x="346755" y="257799"/>
                  <a:pt x="340349" y="262448"/>
                  <a:pt x="333205" y="261994"/>
                </a:cubicBezTo>
                <a:lnTo>
                  <a:pt x="309392" y="260463"/>
                </a:lnTo>
                <a:cubicBezTo>
                  <a:pt x="305821" y="265056"/>
                  <a:pt x="301682" y="269308"/>
                  <a:pt x="296976" y="272937"/>
                </a:cubicBezTo>
                <a:lnTo>
                  <a:pt x="298507" y="296692"/>
                </a:lnTo>
                <a:cubicBezTo>
                  <a:pt x="298960" y="303836"/>
                  <a:pt x="294311" y="310300"/>
                  <a:pt x="287451" y="312114"/>
                </a:cubicBezTo>
                <a:lnTo>
                  <a:pt x="272596" y="316083"/>
                </a:lnTo>
                <a:cubicBezTo>
                  <a:pt x="265679" y="317954"/>
                  <a:pt x="258479" y="314665"/>
                  <a:pt x="255304" y="308258"/>
                </a:cubicBezTo>
                <a:lnTo>
                  <a:pt x="244758" y="286941"/>
                </a:lnTo>
                <a:cubicBezTo>
                  <a:pt x="238919" y="286147"/>
                  <a:pt x="233192" y="284559"/>
                  <a:pt x="227806" y="282348"/>
                </a:cubicBezTo>
                <a:lnTo>
                  <a:pt x="207963" y="295558"/>
                </a:lnTo>
                <a:cubicBezTo>
                  <a:pt x="202009" y="299527"/>
                  <a:pt x="194129" y="298733"/>
                  <a:pt x="189083" y="293688"/>
                </a:cubicBezTo>
                <a:lnTo>
                  <a:pt x="178197" y="282802"/>
                </a:lnTo>
                <a:cubicBezTo>
                  <a:pt x="173151" y="277756"/>
                  <a:pt x="172357" y="269875"/>
                  <a:pt x="176326" y="263922"/>
                </a:cubicBezTo>
                <a:lnTo>
                  <a:pt x="189536" y="244078"/>
                </a:lnTo>
                <a:cubicBezTo>
                  <a:pt x="188459" y="241413"/>
                  <a:pt x="187495" y="238635"/>
                  <a:pt x="186701" y="235744"/>
                </a:cubicBezTo>
                <a:cubicBezTo>
                  <a:pt x="185908" y="232852"/>
                  <a:pt x="185397" y="229961"/>
                  <a:pt x="185000" y="227126"/>
                </a:cubicBezTo>
                <a:lnTo>
                  <a:pt x="163626" y="216580"/>
                </a:lnTo>
                <a:cubicBezTo>
                  <a:pt x="157219" y="213405"/>
                  <a:pt x="153988" y="206148"/>
                  <a:pt x="155802" y="199288"/>
                </a:cubicBezTo>
                <a:lnTo>
                  <a:pt x="159771" y="184433"/>
                </a:lnTo>
                <a:cubicBezTo>
                  <a:pt x="161642" y="177573"/>
                  <a:pt x="168048" y="172924"/>
                  <a:pt x="175192" y="173378"/>
                </a:cubicBezTo>
                <a:lnTo>
                  <a:pt x="198948" y="174908"/>
                </a:lnTo>
                <a:cubicBezTo>
                  <a:pt x="202520" y="170316"/>
                  <a:pt x="206658" y="166064"/>
                  <a:pt x="211364" y="162435"/>
                </a:cubicBezTo>
                <a:lnTo>
                  <a:pt x="209833" y="138736"/>
                </a:lnTo>
                <a:cubicBezTo>
                  <a:pt x="209380" y="131592"/>
                  <a:pt x="214029" y="125129"/>
                  <a:pt x="220889" y="123315"/>
                </a:cubicBezTo>
                <a:lnTo>
                  <a:pt x="235744" y="119346"/>
                </a:lnTo>
                <a:close/>
                <a:moveTo>
                  <a:pt x="254227" y="192768"/>
                </a:moveTo>
                <a:cubicBezTo>
                  <a:pt x="240458" y="192784"/>
                  <a:pt x="229293" y="203974"/>
                  <a:pt x="229309" y="217743"/>
                </a:cubicBezTo>
                <a:cubicBezTo>
                  <a:pt x="229324" y="231511"/>
                  <a:pt x="240515" y="242676"/>
                  <a:pt x="254283" y="242661"/>
                </a:cubicBezTo>
                <a:cubicBezTo>
                  <a:pt x="268052" y="242645"/>
                  <a:pt x="279217" y="231454"/>
                  <a:pt x="279202" y="217686"/>
                </a:cubicBezTo>
                <a:cubicBezTo>
                  <a:pt x="279186" y="203918"/>
                  <a:pt x="267995" y="192752"/>
                  <a:pt x="254227" y="192768"/>
                </a:cubicBezTo>
                <a:close/>
                <a:moveTo>
                  <a:pt x="127510" y="-25797"/>
                </a:moveTo>
                <a:lnTo>
                  <a:pt x="142365" y="-21828"/>
                </a:lnTo>
                <a:cubicBezTo>
                  <a:pt x="149225" y="-19957"/>
                  <a:pt x="153874" y="-13494"/>
                  <a:pt x="153421" y="-6407"/>
                </a:cubicBezTo>
                <a:lnTo>
                  <a:pt x="151890" y="17292"/>
                </a:lnTo>
                <a:cubicBezTo>
                  <a:pt x="156596" y="20921"/>
                  <a:pt x="160734" y="25117"/>
                  <a:pt x="164306" y="29766"/>
                </a:cubicBezTo>
                <a:lnTo>
                  <a:pt x="188119" y="28235"/>
                </a:lnTo>
                <a:cubicBezTo>
                  <a:pt x="195206" y="27781"/>
                  <a:pt x="201669" y="32430"/>
                  <a:pt x="203540" y="39291"/>
                </a:cubicBezTo>
                <a:lnTo>
                  <a:pt x="207509" y="54145"/>
                </a:lnTo>
                <a:cubicBezTo>
                  <a:pt x="209323" y="61005"/>
                  <a:pt x="206092" y="68263"/>
                  <a:pt x="199685" y="71438"/>
                </a:cubicBezTo>
                <a:lnTo>
                  <a:pt x="178310" y="81983"/>
                </a:lnTo>
                <a:cubicBezTo>
                  <a:pt x="177913" y="84875"/>
                  <a:pt x="177346" y="87766"/>
                  <a:pt x="176609" y="90601"/>
                </a:cubicBezTo>
                <a:cubicBezTo>
                  <a:pt x="175872" y="93436"/>
                  <a:pt x="174852" y="96271"/>
                  <a:pt x="173775" y="98935"/>
                </a:cubicBezTo>
                <a:lnTo>
                  <a:pt x="186985" y="118779"/>
                </a:lnTo>
                <a:cubicBezTo>
                  <a:pt x="190954" y="124732"/>
                  <a:pt x="190160" y="132613"/>
                  <a:pt x="185114" y="137659"/>
                </a:cubicBezTo>
                <a:lnTo>
                  <a:pt x="174228" y="148545"/>
                </a:lnTo>
                <a:cubicBezTo>
                  <a:pt x="169182" y="153591"/>
                  <a:pt x="161301" y="154384"/>
                  <a:pt x="155348" y="150416"/>
                </a:cubicBezTo>
                <a:lnTo>
                  <a:pt x="135504" y="137205"/>
                </a:lnTo>
                <a:cubicBezTo>
                  <a:pt x="130118" y="139417"/>
                  <a:pt x="124392" y="141004"/>
                  <a:pt x="118552" y="141798"/>
                </a:cubicBezTo>
                <a:lnTo>
                  <a:pt x="108007" y="163116"/>
                </a:lnTo>
                <a:cubicBezTo>
                  <a:pt x="104832" y="169522"/>
                  <a:pt x="97575" y="172754"/>
                  <a:pt x="90714" y="170940"/>
                </a:cubicBezTo>
                <a:lnTo>
                  <a:pt x="75860" y="166971"/>
                </a:lnTo>
                <a:cubicBezTo>
                  <a:pt x="68943" y="165100"/>
                  <a:pt x="64350" y="158637"/>
                  <a:pt x="64804" y="151550"/>
                </a:cubicBezTo>
                <a:lnTo>
                  <a:pt x="66335" y="127794"/>
                </a:lnTo>
                <a:cubicBezTo>
                  <a:pt x="61629" y="124165"/>
                  <a:pt x="57490" y="119970"/>
                  <a:pt x="53918" y="115321"/>
                </a:cubicBezTo>
                <a:lnTo>
                  <a:pt x="30106" y="116851"/>
                </a:lnTo>
                <a:cubicBezTo>
                  <a:pt x="23019" y="117305"/>
                  <a:pt x="16555" y="112656"/>
                  <a:pt x="14684" y="105796"/>
                </a:cubicBezTo>
                <a:lnTo>
                  <a:pt x="10716" y="90941"/>
                </a:lnTo>
                <a:cubicBezTo>
                  <a:pt x="8901" y="84081"/>
                  <a:pt x="12133" y="76824"/>
                  <a:pt x="18540" y="73649"/>
                </a:cubicBezTo>
                <a:lnTo>
                  <a:pt x="39914" y="63103"/>
                </a:lnTo>
                <a:cubicBezTo>
                  <a:pt x="40311" y="60212"/>
                  <a:pt x="40878" y="57377"/>
                  <a:pt x="41615" y="54485"/>
                </a:cubicBezTo>
                <a:cubicBezTo>
                  <a:pt x="42409" y="51594"/>
                  <a:pt x="43316" y="48816"/>
                  <a:pt x="44450" y="46151"/>
                </a:cubicBezTo>
                <a:lnTo>
                  <a:pt x="31240" y="26364"/>
                </a:lnTo>
                <a:cubicBezTo>
                  <a:pt x="27271" y="20411"/>
                  <a:pt x="28065" y="12530"/>
                  <a:pt x="33111" y="7484"/>
                </a:cubicBezTo>
                <a:lnTo>
                  <a:pt x="43996" y="-3402"/>
                </a:lnTo>
                <a:cubicBezTo>
                  <a:pt x="49042" y="-8448"/>
                  <a:pt x="56923" y="-9242"/>
                  <a:pt x="62876" y="-5273"/>
                </a:cubicBezTo>
                <a:lnTo>
                  <a:pt x="82720" y="7938"/>
                </a:lnTo>
                <a:cubicBezTo>
                  <a:pt x="88106" y="5726"/>
                  <a:pt x="93833" y="4139"/>
                  <a:pt x="99672" y="3345"/>
                </a:cubicBezTo>
                <a:lnTo>
                  <a:pt x="110218" y="-17973"/>
                </a:lnTo>
                <a:cubicBezTo>
                  <a:pt x="113393" y="-24379"/>
                  <a:pt x="120593" y="-27611"/>
                  <a:pt x="127510" y="-25797"/>
                </a:cubicBezTo>
                <a:close/>
                <a:moveTo>
                  <a:pt x="109084" y="47625"/>
                </a:moveTo>
                <a:cubicBezTo>
                  <a:pt x="95316" y="47625"/>
                  <a:pt x="84138" y="58803"/>
                  <a:pt x="84138" y="72571"/>
                </a:cubicBezTo>
                <a:cubicBezTo>
                  <a:pt x="84138" y="86340"/>
                  <a:pt x="95316" y="97518"/>
                  <a:pt x="109084" y="97518"/>
                </a:cubicBezTo>
                <a:cubicBezTo>
                  <a:pt x="122852" y="97518"/>
                  <a:pt x="134030" y="86340"/>
                  <a:pt x="134030" y="72571"/>
                </a:cubicBezTo>
                <a:cubicBezTo>
                  <a:pt x="134030" y="58803"/>
                  <a:pt x="122852" y="47625"/>
                  <a:pt x="109084" y="47625"/>
                </a:cubicBezTo>
                <a:close/>
              </a:path>
            </a:pathLst>
          </a:custGeom>
          <a:solidFill>
            <a:srgbClr val="4A5741"/>
          </a:solidFill>
          <a:ln/>
        </p:spPr>
      </p:sp>
      <p:sp>
        <p:nvSpPr>
          <p:cNvPr id="32" name="Text 29"/>
          <p:cNvSpPr/>
          <p:nvPr/>
        </p:nvSpPr>
        <p:spPr>
          <a:xfrm>
            <a:off x="11260157" y="8245102"/>
            <a:ext cx="97971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F8F6F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科学决策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799</Words>
  <Application>Microsoft Office PowerPoint</Application>
  <PresentationFormat>自定义</PresentationFormat>
  <Paragraphs>326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思源宋体</vt:lpstr>
      <vt:lpstr>华文新魏</vt:lpstr>
      <vt:lpstr>MiSans</vt:lpstr>
      <vt:lpstr>微软雅黑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基于Spark的沃土规划师农业种植适宜性区划与优化系统</dc:title>
  <dc:subject>基于Spark的沃土规划师农业种植适宜性区划与优化系统</dc:subject>
  <dc:creator>Kimi</dc:creator>
  <cp:lastModifiedBy>jiayun wu</cp:lastModifiedBy>
  <cp:revision>7</cp:revision>
  <dcterms:created xsi:type="dcterms:W3CDTF">2026-01-04T09:47:23Z</dcterms:created>
  <dcterms:modified xsi:type="dcterms:W3CDTF">2026-01-06T03:15:30Z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Spark的沃土规划师农业种植适宜性区划与优化系统","ContentProducer":"001191110108MACG2KBH8F10000","ProduceID":"19b8853c-aae2-8083-8000-0000defe283b","ReservedCode1":"","ContentPropagator":"001191110108MACG2KBH8F20000","PropagateID":"19b8853c-aae2-8083-8000-0000defe283b","ReservedCode2":""}</vt:lpwstr>
  </property>
</Properties>
</file>